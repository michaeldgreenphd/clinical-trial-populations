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shell. Left panel is the established clinical-trials finding; right panel is the same method pointed at FDA-authorized AI/ML devices. The transfer argument: registry reporting is measurable and improving because FDAAA forced it. AI/ML devices have no equivalent disclosure regime, 96% clear via predicate equivalence, and nobody publishes who was in the validation cohorts. That gap is what the Claude extraction pipeline fills. Trial figures are all study types from the 2026-07-26 snapshot; note the live dashboard defaults to the Interventional filter, which shows 74,617.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shell. Spend to date is real: $11.11 across three pilot batches. The $44K vs $6.2K contrast is the decision we want help with. Note the rate-card bug candidly — data/*_token_metrics.json hardcodes Opus at $15/$75 while scripts/utils/cost_tracker.py has $5/$25, so the dashboard projection and the logged cost disagree. Fixing that is on us; the four questions are what we want the room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82B"/>
        </a:solidFill>
      </p:bgPr>
    </p:bg>
    <p:spTree>
      <p:nvGrpSpPr>
        <p:cNvPr id="1" name=""/>
        <p:cNvGrpSpPr/>
        <p:nvPr/>
      </p:nvGrpSpPr>
      <p:grpSpPr>
        <a:xfrm>
          <a:off x="0" y="0"/>
          <a:ext cx="0" cy="0"/>
          <a:chOff x="0" y="0"/>
          <a:chExt cx="0" cy="0"/>
        </a:xfrm>
      </p:grpSpPr>
      <p:sp>
        <p:nvSpPr>
          <p:cNvPr id="2" name="Text 0"/>
          <p:cNvSpPr/>
          <p:nvPr/>
        </p:nvSpPr>
        <p:spPr>
          <a:xfrm>
            <a:off x="548640" y="384048"/>
            <a:ext cx="8686800" cy="5486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Same question, new frontier</a:t>
            </a:r>
            <a:endParaRPr lang="en-US" sz="4000" dirty="0"/>
          </a:p>
        </p:txBody>
      </p:sp>
      <p:sp>
        <p:nvSpPr>
          <p:cNvPr id="3" name="Text 1"/>
          <p:cNvSpPr/>
          <p:nvPr/>
        </p:nvSpPr>
        <p:spPr>
          <a:xfrm>
            <a:off x="548640" y="969264"/>
            <a:ext cx="9692640" cy="365760"/>
          </a:xfrm>
          <a:prstGeom prst="rect">
            <a:avLst/>
          </a:prstGeom>
          <a:noFill/>
          <a:ln/>
        </p:spPr>
        <p:txBody>
          <a:bodyPr wrap="square" lIns="0" tIns="0" rIns="0" bIns="0" rtlCol="0" anchor="ctr"/>
          <a:lstStyle/>
          <a:p>
            <a:pPr indent="0" marL="0">
              <a:buNone/>
            </a:pPr>
            <a:r>
              <a:rPr lang="en-US" sz="1500" i="1" dirty="0">
                <a:solidFill>
                  <a:srgbClr val="97BC62"/>
                </a:solidFill>
                <a:latin typeface="Calibri" pitchFamily="34" charset="0"/>
                <a:ea typeface="Calibri" pitchFamily="34" charset="-122"/>
                <a:cs typeface="Calibri" pitchFamily="34" charset="-120"/>
              </a:rPr>
              <a:t>What we built for clinical trials is now pointed at the AI/ML devices already on the market</a:t>
            </a:r>
            <a:endParaRPr lang="en-US" sz="1500" dirty="0"/>
          </a:p>
        </p:txBody>
      </p:sp>
      <p:sp>
        <p:nvSpPr>
          <p:cNvPr id="4" name="Shape 2"/>
          <p:cNvSpPr/>
          <p:nvPr/>
        </p:nvSpPr>
        <p:spPr>
          <a:xfrm>
            <a:off x="548640" y="1554480"/>
            <a:ext cx="5166360" cy="3931920"/>
          </a:xfrm>
          <a:prstGeom prst="roundRect">
            <a:avLst>
              <a:gd name="adj" fmla="val 1860"/>
            </a:avLst>
          </a:prstGeom>
          <a:solidFill>
            <a:srgbClr val="1B4635"/>
          </a:solidFill>
          <a:ln w="12700">
            <a:solidFill>
              <a:srgbClr val="2E5C48"/>
            </a:solidFill>
            <a:prstDash val="solid"/>
          </a:ln>
        </p:spPr>
      </p:sp>
      <p:sp>
        <p:nvSpPr>
          <p:cNvPr id="5" name="Text 3"/>
          <p:cNvSpPr/>
          <p:nvPr/>
        </p:nvSpPr>
        <p:spPr>
          <a:xfrm>
            <a:off x="822960" y="1755648"/>
            <a:ext cx="4617720" cy="274320"/>
          </a:xfrm>
          <a:prstGeom prst="rect">
            <a:avLst/>
          </a:prstGeom>
          <a:noFill/>
          <a:ln/>
        </p:spPr>
        <p:txBody>
          <a:bodyPr wrap="square" lIns="0" tIns="0" rIns="0" bIns="0"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WHAT WE FOUND — CLINICAL TRIALS</a:t>
            </a:r>
            <a:endParaRPr lang="en-US" sz="1100" dirty="0"/>
          </a:p>
        </p:txBody>
      </p:sp>
      <p:sp>
        <p:nvSpPr>
          <p:cNvPr id="6" name="Text 4"/>
          <p:cNvSpPr/>
          <p:nvPr/>
        </p:nvSpPr>
        <p:spPr>
          <a:xfrm>
            <a:off x="822960" y="2139696"/>
            <a:ext cx="1371600" cy="384048"/>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79,297</a:t>
            </a:r>
            <a:endParaRPr lang="en-US" sz="2500" dirty="0"/>
          </a:p>
        </p:txBody>
      </p:sp>
      <p:sp>
        <p:nvSpPr>
          <p:cNvPr id="7" name="Text 5"/>
          <p:cNvSpPr/>
          <p:nvPr/>
        </p:nvSpPr>
        <p:spPr>
          <a:xfrm>
            <a:off x="2240280" y="2139696"/>
            <a:ext cx="3200400" cy="384048"/>
          </a:xfrm>
          <a:prstGeom prst="rect">
            <a:avLst/>
          </a:prstGeom>
          <a:noFill/>
          <a:ln/>
        </p:spPr>
        <p:txBody>
          <a:bodyPr wrap="square" lIns="0" tIns="0" rIns="0" bIns="0" rtlCol="0" anchor="ctr"/>
          <a:lstStyle/>
          <a:p>
            <a:pPr indent="0" marL="0">
              <a:buNone/>
            </a:pPr>
            <a:r>
              <a:rPr lang="en-US" sz="1150" dirty="0">
                <a:solidFill>
                  <a:srgbClr val="DCE8DC"/>
                </a:solidFill>
                <a:latin typeface="Calibri" pitchFamily="34" charset="0"/>
                <a:ea typeface="Calibri" pitchFamily="34" charset="-122"/>
                <a:cs typeface="Calibri" pitchFamily="34" charset="-120"/>
              </a:rPr>
              <a:t>trials with posted results, 2009–2026</a:t>
            </a:r>
            <a:endParaRPr lang="en-US" sz="1150" dirty="0"/>
          </a:p>
        </p:txBody>
      </p:sp>
      <p:sp>
        <p:nvSpPr>
          <p:cNvPr id="8" name="Text 6"/>
          <p:cNvSpPr/>
          <p:nvPr/>
        </p:nvSpPr>
        <p:spPr>
          <a:xfrm>
            <a:off x="822960" y="2706624"/>
            <a:ext cx="1371600" cy="384048"/>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57.0%</a:t>
            </a:r>
            <a:endParaRPr lang="en-US" sz="2500" dirty="0"/>
          </a:p>
        </p:txBody>
      </p:sp>
      <p:sp>
        <p:nvSpPr>
          <p:cNvPr id="9" name="Text 7"/>
          <p:cNvSpPr/>
          <p:nvPr/>
        </p:nvSpPr>
        <p:spPr>
          <a:xfrm>
            <a:off x="2240280" y="2706624"/>
            <a:ext cx="3200400" cy="384048"/>
          </a:xfrm>
          <a:prstGeom prst="rect">
            <a:avLst/>
          </a:prstGeom>
          <a:noFill/>
          <a:ln/>
        </p:spPr>
        <p:txBody>
          <a:bodyPr wrap="square" lIns="0" tIns="0" rIns="0" bIns="0" rtlCol="0" anchor="ctr"/>
          <a:lstStyle/>
          <a:p>
            <a:pPr indent="0" marL="0">
              <a:buNone/>
            </a:pPr>
            <a:r>
              <a:rPr lang="en-US" sz="1150" dirty="0">
                <a:solidFill>
                  <a:srgbClr val="DCE8DC"/>
                </a:solidFill>
                <a:latin typeface="Calibri" pitchFamily="34" charset="0"/>
                <a:ea typeface="Calibri" pitchFamily="34" charset="-122"/>
                <a:cs typeface="Calibri" pitchFamily="34" charset="-120"/>
              </a:rPr>
              <a:t>report race · 39.1% ethnicity · 2.1% gender identity</a:t>
            </a:r>
            <a:endParaRPr lang="en-US" sz="1150" dirty="0"/>
          </a:p>
        </p:txBody>
      </p:sp>
      <p:sp>
        <p:nvSpPr>
          <p:cNvPr id="10" name="Text 8"/>
          <p:cNvSpPr/>
          <p:nvPr/>
        </p:nvSpPr>
        <p:spPr>
          <a:xfrm>
            <a:off x="822960" y="3273552"/>
            <a:ext cx="1371600" cy="384048"/>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52.4%</a:t>
            </a:r>
            <a:endParaRPr lang="en-US" sz="2500" dirty="0"/>
          </a:p>
        </p:txBody>
      </p:sp>
      <p:sp>
        <p:nvSpPr>
          <p:cNvPr id="11" name="Text 9"/>
          <p:cNvSpPr/>
          <p:nvPr/>
        </p:nvSpPr>
        <p:spPr>
          <a:xfrm>
            <a:off x="2240280" y="3273552"/>
            <a:ext cx="3200400" cy="384048"/>
          </a:xfrm>
          <a:prstGeom prst="rect">
            <a:avLst/>
          </a:prstGeom>
          <a:noFill/>
          <a:ln/>
        </p:spPr>
        <p:txBody>
          <a:bodyPr wrap="square" lIns="0" tIns="0" rIns="0" bIns="0" rtlCol="0" anchor="ctr"/>
          <a:lstStyle/>
          <a:p>
            <a:pPr indent="0" marL="0">
              <a:buNone/>
            </a:pPr>
            <a:r>
              <a:rPr lang="en-US" sz="1150" dirty="0">
                <a:solidFill>
                  <a:srgbClr val="DCE8DC"/>
                </a:solidFill>
                <a:latin typeface="Calibri" pitchFamily="34" charset="0"/>
                <a:ea typeface="Calibri" pitchFamily="34" charset="-122"/>
                <a:cs typeface="Calibri" pitchFamily="34" charset="-120"/>
              </a:rPr>
              <a:t>of participants have no ethnicity recorded at all</a:t>
            </a:r>
            <a:endParaRPr lang="en-US" sz="1150" dirty="0"/>
          </a:p>
        </p:txBody>
      </p:sp>
      <p:sp>
        <p:nvSpPr>
          <p:cNvPr id="12" name="Text 10"/>
          <p:cNvSpPr/>
          <p:nvPr/>
        </p:nvSpPr>
        <p:spPr>
          <a:xfrm>
            <a:off x="822960" y="3840480"/>
            <a:ext cx="1371600" cy="384048"/>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64.2%</a:t>
            </a:r>
            <a:endParaRPr lang="en-US" sz="2500" dirty="0"/>
          </a:p>
        </p:txBody>
      </p:sp>
      <p:sp>
        <p:nvSpPr>
          <p:cNvPr id="13" name="Text 11"/>
          <p:cNvSpPr/>
          <p:nvPr/>
        </p:nvSpPr>
        <p:spPr>
          <a:xfrm>
            <a:off x="2240280" y="3840480"/>
            <a:ext cx="3200400" cy="384048"/>
          </a:xfrm>
          <a:prstGeom prst="rect">
            <a:avLst/>
          </a:prstGeom>
          <a:noFill/>
          <a:ln/>
        </p:spPr>
        <p:txBody>
          <a:bodyPr wrap="square" lIns="0" tIns="0" rIns="0" bIns="0" rtlCol="0" anchor="ctr"/>
          <a:lstStyle/>
          <a:p>
            <a:pPr indent="0" marL="0">
              <a:buNone/>
            </a:pPr>
            <a:r>
              <a:rPr lang="en-US" sz="1150" dirty="0">
                <a:solidFill>
                  <a:srgbClr val="DCE8DC"/>
                </a:solidFill>
                <a:latin typeface="Calibri" pitchFamily="34" charset="0"/>
                <a:ea typeface="Calibri" pitchFamily="34" charset="-122"/>
                <a:cs typeface="Calibri" pitchFamily="34" charset="-120"/>
              </a:rPr>
              <a:t>of participants with known race are White</a:t>
            </a:r>
            <a:endParaRPr lang="en-US" sz="1150" dirty="0"/>
          </a:p>
        </p:txBody>
      </p:sp>
      <p:sp>
        <p:nvSpPr>
          <p:cNvPr id="14" name="Text 12"/>
          <p:cNvSpPr/>
          <p:nvPr/>
        </p:nvSpPr>
        <p:spPr>
          <a:xfrm>
            <a:off x="822960" y="4261104"/>
            <a:ext cx="4617720" cy="1005840"/>
          </a:xfrm>
          <a:prstGeom prst="rect">
            <a:avLst/>
          </a:prstGeom>
          <a:noFill/>
          <a:ln/>
        </p:spPr>
        <p:txBody>
          <a:bodyPr wrap="square" lIns="0" tIns="0" rIns="0" bIns="0" rtlCol="0" anchor="ctr"/>
          <a:lstStyle/>
          <a:p>
            <a:pPr indent="0" marL="0">
              <a:lnSpc>
                <a:spcPts val="1700"/>
              </a:lnSpc>
              <a:buNone/>
            </a:pPr>
            <a:r>
              <a:rPr lang="en-US" sz="1200" b="1" dirty="0">
                <a:solidFill>
                  <a:srgbClr val="FFFFFF"/>
                </a:solidFill>
                <a:latin typeface="Calibri" pitchFamily="34" charset="0"/>
                <a:ea typeface="Calibri" pitchFamily="34" charset="-122"/>
                <a:cs typeface="Calibri" pitchFamily="34" charset="-120"/>
              </a:rPr>
              <a:t>Reporting is improving, slowly. </a:t>
            </a:r>
            <a:pPr indent="0" marL="0">
              <a:lnSpc>
                <a:spcPts val="1700"/>
              </a:lnSpc>
              <a:buNone/>
            </a:pPr>
            <a:r>
              <a:rPr lang="en-US" sz="1200" dirty="0">
                <a:solidFill>
                  <a:srgbClr val="DCE8DC"/>
                </a:solidFill>
                <a:latin typeface="Calibri" pitchFamily="34" charset="0"/>
                <a:ea typeface="Calibri" pitchFamily="34" charset="-122"/>
                <a:cs typeface="Calibri" pitchFamily="34" charset="-120"/>
              </a:rPr>
              <a:t>Race reporting rose from 35.6% of trials in 2009 to 81.6% in 2025 — but gender identity has never cleared 3%, and the ethnicity gap has barely moved.</a:t>
            </a:r>
            <a:endParaRPr lang="en-US" sz="1200" dirty="0"/>
          </a:p>
        </p:txBody>
      </p:sp>
      <p:sp>
        <p:nvSpPr>
          <p:cNvPr id="15" name="Shape 13"/>
          <p:cNvSpPr/>
          <p:nvPr/>
        </p:nvSpPr>
        <p:spPr>
          <a:xfrm>
            <a:off x="6492240" y="1554480"/>
            <a:ext cx="5166360" cy="3931920"/>
          </a:xfrm>
          <a:prstGeom prst="roundRect">
            <a:avLst>
              <a:gd name="adj" fmla="val 1860"/>
            </a:avLst>
          </a:prstGeom>
          <a:solidFill>
            <a:srgbClr val="1B4635"/>
          </a:solidFill>
          <a:ln w="12700">
            <a:solidFill>
              <a:srgbClr val="2E5C48"/>
            </a:solidFill>
            <a:prstDash val="solid"/>
          </a:ln>
        </p:spPr>
      </p:sp>
      <p:sp>
        <p:nvSpPr>
          <p:cNvPr id="16" name="Text 14"/>
          <p:cNvSpPr/>
          <p:nvPr/>
        </p:nvSpPr>
        <p:spPr>
          <a:xfrm>
            <a:off x="6766560" y="1755648"/>
            <a:ext cx="4617720" cy="274320"/>
          </a:xfrm>
          <a:prstGeom prst="rect">
            <a:avLst/>
          </a:prstGeom>
          <a:noFill/>
          <a:ln/>
        </p:spPr>
        <p:txBody>
          <a:bodyPr wrap="square" lIns="0" tIns="0" rIns="0" bIns="0"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WHERE IT GOES NEXT — AI/ML DEVICES</a:t>
            </a:r>
            <a:endParaRPr lang="en-US" sz="1100" dirty="0"/>
          </a:p>
        </p:txBody>
      </p:sp>
      <p:pic>
        <p:nvPicPr>
          <p:cNvPr id="17" name="Image 0" descr="/home/user/clinical-trial-populations/slides/img/crop-ai-devices.png">    </p:cNvPr>
          <p:cNvPicPr>
            <a:picLocks noChangeAspect="1"/>
          </p:cNvPicPr>
          <p:nvPr/>
        </p:nvPicPr>
        <p:blipFill>
          <a:blip r:embed="rId1"/>
          <a:stretch>
            <a:fillRect/>
          </a:stretch>
        </p:blipFill>
        <p:spPr>
          <a:xfrm>
            <a:off x="6766560" y="2103120"/>
            <a:ext cx="4617720" cy="886968"/>
          </a:xfrm>
          <a:prstGeom prst="rect">
            <a:avLst/>
          </a:prstGeom>
        </p:spPr>
      </p:pic>
      <p:sp>
        <p:nvSpPr>
          <p:cNvPr id="18" name="Text 15"/>
          <p:cNvSpPr/>
          <p:nvPr/>
        </p:nvSpPr>
        <p:spPr>
          <a:xfrm>
            <a:off x="6766560" y="3154680"/>
            <a:ext cx="4617720" cy="2103120"/>
          </a:xfrm>
          <a:prstGeom prst="rect">
            <a:avLst/>
          </a:prstGeom>
          <a:noFill/>
          <a:ln/>
        </p:spPr>
        <p:txBody>
          <a:bodyPr wrap="square" lIns="0" tIns="0" rIns="0" bIns="0" rtlCol="0" anchor="ctr"/>
          <a:lstStyle/>
          <a:p>
            <a:pPr indent="0" marL="0">
              <a:lnSpc>
                <a:spcPts val="1700"/>
              </a:lnSpc>
              <a:buNone/>
            </a:pPr>
            <a:r>
              <a:rPr lang="en-US" sz="1200" b="1" dirty="0">
                <a:solidFill>
                  <a:srgbClr val="FFFFFF"/>
                </a:solidFill>
                <a:latin typeface="Calibri" pitchFamily="34" charset="0"/>
                <a:ea typeface="Calibri" pitchFamily="34" charset="-122"/>
                <a:cs typeface="Calibri" pitchFamily="34" charset="-120"/>
              </a:rPr>
              <a:t>96.2% arrive by the 510(k) predicate route</a:t>
            </a:r>
            <a:endParaRPr lang="en-US" sz="1200" dirty="0"/>
          </a:p>
          <a:p>
            <a:pPr indent="0" marL="0">
              <a:lnSpc>
                <a:spcPts val="1700"/>
              </a:lnSpc>
              <a:buNone/>
            </a:pPr>
            <a:r>
              <a:rPr lang="en-US" sz="1200" dirty="0">
                <a:solidFill>
                  <a:srgbClr val="DCE8DC"/>
                </a:solidFill>
                <a:latin typeface="Calibri" pitchFamily="34" charset="0"/>
                <a:ea typeface="Calibri" pitchFamily="34" charset="-122"/>
                <a:cs typeface="Calibri" pitchFamily="34" charset="-120"/>
              </a:rPr>
              <a:t>Substantial equivalence to a device already on the market — no new clinical evidence required. Only 18 of 1,451 (1.2%) went through full PMA review.</a:t>
            </a:r>
            <a:endParaRPr lang="en-US" sz="1200" dirty="0"/>
          </a:p>
          <a:p>
            <a:pPr indent="0" marL="0">
              <a:lnSpc>
                <a:spcPts val="1700"/>
              </a:lnSpc>
              <a:buNone/>
            </a:pPr>
            <a:r>
              <a:rPr lang="en-US" sz="1200" dirty="0">
                <a:solidFill>
                  <a:srgbClr val="DCE8DC"/>
                </a:solidFill>
                <a:latin typeface="Calibri" pitchFamily="34" charset="0"/>
                <a:ea typeface="Calibri" pitchFamily="34" charset="-122"/>
                <a:cs typeface="Calibri" pitchFamily="34" charset="-120"/>
              </a:rPr>
              <a:t>
</a:t>
            </a:r>
            <a:endParaRPr lang="en-US" sz="1200" dirty="0"/>
          </a:p>
          <a:p>
            <a:pPr indent="0" marL="0">
              <a:lnSpc>
                <a:spcPts val="1700"/>
              </a:lnSpc>
              <a:buNone/>
            </a:pPr>
            <a:r>
              <a:rPr lang="en-US" sz="1200" b="1" dirty="0">
                <a:solidFill>
                  <a:srgbClr val="FFFFFF"/>
                </a:solidFill>
                <a:latin typeface="Calibri" pitchFamily="34" charset="0"/>
                <a:ea typeface="Calibri" pitchFamily="34" charset="-122"/>
                <a:cs typeface="Calibri" pitchFamily="34" charset="-120"/>
              </a:rPr>
              <a:t>The FDA publishes no demographics for these validation studies.</a:t>
            </a:r>
            <a:endParaRPr lang="en-US" sz="1200" dirty="0"/>
          </a:p>
          <a:p>
            <a:pPr indent="0" marL="0">
              <a:lnSpc>
                <a:spcPts val="1700"/>
              </a:lnSpc>
              <a:buNone/>
            </a:pPr>
            <a:r>
              <a:rPr lang="en-US" sz="1200" dirty="0">
                <a:solidFill>
                  <a:srgbClr val="DCE8DC"/>
                </a:solidFill>
                <a:latin typeface="Calibri" pitchFamily="34" charset="0"/>
                <a:ea typeface="Calibri" pitchFamily="34" charset="-122"/>
                <a:cs typeface="Calibri" pitchFamily="34" charset="-120"/>
              </a:rPr>
              <a:t>So we have Claude read each device’s public 510(k)/De Novo/PMA summary PDF and its open-access manuscripts, and reconstruct who was actually in the validation cohort — evidence quote first, then the value.</a:t>
            </a:r>
            <a:endParaRPr lang="en-US" sz="1200" dirty="0"/>
          </a:p>
        </p:txBody>
      </p:sp>
      <p:sp>
        <p:nvSpPr>
          <p:cNvPr id="19" name="Shape 16"/>
          <p:cNvSpPr/>
          <p:nvPr/>
        </p:nvSpPr>
        <p:spPr>
          <a:xfrm>
            <a:off x="5870448" y="3310128"/>
            <a:ext cx="466344" cy="402336"/>
          </a:xfrm>
          <a:prstGeom prst="rightArrow">
            <a:avLst/>
          </a:prstGeom>
          <a:solidFill>
            <a:srgbClr val="97BC62"/>
          </a:solidFill>
          <a:ln w="12700">
            <a:solidFill>
              <a:srgbClr val="97BC62"/>
            </a:solidFill>
            <a:prstDash val="solid"/>
          </a:ln>
        </p:spPr>
      </p:sp>
      <p:sp>
        <p:nvSpPr>
          <p:cNvPr id="20" name="Text 17"/>
          <p:cNvSpPr/>
          <p:nvPr/>
        </p:nvSpPr>
        <p:spPr>
          <a:xfrm>
            <a:off x="548640" y="6053328"/>
            <a:ext cx="11109960" cy="274320"/>
          </a:xfrm>
          <a:prstGeom prst="rect">
            <a:avLst/>
          </a:prstGeom>
          <a:noFill/>
          <a:ln/>
        </p:spPr>
        <p:txBody>
          <a:bodyPr wrap="square" lIns="0" tIns="0" rIns="0" bIns="0" rtlCol="0" anchor="ctr"/>
          <a:lstStyle/>
          <a:p>
            <a:pPr indent="0" marL="0">
              <a:buNone/>
            </a:pPr>
            <a:r>
              <a:rPr lang="en-US" sz="900" dirty="0">
                <a:solidFill>
                  <a:srgbClr val="7E9A88"/>
                </a:solidFill>
                <a:latin typeface="Calibri" pitchFamily="34" charset="0"/>
                <a:ea typeface="Calibri" pitchFamily="34" charset="-122"/>
                <a:cs typeface="Calibri" pitchFamily="34" charset="-120"/>
              </a:rPr>
              <a:t>Sources: dashboard-summary.json (2026-07-26 snapshot) · FDA AI/ML-Enabled Device List (2026-03-05) · screenshot: civicsample.com AI Devices tab</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772400" cy="502920"/>
          </a:xfrm>
          <a:prstGeom prst="rect">
            <a:avLst/>
          </a:prstGeom>
          <a:noFill/>
          <a:ln/>
        </p:spPr>
        <p:txBody>
          <a:bodyPr wrap="square" lIns="0" tIns="0" rIns="0" bIns="0" rtlCol="0" anchor="ctr"/>
          <a:lstStyle/>
          <a:p>
            <a:pPr indent="0" marL="0">
              <a:buNone/>
            </a:pPr>
            <a:r>
              <a:rPr lang="en-US" sz="3800" b="1" dirty="0">
                <a:solidFill>
                  <a:srgbClr val="14382B"/>
                </a:solidFill>
                <a:latin typeface="Cambria" pitchFamily="34" charset="0"/>
                <a:ea typeface="Cambria" pitchFamily="34" charset="-122"/>
                <a:cs typeface="Cambria" pitchFamily="34" charset="-120"/>
              </a:rPr>
              <a:t>How we’ve used the API credits</a:t>
            </a:r>
            <a:endParaRPr lang="en-US" sz="3800" dirty="0"/>
          </a:p>
        </p:txBody>
      </p:sp>
      <p:sp>
        <p:nvSpPr>
          <p:cNvPr id="3" name="Text 1"/>
          <p:cNvSpPr/>
          <p:nvPr/>
        </p:nvSpPr>
        <p:spPr>
          <a:xfrm>
            <a:off x="548640" y="914400"/>
            <a:ext cx="8229600" cy="320040"/>
          </a:xfrm>
          <a:prstGeom prst="rect">
            <a:avLst/>
          </a:prstGeom>
          <a:noFill/>
          <a:ln/>
        </p:spPr>
        <p:txBody>
          <a:bodyPr wrap="square" lIns="0" tIns="0" rIns="0" bIns="0" rtlCol="0" anchor="ctr"/>
          <a:lstStyle/>
          <a:p>
            <a:pPr indent="0" marL="0">
              <a:buNone/>
            </a:pPr>
            <a:r>
              <a:rPr lang="en-US" sz="1500" i="1" dirty="0">
                <a:solidFill>
                  <a:srgbClr val="2C5F2D"/>
                </a:solidFill>
                <a:latin typeface="Calibri" pitchFamily="34" charset="0"/>
                <a:ea typeface="Calibri" pitchFamily="34" charset="-122"/>
                <a:cs typeface="Calibri" pitchFamily="34" charset="-120"/>
              </a:rPr>
              <a:t>Pilot runs to date — and the four things we’d like your read on</a:t>
            </a:r>
            <a:endParaRPr lang="en-US" sz="1500" dirty="0"/>
          </a:p>
        </p:txBody>
      </p:sp>
      <p:sp>
        <p:nvSpPr>
          <p:cNvPr id="4" name="Shape 2"/>
          <p:cNvSpPr/>
          <p:nvPr/>
        </p:nvSpPr>
        <p:spPr>
          <a:xfrm>
            <a:off x="548640" y="1417320"/>
            <a:ext cx="2633472" cy="1051560"/>
          </a:xfrm>
          <a:prstGeom prst="roundRect">
            <a:avLst>
              <a:gd name="adj" fmla="val 5217"/>
            </a:avLst>
          </a:prstGeom>
          <a:solidFill>
            <a:srgbClr val="F2F6F1"/>
          </a:solidFill>
          <a:ln w="12700">
            <a:solidFill>
              <a:srgbClr val="DCE6DA"/>
            </a:solidFill>
            <a:prstDash val="solid"/>
          </a:ln>
        </p:spPr>
      </p:sp>
      <p:sp>
        <p:nvSpPr>
          <p:cNvPr id="5" name="Text 3"/>
          <p:cNvSpPr/>
          <p:nvPr/>
        </p:nvSpPr>
        <p:spPr>
          <a:xfrm>
            <a:off x="731520" y="1517904"/>
            <a:ext cx="2286000" cy="411480"/>
          </a:xfrm>
          <a:prstGeom prst="rect">
            <a:avLst/>
          </a:prstGeom>
          <a:noFill/>
          <a:ln/>
        </p:spPr>
        <p:txBody>
          <a:bodyPr wrap="square" lIns="0" tIns="0" rIns="0" bIns="0" rtlCol="0" anchor="ctr"/>
          <a:lstStyle/>
          <a:p>
            <a:pPr indent="0" marL="0">
              <a:buNone/>
            </a:pPr>
            <a:r>
              <a:rPr lang="en-US" sz="2700" b="1" dirty="0">
                <a:solidFill>
                  <a:srgbClr val="2C5F2D"/>
                </a:solidFill>
                <a:latin typeface="Cambria" pitchFamily="34" charset="0"/>
                <a:ea typeface="Cambria" pitchFamily="34" charset="-122"/>
                <a:cs typeface="Cambria" pitchFamily="34" charset="-120"/>
              </a:rPr>
              <a:t>2.63M</a:t>
            </a:r>
            <a:endParaRPr lang="en-US" sz="2700" dirty="0"/>
          </a:p>
        </p:txBody>
      </p:sp>
      <p:sp>
        <p:nvSpPr>
          <p:cNvPr id="6" name="Text 4"/>
          <p:cNvSpPr/>
          <p:nvPr/>
        </p:nvSpPr>
        <p:spPr>
          <a:xfrm>
            <a:off x="731520" y="1929384"/>
            <a:ext cx="2286000" cy="219456"/>
          </a:xfrm>
          <a:prstGeom prst="rect">
            <a:avLst/>
          </a:prstGeom>
          <a:noFill/>
          <a:ln/>
        </p:spPr>
        <p:txBody>
          <a:bodyPr wrap="square" lIns="0" tIns="0" rIns="0" bIns="0" rtlCol="0" anchor="ctr"/>
          <a:lstStyle/>
          <a:p>
            <a:pPr indent="0" marL="0">
              <a:buNone/>
            </a:pPr>
            <a:r>
              <a:rPr lang="en-US" sz="1200" b="1" dirty="0">
                <a:solidFill>
                  <a:srgbClr val="14382B"/>
                </a:solidFill>
                <a:latin typeface="Calibri" pitchFamily="34" charset="0"/>
                <a:ea typeface="Calibri" pitchFamily="34" charset="-122"/>
                <a:cs typeface="Calibri" pitchFamily="34" charset="-120"/>
              </a:rPr>
              <a:t>tokens processed</a:t>
            </a:r>
            <a:endParaRPr lang="en-US" sz="1200" dirty="0"/>
          </a:p>
        </p:txBody>
      </p:sp>
      <p:sp>
        <p:nvSpPr>
          <p:cNvPr id="7" name="Text 5"/>
          <p:cNvSpPr/>
          <p:nvPr/>
        </p:nvSpPr>
        <p:spPr>
          <a:xfrm>
            <a:off x="731520" y="2139696"/>
            <a:ext cx="2286000" cy="219456"/>
          </a:xfrm>
          <a:prstGeom prst="rect">
            <a:avLst/>
          </a:prstGeom>
          <a:noFill/>
          <a:ln/>
        </p:spPr>
        <p:txBody>
          <a:bodyPr wrap="square" lIns="0" tIns="0" rIns="0" bIns="0" rtlCol="0" anchor="ctr"/>
          <a:lstStyle/>
          <a:p>
            <a:pPr indent="0" marL="0">
              <a:buNone/>
            </a:pPr>
            <a:r>
              <a:rPr lang="en-US" sz="1000" dirty="0">
                <a:solidFill>
                  <a:srgbClr val="6B7C71"/>
                </a:solidFill>
                <a:latin typeface="Calibri" pitchFamily="34" charset="0"/>
                <a:ea typeface="Calibri" pitchFamily="34" charset="-122"/>
                <a:cs typeface="Calibri" pitchFamily="34" charset="-120"/>
              </a:rPr>
              <a:t>2.41M in · 220K out</a:t>
            </a:r>
            <a:endParaRPr lang="en-US" sz="1000" dirty="0"/>
          </a:p>
        </p:txBody>
      </p:sp>
      <p:sp>
        <p:nvSpPr>
          <p:cNvPr id="8" name="Shape 6"/>
          <p:cNvSpPr/>
          <p:nvPr/>
        </p:nvSpPr>
        <p:spPr>
          <a:xfrm>
            <a:off x="3392424" y="1417320"/>
            <a:ext cx="2633472" cy="1051560"/>
          </a:xfrm>
          <a:prstGeom prst="roundRect">
            <a:avLst>
              <a:gd name="adj" fmla="val 5217"/>
            </a:avLst>
          </a:prstGeom>
          <a:solidFill>
            <a:srgbClr val="F2F6F1"/>
          </a:solidFill>
          <a:ln w="12700">
            <a:solidFill>
              <a:srgbClr val="DCE6DA"/>
            </a:solidFill>
            <a:prstDash val="solid"/>
          </a:ln>
        </p:spPr>
      </p:sp>
      <p:sp>
        <p:nvSpPr>
          <p:cNvPr id="9" name="Text 7"/>
          <p:cNvSpPr/>
          <p:nvPr/>
        </p:nvSpPr>
        <p:spPr>
          <a:xfrm>
            <a:off x="3575304" y="1517904"/>
            <a:ext cx="2286000" cy="411480"/>
          </a:xfrm>
          <a:prstGeom prst="rect">
            <a:avLst/>
          </a:prstGeom>
          <a:noFill/>
          <a:ln/>
        </p:spPr>
        <p:txBody>
          <a:bodyPr wrap="square" lIns="0" tIns="0" rIns="0" bIns="0" rtlCol="0" anchor="ctr"/>
          <a:lstStyle/>
          <a:p>
            <a:pPr indent="0" marL="0">
              <a:buNone/>
            </a:pPr>
            <a:r>
              <a:rPr lang="en-US" sz="2700" b="1" dirty="0">
                <a:solidFill>
                  <a:srgbClr val="2C5F2D"/>
                </a:solidFill>
                <a:latin typeface="Cambria" pitchFamily="34" charset="0"/>
                <a:ea typeface="Cambria" pitchFamily="34" charset="-122"/>
                <a:cs typeface="Cambria" pitchFamily="34" charset="-120"/>
              </a:rPr>
              <a:t>36</a:t>
            </a:r>
            <a:endParaRPr lang="en-US" sz="2700" dirty="0"/>
          </a:p>
        </p:txBody>
      </p:sp>
      <p:sp>
        <p:nvSpPr>
          <p:cNvPr id="10" name="Text 8"/>
          <p:cNvSpPr/>
          <p:nvPr/>
        </p:nvSpPr>
        <p:spPr>
          <a:xfrm>
            <a:off x="3575304" y="1929384"/>
            <a:ext cx="2286000" cy="219456"/>
          </a:xfrm>
          <a:prstGeom prst="rect">
            <a:avLst/>
          </a:prstGeom>
          <a:noFill/>
          <a:ln/>
        </p:spPr>
        <p:txBody>
          <a:bodyPr wrap="square" lIns="0" tIns="0" rIns="0" bIns="0" rtlCol="0" anchor="ctr"/>
          <a:lstStyle/>
          <a:p>
            <a:pPr indent="0" marL="0">
              <a:buNone/>
            </a:pPr>
            <a:r>
              <a:rPr lang="en-US" sz="1200" b="1" dirty="0">
                <a:solidFill>
                  <a:srgbClr val="14382B"/>
                </a:solidFill>
                <a:latin typeface="Calibri" pitchFamily="34" charset="0"/>
                <a:ea typeface="Calibri" pitchFamily="34" charset="-122"/>
                <a:cs typeface="Calibri" pitchFamily="34" charset="-120"/>
              </a:rPr>
              <a:t>documents</a:t>
            </a:r>
            <a:endParaRPr lang="en-US" sz="1200" dirty="0"/>
          </a:p>
        </p:txBody>
      </p:sp>
      <p:sp>
        <p:nvSpPr>
          <p:cNvPr id="11" name="Text 9"/>
          <p:cNvSpPr/>
          <p:nvPr/>
        </p:nvSpPr>
        <p:spPr>
          <a:xfrm>
            <a:off x="3575304" y="2139696"/>
            <a:ext cx="2286000" cy="219456"/>
          </a:xfrm>
          <a:prstGeom prst="rect">
            <a:avLst/>
          </a:prstGeom>
          <a:noFill/>
          <a:ln/>
        </p:spPr>
        <p:txBody>
          <a:bodyPr wrap="square" lIns="0" tIns="0" rIns="0" bIns="0" rtlCol="0" anchor="ctr"/>
          <a:lstStyle/>
          <a:p>
            <a:pPr indent="0" marL="0">
              <a:buNone/>
            </a:pPr>
            <a:r>
              <a:rPr lang="en-US" sz="1000" dirty="0">
                <a:solidFill>
                  <a:srgbClr val="6B7C71"/>
                </a:solidFill>
                <a:latin typeface="Calibri" pitchFamily="34" charset="0"/>
                <a:ea typeface="Calibri" pitchFamily="34" charset="-122"/>
                <a:cs typeface="Calibri" pitchFamily="34" charset="-120"/>
              </a:rPr>
              <a:t>across 373 PDF pages</a:t>
            </a:r>
            <a:endParaRPr lang="en-US" sz="1000" dirty="0"/>
          </a:p>
        </p:txBody>
      </p:sp>
      <p:sp>
        <p:nvSpPr>
          <p:cNvPr id="12" name="Shape 10"/>
          <p:cNvSpPr/>
          <p:nvPr/>
        </p:nvSpPr>
        <p:spPr>
          <a:xfrm>
            <a:off x="6236208" y="1417320"/>
            <a:ext cx="2633472" cy="1051560"/>
          </a:xfrm>
          <a:prstGeom prst="roundRect">
            <a:avLst>
              <a:gd name="adj" fmla="val 5217"/>
            </a:avLst>
          </a:prstGeom>
          <a:solidFill>
            <a:srgbClr val="F2F6F1"/>
          </a:solidFill>
          <a:ln w="12700">
            <a:solidFill>
              <a:srgbClr val="DCE6DA"/>
            </a:solidFill>
            <a:prstDash val="solid"/>
          </a:ln>
        </p:spPr>
      </p:sp>
      <p:sp>
        <p:nvSpPr>
          <p:cNvPr id="13" name="Text 11"/>
          <p:cNvSpPr/>
          <p:nvPr/>
        </p:nvSpPr>
        <p:spPr>
          <a:xfrm>
            <a:off x="6419088" y="1517904"/>
            <a:ext cx="2286000" cy="411480"/>
          </a:xfrm>
          <a:prstGeom prst="rect">
            <a:avLst/>
          </a:prstGeom>
          <a:noFill/>
          <a:ln/>
        </p:spPr>
        <p:txBody>
          <a:bodyPr wrap="square" lIns="0" tIns="0" rIns="0" bIns="0" rtlCol="0" anchor="ctr"/>
          <a:lstStyle/>
          <a:p>
            <a:pPr indent="0" marL="0">
              <a:buNone/>
            </a:pPr>
            <a:r>
              <a:rPr lang="en-US" sz="2700" b="1" dirty="0">
                <a:solidFill>
                  <a:srgbClr val="2C5F2D"/>
                </a:solidFill>
                <a:latin typeface="Cambria" pitchFamily="34" charset="0"/>
                <a:ea typeface="Cambria" pitchFamily="34" charset="-122"/>
                <a:cs typeface="Cambria" pitchFamily="34" charset="-120"/>
              </a:rPr>
              <a:t>$11.11</a:t>
            </a:r>
            <a:endParaRPr lang="en-US" sz="2700" dirty="0"/>
          </a:p>
        </p:txBody>
      </p:sp>
      <p:sp>
        <p:nvSpPr>
          <p:cNvPr id="14" name="Text 12"/>
          <p:cNvSpPr/>
          <p:nvPr/>
        </p:nvSpPr>
        <p:spPr>
          <a:xfrm>
            <a:off x="6419088" y="1929384"/>
            <a:ext cx="2286000" cy="219456"/>
          </a:xfrm>
          <a:prstGeom prst="rect">
            <a:avLst/>
          </a:prstGeom>
          <a:noFill/>
          <a:ln/>
        </p:spPr>
        <p:txBody>
          <a:bodyPr wrap="square" lIns="0" tIns="0" rIns="0" bIns="0" rtlCol="0" anchor="ctr"/>
          <a:lstStyle/>
          <a:p>
            <a:pPr indent="0" marL="0">
              <a:buNone/>
            </a:pPr>
            <a:r>
              <a:rPr lang="en-US" sz="1200" b="1" dirty="0">
                <a:solidFill>
                  <a:srgbClr val="14382B"/>
                </a:solidFill>
                <a:latin typeface="Calibri" pitchFamily="34" charset="0"/>
                <a:ea typeface="Calibri" pitchFamily="34" charset="-122"/>
                <a:cs typeface="Calibri" pitchFamily="34" charset="-120"/>
              </a:rPr>
              <a:t>spent to date</a:t>
            </a:r>
            <a:endParaRPr lang="en-US" sz="1200" dirty="0"/>
          </a:p>
        </p:txBody>
      </p:sp>
      <p:sp>
        <p:nvSpPr>
          <p:cNvPr id="15" name="Text 13"/>
          <p:cNvSpPr/>
          <p:nvPr/>
        </p:nvSpPr>
        <p:spPr>
          <a:xfrm>
            <a:off x="6419088" y="2139696"/>
            <a:ext cx="2286000" cy="219456"/>
          </a:xfrm>
          <a:prstGeom prst="rect">
            <a:avLst/>
          </a:prstGeom>
          <a:noFill/>
          <a:ln/>
        </p:spPr>
        <p:txBody>
          <a:bodyPr wrap="square" lIns="0" tIns="0" rIns="0" bIns="0" rtlCol="0" anchor="ctr"/>
          <a:lstStyle/>
          <a:p>
            <a:pPr indent="0" marL="0">
              <a:buNone/>
            </a:pPr>
            <a:r>
              <a:rPr lang="en-US" sz="1000" dirty="0">
                <a:solidFill>
                  <a:srgbClr val="6B7C71"/>
                </a:solidFill>
                <a:latin typeface="Calibri" pitchFamily="34" charset="0"/>
                <a:ea typeface="Calibri" pitchFamily="34" charset="-122"/>
                <a:cs typeface="Calibri" pitchFamily="34" charset="-120"/>
              </a:rPr>
              <a:t>at current list rates</a:t>
            </a:r>
            <a:endParaRPr lang="en-US" sz="1000" dirty="0"/>
          </a:p>
        </p:txBody>
      </p:sp>
      <p:sp>
        <p:nvSpPr>
          <p:cNvPr id="16" name="Shape 14"/>
          <p:cNvSpPr/>
          <p:nvPr/>
        </p:nvSpPr>
        <p:spPr>
          <a:xfrm>
            <a:off x="9079992" y="1417320"/>
            <a:ext cx="2633472" cy="1051560"/>
          </a:xfrm>
          <a:prstGeom prst="roundRect">
            <a:avLst>
              <a:gd name="adj" fmla="val 5217"/>
            </a:avLst>
          </a:prstGeom>
          <a:solidFill>
            <a:srgbClr val="F2F6F1"/>
          </a:solidFill>
          <a:ln w="12700">
            <a:solidFill>
              <a:srgbClr val="DCE6DA"/>
            </a:solidFill>
            <a:prstDash val="solid"/>
          </a:ln>
        </p:spPr>
      </p:sp>
      <p:sp>
        <p:nvSpPr>
          <p:cNvPr id="17" name="Text 15"/>
          <p:cNvSpPr/>
          <p:nvPr/>
        </p:nvSpPr>
        <p:spPr>
          <a:xfrm>
            <a:off x="9262872" y="1517904"/>
            <a:ext cx="2286000" cy="411480"/>
          </a:xfrm>
          <a:prstGeom prst="rect">
            <a:avLst/>
          </a:prstGeom>
          <a:noFill/>
          <a:ln/>
        </p:spPr>
        <p:txBody>
          <a:bodyPr wrap="square" lIns="0" tIns="0" rIns="0" bIns="0" rtlCol="0" anchor="ctr"/>
          <a:lstStyle/>
          <a:p>
            <a:pPr indent="0" marL="0">
              <a:buNone/>
            </a:pPr>
            <a:r>
              <a:rPr lang="en-US" sz="2700" b="1" dirty="0">
                <a:solidFill>
                  <a:srgbClr val="2C5F2D"/>
                </a:solidFill>
                <a:latin typeface="Cambria" pitchFamily="34" charset="0"/>
                <a:ea typeface="Cambria" pitchFamily="34" charset="-122"/>
                <a:cs typeface="Cambria" pitchFamily="34" charset="-120"/>
              </a:rPr>
              <a:t>3×</a:t>
            </a:r>
            <a:endParaRPr lang="en-US" sz="2700" dirty="0"/>
          </a:p>
        </p:txBody>
      </p:sp>
      <p:sp>
        <p:nvSpPr>
          <p:cNvPr id="18" name="Text 16"/>
          <p:cNvSpPr/>
          <p:nvPr/>
        </p:nvSpPr>
        <p:spPr>
          <a:xfrm>
            <a:off x="9262872" y="1929384"/>
            <a:ext cx="2286000" cy="219456"/>
          </a:xfrm>
          <a:prstGeom prst="rect">
            <a:avLst/>
          </a:prstGeom>
          <a:noFill/>
          <a:ln/>
        </p:spPr>
        <p:txBody>
          <a:bodyPr wrap="square" lIns="0" tIns="0" rIns="0" bIns="0" rtlCol="0" anchor="ctr"/>
          <a:lstStyle/>
          <a:p>
            <a:pPr indent="0" marL="0">
              <a:buNone/>
            </a:pPr>
            <a:r>
              <a:rPr lang="en-US" sz="1200" b="1" dirty="0">
                <a:solidFill>
                  <a:srgbClr val="14382B"/>
                </a:solidFill>
                <a:latin typeface="Calibri" pitchFamily="34" charset="0"/>
                <a:ea typeface="Calibri" pitchFamily="34" charset="-122"/>
                <a:cs typeface="Calibri" pitchFamily="34" charset="-120"/>
              </a:rPr>
              <a:t>models per document</a:t>
            </a:r>
            <a:endParaRPr lang="en-US" sz="1200" dirty="0"/>
          </a:p>
        </p:txBody>
      </p:sp>
      <p:sp>
        <p:nvSpPr>
          <p:cNvPr id="19" name="Text 17"/>
          <p:cNvSpPr/>
          <p:nvPr/>
        </p:nvSpPr>
        <p:spPr>
          <a:xfrm>
            <a:off x="9262872" y="2139696"/>
            <a:ext cx="2286000" cy="219456"/>
          </a:xfrm>
          <a:prstGeom prst="rect">
            <a:avLst/>
          </a:prstGeom>
          <a:noFill/>
          <a:ln/>
        </p:spPr>
        <p:txBody>
          <a:bodyPr wrap="square" lIns="0" tIns="0" rIns="0" bIns="0" rtlCol="0" anchor="ctr"/>
          <a:lstStyle/>
          <a:p>
            <a:pPr indent="0" marL="0">
              <a:buNone/>
            </a:pPr>
            <a:r>
              <a:rPr lang="en-US" sz="1000" dirty="0">
                <a:solidFill>
                  <a:srgbClr val="6B7C71"/>
                </a:solidFill>
                <a:latin typeface="Calibri" pitchFamily="34" charset="0"/>
                <a:ea typeface="Calibri" pitchFamily="34" charset="-122"/>
                <a:cs typeface="Calibri" pitchFamily="34" charset="-120"/>
              </a:rPr>
              <a:t>Haiku · Sonnet · Opus</a:t>
            </a:r>
            <a:endParaRPr lang="en-US" sz="1000" dirty="0"/>
          </a:p>
        </p:txBody>
      </p:sp>
      <p:sp>
        <p:nvSpPr>
          <p:cNvPr id="20" name="Text 18"/>
          <p:cNvSpPr/>
          <p:nvPr/>
        </p:nvSpPr>
        <p:spPr>
          <a:xfrm>
            <a:off x="548640" y="2724912"/>
            <a:ext cx="5669280" cy="228600"/>
          </a:xfrm>
          <a:prstGeom prst="rect">
            <a:avLst/>
          </a:prstGeom>
          <a:noFill/>
          <a:ln/>
        </p:spPr>
        <p:txBody>
          <a:bodyPr wrap="square" lIns="0" tIns="0" rIns="0" bIns="0" rtlCol="0" anchor="ctr"/>
          <a:lstStyle/>
          <a:p>
            <a:pPr indent="0" marL="0">
              <a:buNone/>
            </a:pPr>
            <a:r>
              <a:rPr lang="en-US" sz="1100" b="1" spc="150" kern="0" dirty="0">
                <a:solidFill>
                  <a:srgbClr val="2C5F2D"/>
                </a:solidFill>
                <a:latin typeface="Calibri" pitchFamily="34" charset="0"/>
                <a:ea typeface="Calibri" pitchFamily="34" charset="-122"/>
                <a:cs typeface="Calibri" pitchFamily="34" charset="-120"/>
              </a:rPr>
              <a:t>WHAT A FULL-SCALE RUN WOULD COST</a:t>
            </a:r>
            <a:endParaRPr lang="en-US" sz="1100" dirty="0"/>
          </a:p>
        </p:txBody>
      </p:sp>
      <p:pic>
        <p:nvPicPr>
          <p:cNvPr id="21" name="Image 0" descr="/home/user/clinical-trial-populations/slides/img/crop-models.png">    </p:cNvPr>
          <p:cNvPicPr>
            <a:picLocks noChangeAspect="1"/>
          </p:cNvPicPr>
          <p:nvPr/>
        </p:nvPicPr>
        <p:blipFill>
          <a:blip r:embed="rId1"/>
          <a:stretch>
            <a:fillRect/>
          </a:stretch>
        </p:blipFill>
        <p:spPr>
          <a:xfrm>
            <a:off x="548640" y="3017520"/>
            <a:ext cx="5669280" cy="1472184"/>
          </a:xfrm>
          <a:prstGeom prst="rect">
            <a:avLst/>
          </a:prstGeom>
        </p:spPr>
      </p:pic>
      <p:sp>
        <p:nvSpPr>
          <p:cNvPr id="22" name="Text 19"/>
          <p:cNvSpPr/>
          <p:nvPr/>
        </p:nvSpPr>
        <p:spPr>
          <a:xfrm>
            <a:off x="548640" y="4590288"/>
            <a:ext cx="5669280" cy="868680"/>
          </a:xfrm>
          <a:prstGeom prst="rect">
            <a:avLst/>
          </a:prstGeom>
          <a:noFill/>
          <a:ln/>
        </p:spPr>
        <p:txBody>
          <a:bodyPr wrap="square" lIns="0" tIns="0" rIns="0" bIns="0" rtlCol="0" anchor="ctr"/>
          <a:lstStyle/>
          <a:p>
            <a:pPr indent="0" marL="0">
              <a:lnSpc>
                <a:spcPts val="1500"/>
              </a:lnSpc>
              <a:buNone/>
            </a:pPr>
            <a:r>
              <a:rPr lang="en-US" sz="1100" b="1" dirty="0">
                <a:solidFill>
                  <a:srgbClr val="14382B"/>
                </a:solidFill>
                <a:latin typeface="Calibri" pitchFamily="34" charset="0"/>
                <a:ea typeface="Calibri" pitchFamily="34" charset="-122"/>
                <a:cs typeface="Calibri" pitchFamily="34" charset="-120"/>
              </a:rPr>
              <a:t>All three models over every document: </a:t>
            </a:r>
            <a:pPr indent="0" marL="0">
              <a:lnSpc>
                <a:spcPts val="1500"/>
              </a:lnSpc>
              <a:buNone/>
            </a:pPr>
            <a:r>
              <a:rPr lang="en-US" sz="1100" dirty="0">
                <a:solidFill>
                  <a:srgbClr val="14382B"/>
                </a:solidFill>
                <a:latin typeface="Calibri" pitchFamily="34" charset="0"/>
                <a:ea typeface="Calibri" pitchFamily="34" charset="-122"/>
                <a:cs typeface="Calibri" pitchFamily="34" charset="-120"/>
              </a:rPr>
              <a:t>~$44K. Sonnet alone with the Batch API: ~$6.2K. </a:t>
            </a:r>
            <a:pPr indent="0" marL="0">
              <a:lnSpc>
                <a:spcPts val="1500"/>
              </a:lnSpc>
              <a:buNone/>
            </a:pPr>
            <a:r>
              <a:rPr lang="en-US" sz="1100" b="1" dirty="0">
                <a:solidFill>
                  <a:srgbClr val="B85042"/>
                </a:solidFill>
                <a:latin typeface="Calibri" pitchFamily="34" charset="0"/>
                <a:ea typeface="Calibri" pitchFamily="34" charset="-122"/>
                <a:cs typeface="Calibri" pitchFamily="34" charset="-120"/>
              </a:rPr>
              <a:t>The projections shown on the dashboard price Opus at $15/$75 per 1M — the current rate is $5/$25, so our own estimates are ~3× high.</a:t>
            </a:r>
            <a:endParaRPr lang="en-US" sz="1100" dirty="0"/>
          </a:p>
        </p:txBody>
      </p:sp>
      <p:sp>
        <p:nvSpPr>
          <p:cNvPr id="23" name="Shape 20"/>
          <p:cNvSpPr/>
          <p:nvPr/>
        </p:nvSpPr>
        <p:spPr>
          <a:xfrm>
            <a:off x="6537960" y="2724912"/>
            <a:ext cx="5120640" cy="3063240"/>
          </a:xfrm>
          <a:prstGeom prst="roundRect">
            <a:avLst>
              <a:gd name="adj" fmla="val 2388"/>
            </a:avLst>
          </a:prstGeom>
          <a:solidFill>
            <a:srgbClr val="F7F3F1"/>
          </a:solidFill>
          <a:ln w="12700">
            <a:solidFill>
              <a:srgbClr val="E4D3CE"/>
            </a:solidFill>
            <a:prstDash val="solid"/>
          </a:ln>
        </p:spPr>
      </p:sp>
      <p:sp>
        <p:nvSpPr>
          <p:cNvPr id="24" name="Text 21"/>
          <p:cNvSpPr/>
          <p:nvPr/>
        </p:nvSpPr>
        <p:spPr>
          <a:xfrm>
            <a:off x="6812280" y="2889504"/>
            <a:ext cx="4572000" cy="228600"/>
          </a:xfrm>
          <a:prstGeom prst="rect">
            <a:avLst/>
          </a:prstGeom>
          <a:noFill/>
          <a:ln/>
        </p:spPr>
        <p:txBody>
          <a:bodyPr wrap="square" lIns="0" tIns="0" rIns="0" bIns="0" rtlCol="0" anchor="ctr"/>
          <a:lstStyle/>
          <a:p>
            <a:pPr indent="0" marL="0">
              <a:buNone/>
            </a:pPr>
            <a:r>
              <a:rPr lang="en-US" sz="1100" b="1" spc="150" kern="0" dirty="0">
                <a:solidFill>
                  <a:srgbClr val="B85042"/>
                </a:solidFill>
                <a:latin typeface="Calibri" pitchFamily="34" charset="0"/>
                <a:ea typeface="Calibri" pitchFamily="34" charset="-122"/>
                <a:cs typeface="Calibri" pitchFamily="34" charset="-120"/>
              </a:rPr>
              <a:t>WHERE WE’D WANT YOUR FEEDBACK</a:t>
            </a:r>
            <a:endParaRPr lang="en-US" sz="1100" dirty="0"/>
          </a:p>
        </p:txBody>
      </p:sp>
      <p:sp>
        <p:nvSpPr>
          <p:cNvPr id="25" name="Text 22"/>
          <p:cNvSpPr/>
          <p:nvPr/>
        </p:nvSpPr>
        <p:spPr>
          <a:xfrm>
            <a:off x="6812280" y="3200400"/>
            <a:ext cx="274320" cy="219456"/>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1</a:t>
            </a:r>
            <a:endParaRPr lang="en-US" sz="1300" dirty="0"/>
          </a:p>
        </p:txBody>
      </p:sp>
      <p:sp>
        <p:nvSpPr>
          <p:cNvPr id="26" name="Text 23"/>
          <p:cNvSpPr/>
          <p:nvPr/>
        </p:nvSpPr>
        <p:spPr>
          <a:xfrm>
            <a:off x="7132320" y="3200400"/>
            <a:ext cx="4297680" cy="219456"/>
          </a:xfrm>
          <a:prstGeom prst="rect">
            <a:avLst/>
          </a:prstGeom>
          <a:noFill/>
          <a:ln/>
        </p:spPr>
        <p:txBody>
          <a:bodyPr wrap="square" lIns="0" tIns="0" rIns="0" bIns="0" rtlCol="0" anchor="ctr"/>
          <a:lstStyle/>
          <a:p>
            <a:pPr indent="0" marL="0">
              <a:buNone/>
            </a:pPr>
            <a:r>
              <a:rPr lang="en-US" sz="1200" b="1" dirty="0">
                <a:solidFill>
                  <a:srgbClr val="14382B"/>
                </a:solidFill>
                <a:latin typeface="Calibri" pitchFamily="34" charset="0"/>
                <a:ea typeface="Calibri" pitchFamily="34" charset="-122"/>
                <a:cs typeface="Calibri" pitchFamily="34" charset="-120"/>
              </a:rPr>
              <a:t>Is 3-model agreement the right reliability signal?</a:t>
            </a:r>
            <a:endParaRPr lang="en-US" sz="1200" dirty="0"/>
          </a:p>
        </p:txBody>
      </p:sp>
      <p:sp>
        <p:nvSpPr>
          <p:cNvPr id="27" name="Text 24"/>
          <p:cNvSpPr/>
          <p:nvPr/>
        </p:nvSpPr>
        <p:spPr>
          <a:xfrm>
            <a:off x="7132320" y="3424428"/>
            <a:ext cx="4297680" cy="384048"/>
          </a:xfrm>
          <a:prstGeom prst="rect">
            <a:avLst/>
          </a:prstGeom>
          <a:noFill/>
          <a:ln/>
        </p:spPr>
        <p:txBody>
          <a:bodyPr wrap="square" lIns="0" tIns="0" rIns="0" bIns="0" rtlCol="0" anchor="ctr"/>
          <a:lstStyle/>
          <a:p>
            <a:pPr indent="0" marL="0">
              <a:lnSpc>
                <a:spcPts val="1300"/>
              </a:lnSpc>
              <a:buNone/>
            </a:pPr>
            <a:r>
              <a:rPr lang="en-US" sz="1000" dirty="0">
                <a:solidFill>
                  <a:srgbClr val="6B7C71"/>
                </a:solidFill>
                <a:latin typeface="Calibri" pitchFamily="34" charset="0"/>
                <a:ea typeface="Calibri" pitchFamily="34" charset="-122"/>
                <a:cs typeface="Calibri" pitchFamily="34" charset="-120"/>
              </a:rPr>
              <a:t>We run every doc through Haiku, Sonnet and Opus and compare. It triples cost. Would one model plus a verification pass buy more?</a:t>
            </a:r>
            <a:endParaRPr lang="en-US" sz="1000" dirty="0"/>
          </a:p>
        </p:txBody>
      </p:sp>
      <p:sp>
        <p:nvSpPr>
          <p:cNvPr id="28" name="Text 25"/>
          <p:cNvSpPr/>
          <p:nvPr/>
        </p:nvSpPr>
        <p:spPr>
          <a:xfrm>
            <a:off x="6812280" y="3858768"/>
            <a:ext cx="274320" cy="219456"/>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2</a:t>
            </a:r>
            <a:endParaRPr lang="en-US" sz="1300" dirty="0"/>
          </a:p>
        </p:txBody>
      </p:sp>
      <p:sp>
        <p:nvSpPr>
          <p:cNvPr id="29" name="Text 26"/>
          <p:cNvSpPr/>
          <p:nvPr/>
        </p:nvSpPr>
        <p:spPr>
          <a:xfrm>
            <a:off x="7132320" y="3858768"/>
            <a:ext cx="4297680" cy="219456"/>
          </a:xfrm>
          <a:prstGeom prst="rect">
            <a:avLst/>
          </a:prstGeom>
          <a:noFill/>
          <a:ln/>
        </p:spPr>
        <p:txBody>
          <a:bodyPr wrap="square" lIns="0" tIns="0" rIns="0" bIns="0" rtlCol="0" anchor="ctr"/>
          <a:lstStyle/>
          <a:p>
            <a:pPr indent="0" marL="0">
              <a:buNone/>
            </a:pPr>
            <a:r>
              <a:rPr lang="en-US" sz="1200" b="1" dirty="0">
                <a:solidFill>
                  <a:srgbClr val="14382B"/>
                </a:solidFill>
                <a:latin typeface="Calibri" pitchFamily="34" charset="0"/>
                <a:ea typeface="Calibri" pitchFamily="34" charset="-122"/>
                <a:cs typeface="Calibri" pitchFamily="34" charset="-120"/>
              </a:rPr>
              <a:t>We aren’t using prompt caching.</a:t>
            </a:r>
            <a:endParaRPr lang="en-US" sz="1200" dirty="0"/>
          </a:p>
        </p:txBody>
      </p:sp>
      <p:sp>
        <p:nvSpPr>
          <p:cNvPr id="30" name="Text 27"/>
          <p:cNvSpPr/>
          <p:nvPr/>
        </p:nvSpPr>
        <p:spPr>
          <a:xfrm>
            <a:off x="7132320" y="4082796"/>
            <a:ext cx="4297680" cy="384048"/>
          </a:xfrm>
          <a:prstGeom prst="rect">
            <a:avLst/>
          </a:prstGeom>
          <a:noFill/>
          <a:ln/>
        </p:spPr>
        <p:txBody>
          <a:bodyPr wrap="square" lIns="0" tIns="0" rIns="0" bIns="0" rtlCol="0" anchor="ctr"/>
          <a:lstStyle/>
          <a:p>
            <a:pPr indent="0" marL="0">
              <a:lnSpc>
                <a:spcPts val="1300"/>
              </a:lnSpc>
              <a:buNone/>
            </a:pPr>
            <a:r>
              <a:rPr lang="en-US" sz="1000" dirty="0">
                <a:solidFill>
                  <a:srgbClr val="6B7C71"/>
                </a:solidFill>
                <a:latin typeface="Calibri" pitchFamily="34" charset="0"/>
                <a:ea typeface="Calibri" pitchFamily="34" charset="-122"/>
                <a:cs typeface="Calibri" pitchFamily="34" charset="-120"/>
              </a:rPr>
              <a:t>The system prompt and evidence-first tool schema are identical on every call and re-billed each time.</a:t>
            </a:r>
            <a:endParaRPr lang="en-US" sz="1000" dirty="0"/>
          </a:p>
        </p:txBody>
      </p:sp>
      <p:sp>
        <p:nvSpPr>
          <p:cNvPr id="31" name="Text 28"/>
          <p:cNvSpPr/>
          <p:nvPr/>
        </p:nvSpPr>
        <p:spPr>
          <a:xfrm>
            <a:off x="6812280" y="4517136"/>
            <a:ext cx="274320" cy="219456"/>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3</a:t>
            </a:r>
            <a:endParaRPr lang="en-US" sz="1300" dirty="0"/>
          </a:p>
        </p:txBody>
      </p:sp>
      <p:sp>
        <p:nvSpPr>
          <p:cNvPr id="32" name="Text 29"/>
          <p:cNvSpPr/>
          <p:nvPr/>
        </p:nvSpPr>
        <p:spPr>
          <a:xfrm>
            <a:off x="7132320" y="4517136"/>
            <a:ext cx="4297680" cy="219456"/>
          </a:xfrm>
          <a:prstGeom prst="rect">
            <a:avLst/>
          </a:prstGeom>
          <a:noFill/>
          <a:ln/>
        </p:spPr>
        <p:txBody>
          <a:bodyPr wrap="square" lIns="0" tIns="0" rIns="0" bIns="0" rtlCol="0" anchor="ctr"/>
          <a:lstStyle/>
          <a:p>
            <a:pPr indent="0" marL="0">
              <a:buNone/>
            </a:pPr>
            <a:r>
              <a:rPr lang="en-US" sz="1200" b="1" dirty="0">
                <a:solidFill>
                  <a:srgbClr val="14382B"/>
                </a:solidFill>
                <a:latin typeface="Calibri" pitchFamily="34" charset="0"/>
                <a:ea typeface="Calibri" pitchFamily="34" charset="-122"/>
                <a:cs typeface="Calibri" pitchFamily="34" charset="-120"/>
              </a:rPr>
              <a:t>We aren’t using the Batch API.</a:t>
            </a:r>
            <a:endParaRPr lang="en-US" sz="1200" dirty="0"/>
          </a:p>
        </p:txBody>
      </p:sp>
      <p:sp>
        <p:nvSpPr>
          <p:cNvPr id="33" name="Text 30"/>
          <p:cNvSpPr/>
          <p:nvPr/>
        </p:nvSpPr>
        <p:spPr>
          <a:xfrm>
            <a:off x="7132320" y="4741164"/>
            <a:ext cx="4297680" cy="384048"/>
          </a:xfrm>
          <a:prstGeom prst="rect">
            <a:avLst/>
          </a:prstGeom>
          <a:noFill/>
          <a:ln/>
        </p:spPr>
        <p:txBody>
          <a:bodyPr wrap="square" lIns="0" tIns="0" rIns="0" bIns="0" rtlCol="0" anchor="ctr"/>
          <a:lstStyle/>
          <a:p>
            <a:pPr indent="0" marL="0">
              <a:lnSpc>
                <a:spcPts val="1300"/>
              </a:lnSpc>
              <a:buNone/>
            </a:pPr>
            <a:r>
              <a:rPr lang="en-US" sz="1000" dirty="0">
                <a:solidFill>
                  <a:srgbClr val="6B7C71"/>
                </a:solidFill>
                <a:latin typeface="Calibri" pitchFamily="34" charset="0"/>
                <a:ea typeface="Calibri" pitchFamily="34" charset="-122"/>
                <a:cs typeface="Calibri" pitchFamily="34" charset="-120"/>
              </a:rPr>
              <a:t>These runs are offline and nightly — nothing is latency-sensitive. That looks like 50% left on the table.</a:t>
            </a:r>
            <a:endParaRPr lang="en-US" sz="1000" dirty="0"/>
          </a:p>
        </p:txBody>
      </p:sp>
      <p:sp>
        <p:nvSpPr>
          <p:cNvPr id="34" name="Text 31"/>
          <p:cNvSpPr/>
          <p:nvPr/>
        </p:nvSpPr>
        <p:spPr>
          <a:xfrm>
            <a:off x="6812280" y="5175504"/>
            <a:ext cx="274320" cy="219456"/>
          </a:xfrm>
          <a:prstGeom prst="rect">
            <a:avLst/>
          </a:prstGeom>
          <a:noFill/>
          <a:ln/>
        </p:spPr>
        <p:txBody>
          <a:bodyPr wrap="square" lIns="0" tIns="0" rIns="0" bIns="0" rtlCol="0" anchor="ctr"/>
          <a:lstStyle/>
          <a:p>
            <a:pPr indent="0" marL="0">
              <a:buNone/>
            </a:pPr>
            <a:r>
              <a:rPr lang="en-US" sz="1300" b="1" dirty="0">
                <a:solidFill>
                  <a:srgbClr val="B85042"/>
                </a:solidFill>
                <a:latin typeface="Cambria" pitchFamily="34" charset="0"/>
                <a:ea typeface="Cambria" pitchFamily="34" charset="-122"/>
                <a:cs typeface="Cambria" pitchFamily="34" charset="-120"/>
              </a:rPr>
              <a:t>4</a:t>
            </a:r>
            <a:endParaRPr lang="en-US" sz="1300" dirty="0"/>
          </a:p>
        </p:txBody>
      </p:sp>
      <p:sp>
        <p:nvSpPr>
          <p:cNvPr id="35" name="Text 32"/>
          <p:cNvSpPr/>
          <p:nvPr/>
        </p:nvSpPr>
        <p:spPr>
          <a:xfrm>
            <a:off x="7132320" y="5175504"/>
            <a:ext cx="4297680" cy="219456"/>
          </a:xfrm>
          <a:prstGeom prst="rect">
            <a:avLst/>
          </a:prstGeom>
          <a:noFill/>
          <a:ln/>
        </p:spPr>
        <p:txBody>
          <a:bodyPr wrap="square" lIns="0" tIns="0" rIns="0" bIns="0" rtlCol="0" anchor="ctr"/>
          <a:lstStyle/>
          <a:p>
            <a:pPr indent="0" marL="0">
              <a:buNone/>
            </a:pPr>
            <a:r>
              <a:rPr lang="en-US" sz="1200" b="1" dirty="0">
                <a:solidFill>
                  <a:srgbClr val="14382B"/>
                </a:solidFill>
                <a:latin typeface="Calibri" pitchFamily="34" charset="0"/>
                <a:ea typeface="Calibri" pitchFamily="34" charset="-122"/>
                <a:cs typeface="Calibri" pitchFamily="34" charset="-120"/>
              </a:rPr>
              <a:t>Haiku leaked tool-call markup into 4 extracted values.</a:t>
            </a:r>
            <a:endParaRPr lang="en-US" sz="1200" dirty="0"/>
          </a:p>
        </p:txBody>
      </p:sp>
      <p:sp>
        <p:nvSpPr>
          <p:cNvPr id="36" name="Text 33"/>
          <p:cNvSpPr/>
          <p:nvPr/>
        </p:nvSpPr>
        <p:spPr>
          <a:xfrm>
            <a:off x="7132320" y="5399532"/>
            <a:ext cx="4297680" cy="384048"/>
          </a:xfrm>
          <a:prstGeom prst="rect">
            <a:avLst/>
          </a:prstGeom>
          <a:noFill/>
          <a:ln/>
        </p:spPr>
        <p:txBody>
          <a:bodyPr wrap="square" lIns="0" tIns="0" rIns="0" bIns="0" rtlCol="0" anchor="ctr"/>
          <a:lstStyle/>
          <a:p>
            <a:pPr indent="0" marL="0">
              <a:lnSpc>
                <a:spcPts val="1300"/>
              </a:lnSpc>
              <a:buNone/>
            </a:pPr>
            <a:r>
              <a:rPr lang="en-US" sz="1000" dirty="0">
                <a:solidFill>
                  <a:srgbClr val="6B7C71"/>
                </a:solidFill>
                <a:latin typeface="Calibri" pitchFamily="34" charset="0"/>
                <a:ea typeface="Calibri" pitchFamily="34" charset="-122"/>
                <a:cs typeface="Calibri" pitchFamily="34" charset="-120"/>
              </a:rPr>
              <a:t>Sonnet and Opus: zero. Is our paired evidence/value schema too deep for Haiku, or is that a prompt fix?</a:t>
            </a:r>
            <a:endParaRPr lang="en-US" sz="1000" dirty="0"/>
          </a:p>
        </p:txBody>
      </p:sp>
      <p:sp>
        <p:nvSpPr>
          <p:cNvPr id="37" name="Text 34"/>
          <p:cNvSpPr/>
          <p:nvPr/>
        </p:nvSpPr>
        <p:spPr>
          <a:xfrm>
            <a:off x="548640" y="6053328"/>
            <a:ext cx="11109960" cy="274320"/>
          </a:xfrm>
          <a:prstGeom prst="rect">
            <a:avLst/>
          </a:prstGeom>
          <a:noFill/>
          <a:ln/>
        </p:spPr>
        <p:txBody>
          <a:bodyPr wrap="square" lIns="0" tIns="0" rIns="0" bIns="0" rtlCol="0" anchor="ctr"/>
          <a:lstStyle/>
          <a:p>
            <a:pPr indent="0" marL="0">
              <a:buNone/>
            </a:pPr>
            <a:r>
              <a:rPr lang="en-US" sz="900" dirty="0">
                <a:solidFill>
                  <a:srgbClr val="6B7C71"/>
                </a:solidFill>
                <a:latin typeface="Calibri" pitchFamily="34" charset="0"/>
                <a:ea typeface="Calibri" pitchFamily="34" charset="-122"/>
                <a:cs typeface="Calibri" pitchFamily="34" charset="-120"/>
              </a:rPr>
              <a:t>Token and cost figures: data/fda_token_metrics.json, lit_token_metrics.json, trials_lit_token_metrics.json · rates per Anthropic list pricing, June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Civic Sample — interim progress &amp; API credit usage</dc:title>
  <dc:subject>PptxGenJS Presentation</dc:subject>
  <dc:creator>Civic Sample</dc:creator>
  <cp:lastModifiedBy>Civic Sample</cp:lastModifiedBy>
  <cp:revision>1</cp:revision>
  <dcterms:created xsi:type="dcterms:W3CDTF">2026-07-30T16:17:08Z</dcterms:created>
  <dcterms:modified xsi:type="dcterms:W3CDTF">2026-07-30T16:17:08Z</dcterms:modified>
</cp:coreProperties>
</file>