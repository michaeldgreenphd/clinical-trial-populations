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60" r:id="rId2"/>
    <p:sldId id="261" r:id="rId3"/>
    <p:sldId id="259" r:id="rId4"/>
    <p:sldId id="258" r:id="rId5"/>
    <p:sldId id="257" r:id="rId6"/>
    <p:sldId id="256" r:id="rId7"/>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3009"/>
    <p:restoredTop sz="94610"/>
  </p:normalViewPr>
  <p:slideViewPr>
    <p:cSldViewPr snapToGrid="0" snapToObjects="1">
      <p:cViewPr varScale="1">
        <p:scale>
          <a:sx n="184" d="100"/>
          <a:sy n="184" d="100"/>
        </p:scale>
        <p:origin x="176" y="64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233760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G"/><Relationship Id="rId3" Type="http://schemas.openxmlformats.org/officeDocument/2006/relationships/image" Target="../media/image2.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jpe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michaeldgreen.phd/" TargetMode="External"/><Relationship Id="rId3" Type="http://schemas.openxmlformats.org/officeDocument/2006/relationships/hyperlink" Target="http://github.com/michaeldgreenphd" TargetMode="External"/><Relationship Id="rId4" Type="http://schemas.openxmlformats.org/officeDocument/2006/relationships/image" Target="../media/image1.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hyperlink" Target="https://michaeldgreenphd.github.io/patientwords/modes/simulated/pairs_20260712T163501Z/index_11.html" TargetMode="External"/><Relationship Id="rId5" Type="http://schemas.openxmlformats.org/officeDocument/2006/relationships/image" Target="../media/image4.png"/><Relationship Id="rId6" Type="http://schemas.openxmlformats.org/officeDocument/2006/relationships/hyperlink" Target="https://michaeldgreenphd.github.io/patientwords/llm/#s16" TargetMode="External"/><Relationship Id="rId7" Type="http://schemas.openxmlformats.org/officeDocument/2006/relationships/hyperlink" Target="https://michaeldgreenphd.github.io/patientwords/start-here/"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7C37DBA-0F22-3524-5237-761B3B1A10EA}"/>
              </a:ext>
            </a:extLst>
          </p:cNvPr>
          <p:cNvSpPr txBox="1"/>
          <p:nvPr/>
        </p:nvSpPr>
        <p:spPr>
          <a:xfrm>
            <a:off x="320040" y="265176"/>
            <a:ext cx="8503920" cy="384048"/>
          </a:xfrm>
          <a:prstGeom prst="rect">
            <a:avLst/>
          </a:prstGeom>
          <a:noFill/>
        </p:spPr>
        <p:txBody>
          <a:bodyPr wrap="square" rtlCol="0" lIns="0" tIns="0">
            <a:spAutoFit/>
          </a:bodyPr>
          <a:lstStyle/>
          <a:p>
            <a:r>
              <a:rPr lang="en-US" dirty="0" sz="1800" b="1">
                <a:solidFill>
                  <a:srgbClr val="111827"/>
                </a:solidFill>
                <a:latin typeface="Century Schoolbook"/>
              </a:rPr>
              <a:t>Conclusions from Civic Sample Project so Far</a:t>
            </a:r>
          </a:p>
        </p:txBody>
      </p:sp>
      <p:sp>
        <p:nvSpPr>
          <p:cNvPr id="3" name="TextBox 2"/>
          <p:cNvSpPr txBox="1"/>
          <p:nvPr/>
        </p:nvSpPr>
        <p:spPr>
          <a:xfrm>
            <a:off x="320040" y="630936"/>
            <a:ext cx="8503920" cy="256032"/>
          </a:xfrm>
          <a:prstGeom prst="rect">
            <a:avLst/>
          </a:prstGeom>
          <a:noFill/>
        </p:spPr>
        <p:txBody>
          <a:bodyPr wrap="square" lIns="0" rIns="0" tIns="0" bIns="0">
            <a:spAutoFit/>
          </a:bodyPr>
          <a:lstStyle/>
          <a:p>
            <a:r>
              <a:rPr sz="1050" b="0" i="1">
                <a:solidFill>
                  <a:srgbClr val="6D6C66"/>
                </a:solidFill>
                <a:latin typeface="Century Schoolbook"/>
              </a:rPr>
              <a:t>Four demographic dimensions across </a:t>
            </a:r>
            <a:r>
              <a:rPr sz="1050" b="1" i="1">
                <a:solidFill>
                  <a:srgbClr val="6D6C66"/>
                </a:solidFill>
                <a:latin typeface="Century Schoolbook"/>
              </a:rPr>
              <a:t>79,297 trials with posted results</a:t>
            </a:r>
            <a:r>
              <a:rPr sz="1050" b="0" i="1">
                <a:solidFill>
                  <a:srgbClr val="6D6C66"/>
                </a:solidFill>
                <a:latin typeface="Century Schoolbook"/>
              </a:rPr>
              <a:t> — and the same questions now aimed at FDA-authorized medical AI.</a:t>
            </a:r>
          </a:p>
        </p:txBody>
      </p:sp>
      <p:sp>
        <p:nvSpPr>
          <p:cNvPr id="4" name="TextBox 3"/>
          <p:cNvSpPr txBox="1"/>
          <p:nvPr/>
        </p:nvSpPr>
        <p:spPr>
          <a:xfrm>
            <a:off x="320040" y="914400"/>
            <a:ext cx="5486400" cy="237744"/>
          </a:xfrm>
          <a:prstGeom prst="rect">
            <a:avLst/>
          </a:prstGeom>
          <a:noFill/>
        </p:spPr>
        <p:txBody>
          <a:bodyPr wrap="square" lIns="0" rIns="0" tIns="0" bIns="0">
            <a:spAutoFit/>
          </a:bodyPr>
          <a:lstStyle/>
          <a:p>
            <a:r>
              <a:rPr sz="1100" b="0" i="0">
                <a:solidFill>
                  <a:srgbClr val="111827"/>
                </a:solidFill>
                <a:latin typeface="Century Schoolbook"/>
              </a:rPr>
              <a:t>What we built for clinical trials, 2009–2026</a:t>
            </a:r>
          </a:p>
        </p:txBody>
      </p:sp>
      <p:sp>
        <p:nvSpPr>
          <p:cNvPr id="5" name="Rectangle 4"/>
          <p:cNvSpPr/>
          <p:nvPr/>
        </p:nvSpPr>
        <p:spPr>
          <a:xfrm>
            <a:off x="320040" y="1207008"/>
            <a:ext cx="8503920" cy="11430"/>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rop-race.png"/>
          <p:cNvPicPr>
            <a:picLocks noChangeAspect="1"/>
          </p:cNvPicPr>
          <p:nvPr/>
        </p:nvPicPr>
        <p:blipFill>
          <a:blip r:embed="rId2"/>
          <a:stretch>
            <a:fillRect/>
          </a:stretch>
        </p:blipFill>
        <p:spPr>
          <a:xfrm>
            <a:off x="381336" y="1298448"/>
            <a:ext cx="1889087" cy="1389888"/>
          </a:xfrm>
          <a:prstGeom prst="rect">
            <a:avLst/>
          </a:prstGeom>
        </p:spPr>
      </p:pic>
      <p:sp>
        <p:nvSpPr>
          <p:cNvPr id="7" name="TextBox 6"/>
          <p:cNvSpPr txBox="1"/>
          <p:nvPr/>
        </p:nvSpPr>
        <p:spPr>
          <a:xfrm>
            <a:off x="320040" y="2761488"/>
            <a:ext cx="2011680" cy="128016"/>
          </a:xfrm>
          <a:prstGeom prst="rect">
            <a:avLst/>
          </a:prstGeom>
          <a:noFill/>
        </p:spPr>
        <p:txBody>
          <a:bodyPr wrap="square" lIns="0" rIns="0" tIns="0" bIns="0">
            <a:spAutoFit/>
          </a:bodyPr>
          <a:lstStyle/>
          <a:p>
            <a:r>
              <a:rPr sz="700" b="1" i="0">
                <a:solidFill>
                  <a:srgbClr val="6D6C66"/>
                </a:solidFill>
                <a:latin typeface="Century Schoolbook"/>
              </a:rPr>
              <a:t>RACE</a:t>
            </a:r>
            <a:r>
              <a:rPr sz="700" b="1" i="0">
                <a:solidFill>
                  <a:srgbClr val="B4483D"/>
                </a:solidFill>
                <a:latin typeface="Century Schoolbook"/>
              </a:rPr>
              <a:t/>
            </a:r>
          </a:p>
        </p:txBody>
      </p:sp>
      <p:sp>
        <p:nvSpPr>
          <p:cNvPr id="8" name="TextBox 7"/>
          <p:cNvSpPr txBox="1"/>
          <p:nvPr/>
        </p:nvSpPr>
        <p:spPr>
          <a:xfrm>
            <a:off x="320040" y="2889504"/>
            <a:ext cx="2011680" cy="365760"/>
          </a:xfrm>
          <a:prstGeom prst="rect">
            <a:avLst/>
          </a:prstGeom>
          <a:noFill/>
        </p:spPr>
        <p:txBody>
          <a:bodyPr wrap="square" lIns="0" rIns="0" tIns="0" bIns="0">
            <a:spAutoFit/>
          </a:bodyPr>
          <a:lstStyle/>
          <a:p>
            <a:pPr>
              <a:lnSpc>
                <a:spcPct val="95000"/>
              </a:lnSpc>
            </a:pPr>
            <a:r>
              <a:rPr sz="950" b="1" i="0">
                <a:solidFill>
                  <a:srgbClr val="15803D"/>
                </a:solidFill>
                <a:latin typeface="Century Schoolbook"/>
              </a:rPr>
              <a:t>57.0%</a:t>
            </a:r>
            <a:r>
              <a:rPr sz="650" b="0" i="0">
                <a:solidFill>
                  <a:srgbClr val="6D6C66"/>
                </a:solidFill>
                <a:latin typeface="Century Schoolbook"/>
              </a:rPr>
              <a:t>  of trials report it</a:t>
            </a:r>
          </a:p>
        </p:txBody>
      </p:sp>
      <p:pic>
        <p:nvPicPr>
          <p:cNvPr id="9" name="Picture 8" descr="crop-ethnicity.png"/>
          <p:cNvPicPr>
            <a:picLocks noChangeAspect="1"/>
          </p:cNvPicPr>
          <p:nvPr/>
        </p:nvPicPr>
        <p:blipFill>
          <a:blip r:embed="rId3"/>
          <a:stretch>
            <a:fillRect/>
          </a:stretch>
        </p:blipFill>
        <p:spPr>
          <a:xfrm>
            <a:off x="2484120" y="1370676"/>
            <a:ext cx="2011680" cy="1245430"/>
          </a:xfrm>
          <a:prstGeom prst="rect">
            <a:avLst/>
          </a:prstGeom>
        </p:spPr>
      </p:pic>
      <p:sp>
        <p:nvSpPr>
          <p:cNvPr id="10" name="TextBox 9"/>
          <p:cNvSpPr txBox="1"/>
          <p:nvPr/>
        </p:nvSpPr>
        <p:spPr>
          <a:xfrm>
            <a:off x="2484120" y="2761488"/>
            <a:ext cx="2011680" cy="128016"/>
          </a:xfrm>
          <a:prstGeom prst="rect">
            <a:avLst/>
          </a:prstGeom>
          <a:noFill/>
        </p:spPr>
        <p:txBody>
          <a:bodyPr wrap="square" lIns="0" rIns="0" tIns="0" bIns="0">
            <a:spAutoFit/>
          </a:bodyPr>
          <a:lstStyle/>
          <a:p>
            <a:r>
              <a:rPr sz="700" b="1" i="0">
                <a:solidFill>
                  <a:srgbClr val="6D6C66"/>
                </a:solidFill>
                <a:latin typeface="Century Schoolbook"/>
              </a:rPr>
              <a:t>ETHNICITY</a:t>
            </a:r>
            <a:r>
              <a:rPr sz="700" b="1" i="0">
                <a:solidFill>
                  <a:srgbClr val="B4483D"/>
                </a:solidFill>
                <a:latin typeface="Century Schoolbook"/>
              </a:rPr>
              <a:t/>
            </a:r>
          </a:p>
        </p:txBody>
      </p:sp>
      <p:sp>
        <p:nvSpPr>
          <p:cNvPr id="11" name="TextBox 10"/>
          <p:cNvSpPr txBox="1"/>
          <p:nvPr/>
        </p:nvSpPr>
        <p:spPr>
          <a:xfrm>
            <a:off x="2484120" y="2889504"/>
            <a:ext cx="2011680" cy="365760"/>
          </a:xfrm>
          <a:prstGeom prst="rect">
            <a:avLst/>
          </a:prstGeom>
          <a:noFill/>
        </p:spPr>
        <p:txBody>
          <a:bodyPr wrap="square" lIns="0" rIns="0" tIns="0" bIns="0">
            <a:spAutoFit/>
          </a:bodyPr>
          <a:lstStyle/>
          <a:p>
            <a:pPr>
              <a:lnSpc>
                <a:spcPct val="95000"/>
              </a:lnSpc>
            </a:pPr>
            <a:r>
              <a:rPr sz="950" b="1" i="0">
                <a:solidFill>
                  <a:srgbClr val="15803D"/>
                </a:solidFill>
                <a:latin typeface="Century Schoolbook"/>
              </a:rPr>
              <a:t>39.1%</a:t>
            </a:r>
            <a:r>
              <a:rPr sz="650" b="0" i="0">
                <a:solidFill>
                  <a:srgbClr val="6D6C66"/>
                </a:solidFill>
                <a:latin typeface="Century Schoolbook"/>
              </a:rPr>
              <a:t>  of trials report it</a:t>
            </a:r>
          </a:p>
        </p:txBody>
      </p:sp>
      <p:pic>
        <p:nvPicPr>
          <p:cNvPr id="12" name="Picture 11" descr="crop-sex.png"/>
          <p:cNvPicPr>
            <a:picLocks noChangeAspect="1"/>
          </p:cNvPicPr>
          <p:nvPr/>
        </p:nvPicPr>
        <p:blipFill>
          <a:blip r:embed="rId4"/>
          <a:stretch>
            <a:fillRect/>
          </a:stretch>
        </p:blipFill>
        <p:spPr>
          <a:xfrm>
            <a:off x="4739958" y="1298448"/>
            <a:ext cx="1828162" cy="1389888"/>
          </a:xfrm>
          <a:prstGeom prst="rect">
            <a:avLst/>
          </a:prstGeom>
        </p:spPr>
      </p:pic>
      <p:sp>
        <p:nvSpPr>
          <p:cNvPr id="13" name="TextBox 12"/>
          <p:cNvSpPr txBox="1"/>
          <p:nvPr/>
        </p:nvSpPr>
        <p:spPr>
          <a:xfrm>
            <a:off x="4648200" y="2761488"/>
            <a:ext cx="2011680" cy="128016"/>
          </a:xfrm>
          <a:prstGeom prst="rect">
            <a:avLst/>
          </a:prstGeom>
          <a:noFill/>
        </p:spPr>
        <p:txBody>
          <a:bodyPr wrap="square" lIns="0" rIns="0" tIns="0" bIns="0">
            <a:spAutoFit/>
          </a:bodyPr>
          <a:lstStyle/>
          <a:p>
            <a:r>
              <a:rPr sz="700" b="1" i="0">
                <a:solidFill>
                  <a:srgbClr val="6D6C66"/>
                </a:solidFill>
                <a:latin typeface="Century Schoolbook"/>
              </a:rPr>
              <a:t>SEX</a:t>
            </a:r>
            <a:r>
              <a:rPr sz="700" b="1" i="0">
                <a:solidFill>
                  <a:srgbClr val="B4483D"/>
                </a:solidFill>
                <a:latin typeface="Century Schoolbook"/>
              </a:rPr>
              <a:t>*</a:t>
            </a:r>
          </a:p>
        </p:txBody>
      </p:sp>
      <p:sp>
        <p:nvSpPr>
          <p:cNvPr id="14" name="TextBox 13"/>
          <p:cNvSpPr txBox="1"/>
          <p:nvPr/>
        </p:nvSpPr>
        <p:spPr>
          <a:xfrm>
            <a:off x="4648200" y="2889504"/>
            <a:ext cx="2011680" cy="365760"/>
          </a:xfrm>
          <a:prstGeom prst="rect">
            <a:avLst/>
          </a:prstGeom>
          <a:noFill/>
        </p:spPr>
        <p:txBody>
          <a:bodyPr wrap="square" lIns="0" rIns="0" tIns="0" bIns="0">
            <a:spAutoFit/>
          </a:bodyPr>
          <a:lstStyle/>
          <a:p>
            <a:pPr>
              <a:lnSpc>
                <a:spcPct val="95000"/>
              </a:lnSpc>
            </a:pPr>
            <a:r>
              <a:rPr sz="950" b="1" i="0">
                <a:solidFill>
                  <a:srgbClr val="15803D"/>
                </a:solidFill>
                <a:latin typeface="Century Schoolbook"/>
              </a:rPr>
              <a:t>97.3%</a:t>
            </a:r>
            <a:r>
              <a:rPr sz="650" b="0" i="0">
                <a:solidFill>
                  <a:srgbClr val="6D6C66"/>
                </a:solidFill>
                <a:latin typeface="Century Schoolbook"/>
              </a:rPr>
              <a:t>  of trials report it</a:t>
            </a:r>
          </a:p>
        </p:txBody>
      </p:sp>
      <p:pic>
        <p:nvPicPr>
          <p:cNvPr id="15" name="Picture 14" descr="crop-geography.png"/>
          <p:cNvPicPr>
            <a:picLocks noChangeAspect="1"/>
          </p:cNvPicPr>
          <p:nvPr/>
        </p:nvPicPr>
        <p:blipFill>
          <a:blip r:embed="rId5"/>
          <a:stretch>
            <a:fillRect/>
          </a:stretch>
        </p:blipFill>
        <p:spPr>
          <a:xfrm>
            <a:off x="6812279" y="1368140"/>
            <a:ext cx="2011680" cy="1250503"/>
          </a:xfrm>
          <a:prstGeom prst="rect">
            <a:avLst/>
          </a:prstGeom>
        </p:spPr>
      </p:pic>
      <p:sp>
        <p:nvSpPr>
          <p:cNvPr id="16" name="TextBox 15"/>
          <p:cNvSpPr txBox="1"/>
          <p:nvPr/>
        </p:nvSpPr>
        <p:spPr>
          <a:xfrm>
            <a:off x="6812279" y="2761488"/>
            <a:ext cx="2011680" cy="128016"/>
          </a:xfrm>
          <a:prstGeom prst="rect">
            <a:avLst/>
          </a:prstGeom>
          <a:noFill/>
        </p:spPr>
        <p:txBody>
          <a:bodyPr wrap="square" lIns="0" rIns="0" tIns="0" bIns="0">
            <a:spAutoFit/>
          </a:bodyPr>
          <a:lstStyle/>
          <a:p>
            <a:r>
              <a:rPr sz="700" b="1" i="0">
                <a:solidFill>
                  <a:srgbClr val="6D6C66"/>
                </a:solidFill>
                <a:latin typeface="Century Schoolbook"/>
              </a:rPr>
              <a:t>GEOGRAPHY</a:t>
            </a:r>
            <a:r>
              <a:rPr sz="700" b="1" i="0">
                <a:solidFill>
                  <a:srgbClr val="B4483D"/>
                </a:solidFill>
                <a:latin typeface="Century Schoolbook"/>
              </a:rPr>
              <a:t>*</a:t>
            </a:r>
          </a:p>
        </p:txBody>
      </p:sp>
      <p:sp>
        <p:nvSpPr>
          <p:cNvPr id="17" name="TextBox 16"/>
          <p:cNvSpPr txBox="1"/>
          <p:nvPr/>
        </p:nvSpPr>
        <p:spPr>
          <a:xfrm>
            <a:off x="6812279" y="2889504"/>
            <a:ext cx="2011680" cy="365760"/>
          </a:xfrm>
          <a:prstGeom prst="rect">
            <a:avLst/>
          </a:prstGeom>
          <a:noFill/>
        </p:spPr>
        <p:txBody>
          <a:bodyPr wrap="square" lIns="0" rIns="0" tIns="0" bIns="0">
            <a:spAutoFit/>
          </a:bodyPr>
          <a:lstStyle/>
          <a:p>
            <a:pPr>
              <a:lnSpc>
                <a:spcPct val="95000"/>
              </a:lnSpc>
            </a:pPr>
            <a:r>
              <a:rPr sz="950" b="1" i="0">
                <a:solidFill>
                  <a:srgbClr val="15803D"/>
                </a:solidFill>
                <a:latin typeface="Century Schoolbook"/>
              </a:rPr>
              <a:t>37.3%</a:t>
            </a:r>
            <a:r>
              <a:rPr sz="650" b="0" i="0">
                <a:solidFill>
                  <a:srgbClr val="6D6C66"/>
                </a:solidFill>
                <a:latin typeface="Century Schoolbook"/>
              </a:rPr>
              <a:t>  of sites are in the South · Midwest 23.6% · West 20.6% · Northeast 18.5%</a:t>
            </a:r>
          </a:p>
        </p:txBody>
      </p:sp>
      <p:sp>
        <p:nvSpPr>
          <p:cNvPr id="18" name="Rectangle 17"/>
          <p:cNvSpPr/>
          <p:nvPr/>
        </p:nvSpPr>
        <p:spPr>
          <a:xfrm>
            <a:off x="320040" y="3291840"/>
            <a:ext cx="8503920" cy="11430"/>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20040" y="3364992"/>
            <a:ext cx="5486400" cy="237744"/>
          </a:xfrm>
          <a:prstGeom prst="rect">
            <a:avLst/>
          </a:prstGeom>
          <a:noFill/>
        </p:spPr>
        <p:txBody>
          <a:bodyPr wrap="square" lIns="0" rIns="0" tIns="0" bIns="0">
            <a:spAutoFit/>
          </a:bodyPr>
          <a:lstStyle/>
          <a:p>
            <a:r>
              <a:rPr sz="1100" b="0" i="0">
                <a:solidFill>
                  <a:srgbClr val="111827"/>
                </a:solidFill>
                <a:latin typeface="Century Schoolbook"/>
              </a:rPr>
              <a:t>The same four questions, now for medical AI</a:t>
            </a:r>
          </a:p>
        </p:txBody>
      </p:sp>
      <p:pic>
        <p:nvPicPr>
          <p:cNvPr id="20" name="Picture 19" descr="crop-ai-devices.png"/>
          <p:cNvPicPr>
            <a:picLocks noChangeAspect="1"/>
          </p:cNvPicPr>
          <p:nvPr/>
        </p:nvPicPr>
        <p:blipFill>
          <a:blip r:embed="rId6"/>
          <a:stretch>
            <a:fillRect/>
          </a:stretch>
        </p:blipFill>
        <p:spPr>
          <a:xfrm>
            <a:off x="320040" y="3657600"/>
            <a:ext cx="4160520" cy="795528"/>
          </a:xfrm>
          <a:prstGeom prst="rect">
            <a:avLst/>
          </a:prstGeom>
        </p:spPr>
      </p:pic>
      <p:sp>
        <p:nvSpPr>
          <p:cNvPr id="21" name="Rectangle 20"/>
          <p:cNvSpPr/>
          <p:nvPr/>
        </p:nvSpPr>
        <p:spPr>
          <a:xfrm>
            <a:off x="4754880" y="3639312"/>
            <a:ext cx="11430" cy="932688"/>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956048" y="3639312"/>
            <a:ext cx="3867912" cy="1005840"/>
          </a:xfrm>
          <a:prstGeom prst="rect">
            <a:avLst/>
          </a:prstGeom>
          <a:noFill/>
        </p:spPr>
        <p:txBody>
          <a:bodyPr wrap="square" lIns="0" rIns="0" tIns="0" bIns="0">
            <a:spAutoFit/>
          </a:bodyPr>
          <a:lstStyle/>
          <a:p>
            <a:pPr>
              <a:lnSpc>
                <a:spcPct val="95000"/>
              </a:lnSpc>
            </a:pPr>
            <a:r>
              <a:rPr sz="900" b="1" i="0">
                <a:solidFill>
                  <a:srgbClr val="B4483D"/>
                </a:solidFill>
                <a:latin typeface="Century Schoolbook"/>
              </a:rPr>
              <a:t>96.2% arrive by the 510(k) predicate route</a:t>
            </a:r>
            <a:r>
              <a:rPr sz="800" b="0" i="0">
                <a:solidFill>
                  <a:srgbClr val="111827"/>
                </a:solidFill>
                <a:latin typeface="Century Schoolbook"/>
              </a:rPr>
              <a:t> — substantial equivalence to a device already marketed, with no new clinical evidence required. Only 18 of 1,451 went through full PMA review.</a:t>
            </a:r>
          </a:p>
          <a:p>
            <a:pPr>
              <a:lnSpc>
                <a:spcPct val="95000"/>
              </a:lnSpc>
              <a:spcBef>
                <a:spcPts val="400"/>
              </a:spcBef>
            </a:pPr>
            <a:r>
              <a:rPr sz="900" b="1" i="0">
                <a:solidFill>
                  <a:srgbClr val="111827"/>
                </a:solidFill>
                <a:latin typeface="Century Schoolbook"/>
              </a:rPr>
              <a:t>The FDA publishes no demographics for these validation cohorts.</a:t>
            </a:r>
            <a:r>
              <a:rPr sz="800" b="0" i="0">
                <a:solidFill>
                  <a:srgbClr val="111827"/>
                </a:solidFill>
                <a:latin typeface="Century Schoolbook"/>
              </a:rPr>
              <a:t> So Claude reads each device’s public 510(k)/De Novo/PMA summary and its open-access manuscripts, quoting the evidence before committing a value.</a:t>
            </a:r>
          </a:p>
        </p:txBody>
      </p:sp>
      <p:sp>
        <p:nvSpPr>
          <p:cNvPr id="23" name="TextBox 22"/>
          <p:cNvSpPr txBox="1"/>
          <p:nvPr/>
        </p:nvSpPr>
        <p:spPr>
          <a:xfrm>
            <a:off x="320040" y="4681728"/>
            <a:ext cx="8503920" cy="128016"/>
          </a:xfrm>
          <a:prstGeom prst="rect">
            <a:avLst/>
          </a:prstGeom>
          <a:noFill/>
        </p:spPr>
        <p:txBody>
          <a:bodyPr wrap="square" lIns="0" rIns="0" tIns="0" bIns="0">
            <a:spAutoFit/>
          </a:bodyPr>
          <a:lstStyle/>
          <a:p>
            <a:r>
              <a:rPr sz="680" b="1" i="0">
                <a:solidFill>
                  <a:srgbClr val="B4483D"/>
                </a:solidFill>
                <a:latin typeface="Century Schoolbook"/>
              </a:rPr>
              <a:t>*</a:t>
            </a:r>
            <a:r>
              <a:rPr sz="680" b="0" i="0">
                <a:solidFill>
                  <a:srgbClr val="6D6C66"/>
                </a:solidFill>
                <a:latin typeface="Century Schoolbook"/>
              </a:rPr>
              <a:t> Sex and geography sit outside the race/ethnicity analyses already written up — protocol manuscripts covering their extraction are in preparation.</a:t>
            </a:r>
          </a:p>
        </p:txBody>
      </p:sp>
      <p:sp>
        <p:nvSpPr>
          <p:cNvPr id="24" name="TextBox 23"/>
          <p:cNvSpPr txBox="1"/>
          <p:nvPr/>
        </p:nvSpPr>
        <p:spPr>
          <a:xfrm>
            <a:off x="320040" y="4828032"/>
            <a:ext cx="8503920" cy="201168"/>
          </a:xfrm>
          <a:prstGeom prst="rect">
            <a:avLst/>
          </a:prstGeom>
          <a:noFill/>
        </p:spPr>
        <p:txBody>
          <a:bodyPr wrap="square" lIns="0" rIns="0" tIns="0" bIns="0">
            <a:spAutoFit/>
          </a:bodyPr>
          <a:lstStyle/>
          <a:p>
            <a:r>
              <a:rPr sz="680" b="0" i="0">
                <a:solidFill>
                  <a:srgbClr val="6D6C66"/>
                </a:solidFill>
                <a:latin typeface="Century Schoolbook"/>
              </a:rPr>
              <a:t>Dashboard: civicsample.com, all study types (79,297 trials) · slices under 3% are left unlabelled · geography shares are US Census regions · device figures from the FDA AI/ML-Enabled Device List</a:t>
            </a:r>
          </a:p>
        </p:txBody>
      </p:sp>
    </p:spTree>
    <p:extLst>
      <p:ext uri="{BB962C8B-B14F-4D97-AF65-F5344CB8AC3E}">
        <p14:creationId xmlns:p14="http://schemas.microsoft.com/office/powerpoint/2010/main" val="190968575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786CB25-48E6-F447-3C57-982E0E8C88B2}"/>
              </a:ext>
            </a:extLst>
          </p:cNvPr>
          <p:cNvSpPr txBox="1"/>
          <p:nvPr/>
        </p:nvSpPr>
        <p:spPr>
          <a:xfrm>
            <a:off x="320040" y="265176"/>
            <a:ext cx="8503920" cy="384048"/>
          </a:xfrm>
          <a:prstGeom prst="rect">
            <a:avLst/>
          </a:prstGeom>
          <a:noFill/>
        </p:spPr>
        <p:txBody>
          <a:bodyPr wrap="square" rtlCol="0" lIns="0" tIns="0">
            <a:spAutoFit/>
          </a:bodyPr>
          <a:lstStyle/>
          <a:p>
            <a:r>
              <a:rPr lang="en-US" dirty="0" sz="1800" b="1">
                <a:solidFill>
                  <a:srgbClr val="111827"/>
                </a:solidFill>
                <a:latin typeface="Century Schoolbook"/>
              </a:rPr>
              <a:t>What we did with tokens, and where feedback would be most useful</a:t>
            </a:r>
          </a:p>
        </p:txBody>
      </p:sp>
      <p:sp>
        <p:nvSpPr>
          <p:cNvPr id="3" name="TextBox 2"/>
          <p:cNvSpPr txBox="1"/>
          <p:nvPr/>
        </p:nvSpPr>
        <p:spPr>
          <a:xfrm>
            <a:off x="320040" y="630936"/>
            <a:ext cx="8503920" cy="256032"/>
          </a:xfrm>
          <a:prstGeom prst="rect">
            <a:avLst/>
          </a:prstGeom>
          <a:noFill/>
        </p:spPr>
        <p:txBody>
          <a:bodyPr wrap="square" lIns="0" rIns="0" tIns="0" bIns="0">
            <a:spAutoFit/>
          </a:bodyPr>
          <a:lstStyle/>
          <a:p>
            <a:r>
              <a:rPr sz="1050" b="1" i="1">
                <a:solidFill>
                  <a:srgbClr val="6D6C66"/>
                </a:solidFill>
                <a:latin typeface="Century Schoolbook"/>
              </a:rPr>
              <a:t>What it costs to pull one concept out of a regulatory PDF</a:t>
            </a:r>
            <a:r>
              <a:rPr sz="1050" b="0" i="1">
                <a:solidFill>
                  <a:srgbClr val="6D6C66"/>
                </a:solidFill>
                <a:latin typeface="Century Schoolbook"/>
              </a:rPr>
              <a:t> — and where feedback would help most.</a:t>
            </a:r>
          </a:p>
        </p:txBody>
      </p:sp>
      <p:sp>
        <p:nvSpPr>
          <p:cNvPr id="4" name="TextBox 3"/>
          <p:cNvSpPr txBox="1"/>
          <p:nvPr/>
        </p:nvSpPr>
        <p:spPr>
          <a:xfrm>
            <a:off x="320040" y="914400"/>
            <a:ext cx="4709160" cy="237744"/>
          </a:xfrm>
          <a:prstGeom prst="rect">
            <a:avLst/>
          </a:prstGeom>
          <a:noFill/>
        </p:spPr>
        <p:txBody>
          <a:bodyPr wrap="square" lIns="0" rIns="0" tIns="0" bIns="0">
            <a:spAutoFit/>
          </a:bodyPr>
          <a:lstStyle/>
          <a:p>
            <a:r>
              <a:rPr sz="1100" b="0" i="0">
                <a:solidFill>
                  <a:srgbClr val="111827"/>
                </a:solidFill>
                <a:latin typeface="Century Schoolbook"/>
              </a:rPr>
              <a:t>The extraction, end to end</a:t>
            </a:r>
          </a:p>
        </p:txBody>
      </p:sp>
      <p:sp>
        <p:nvSpPr>
          <p:cNvPr id="5" name="Rectangle 4"/>
          <p:cNvSpPr/>
          <p:nvPr/>
        </p:nvSpPr>
        <p:spPr>
          <a:xfrm>
            <a:off x="320040" y="1207008"/>
            <a:ext cx="4709160" cy="11430"/>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20040" y="1280160"/>
            <a:ext cx="4709160" cy="118872"/>
          </a:xfrm>
          <a:prstGeom prst="rect">
            <a:avLst/>
          </a:prstGeom>
          <a:noFill/>
        </p:spPr>
        <p:txBody>
          <a:bodyPr wrap="square" lIns="0" rIns="0" tIns="0" bIns="0">
            <a:spAutoFit/>
          </a:bodyPr>
          <a:lstStyle/>
          <a:p>
            <a:r>
              <a:rPr sz="700" b="1" i="0">
                <a:solidFill>
                  <a:srgbClr val="6D6C66"/>
                </a:solidFill>
                <a:latin typeface="Century Schoolbook"/>
              </a:rPr>
              <a:t>1 · THE REVIEW PROMPT</a:t>
            </a:r>
          </a:p>
        </p:txBody>
      </p:sp>
      <p:sp>
        <p:nvSpPr>
          <p:cNvPr id="7" name="Rectangle 6"/>
          <p:cNvSpPr/>
          <p:nvPr/>
        </p:nvSpPr>
        <p:spPr>
          <a:xfrm>
            <a:off x="320040" y="1408176"/>
            <a:ext cx="4709160" cy="932688"/>
          </a:xfrm>
          <a:prstGeom prst="rect">
            <a:avLst/>
          </a:prstGeom>
          <a:solidFill>
            <a:srgbClr val="FAF7F6"/>
          </a:solidFill>
          <a:ln w="9525">
            <a:solidFill>
              <a:srgbClr val="B4483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29768" y="1499616"/>
            <a:ext cx="4489704" cy="749808"/>
          </a:xfrm>
          <a:prstGeom prst="rect">
            <a:avLst/>
          </a:prstGeom>
          <a:noFill/>
        </p:spPr>
        <p:txBody>
          <a:bodyPr wrap="square" lIns="0" rIns="0" tIns="0" bIns="0">
            <a:spAutoFit/>
          </a:bodyPr>
          <a:lstStyle/>
          <a:p>
            <a:pPr>
              <a:lnSpc>
                <a:spcPct val="98000"/>
              </a:lnSpc>
            </a:pPr>
            <a:r>
              <a:rPr sz="750" b="1" i="0">
                <a:solidFill>
                  <a:srgbClr val="B4483D"/>
                </a:solidFill>
                <a:latin typeface="Century Schoolbook"/>
              </a:rPr>
              <a:t>PLACEHOLDER — Maryam</a:t>
            </a:r>
          </a:p>
          <a:p>
            <a:pPr>
              <a:lnSpc>
                <a:spcPct val="98000"/>
              </a:lnSpc>
              <a:spcBef>
                <a:spcPts val="300"/>
              </a:spcBef>
            </a:pPr>
            <a:r>
              <a:rPr sz="750" b="0" i="0">
                <a:solidFill>
                  <a:srgbClr val="6D6C66"/>
                </a:solidFill>
                <a:latin typeface="Century Schoolbook"/>
              </a:rPr>
              <a:t>Paste the review prompt here: the system prompt that tells Claude to quote its evidence before committing a value, plus whatever review criteria you want to show the room.</a:t>
            </a:r>
          </a:p>
        </p:txBody>
      </p:sp>
      <p:sp>
        <p:nvSpPr>
          <p:cNvPr id="9" name="TextBox 8"/>
          <p:cNvSpPr txBox="1"/>
          <p:nvPr/>
        </p:nvSpPr>
        <p:spPr>
          <a:xfrm>
            <a:off x="320040" y="2414016"/>
            <a:ext cx="4709160" cy="118872"/>
          </a:xfrm>
          <a:prstGeom prst="rect">
            <a:avLst/>
          </a:prstGeom>
          <a:noFill/>
        </p:spPr>
        <p:txBody>
          <a:bodyPr wrap="square" lIns="0" rIns="0" tIns="0" bIns="0">
            <a:spAutoFit/>
          </a:bodyPr>
          <a:lstStyle/>
          <a:p>
            <a:r>
              <a:rPr sz="700" b="1" i="0">
                <a:solidFill>
                  <a:srgbClr val="6D6C66"/>
                </a:solidFill>
                <a:latin typeface="Century Schoolbook"/>
              </a:rPr>
              <a:t>2 · WHAT COMES BACK</a:t>
            </a:r>
          </a:p>
        </p:txBody>
      </p:sp>
      <p:sp>
        <p:nvSpPr>
          <p:cNvPr id="10" name="Rectangle 9"/>
          <p:cNvSpPr/>
          <p:nvPr/>
        </p:nvSpPr>
        <p:spPr>
          <a:xfrm>
            <a:off x="320040" y="2542032"/>
            <a:ext cx="4709160" cy="640080"/>
          </a:xfrm>
          <a:prstGeom prst="rect">
            <a:avLst/>
          </a:prstGeom>
          <a:solidFill>
            <a:srgbClr val="F6F7F5"/>
          </a:solidFill>
          <a:ln w="9525">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29768" y="2606040"/>
            <a:ext cx="4489704" cy="548640"/>
          </a:xfrm>
          <a:prstGeom prst="rect">
            <a:avLst/>
          </a:prstGeom>
          <a:noFill/>
        </p:spPr>
        <p:txBody>
          <a:bodyPr wrap="square" lIns="0" rIns="0" tIns="0" bIns="0">
            <a:spAutoFit/>
          </a:bodyPr>
          <a:lstStyle/>
          <a:p>
            <a:pPr>
              <a:lnSpc>
                <a:spcPct val="98000"/>
              </a:lnSpc>
            </a:pPr>
            <a:r>
              <a:rPr sz="700" b="1" i="0">
                <a:solidFill>
                  <a:srgbClr val="111827"/>
                </a:solidFill>
                <a:latin typeface="Century Schoolbook"/>
              </a:rPr>
              <a:t>DEN140025 · BrainScope Ahead 100 · 6-page De Novo summary</a:t>
            </a:r>
          </a:p>
          <a:p>
            <a:pPr>
              <a:lnSpc>
                <a:spcPct val="98000"/>
              </a:lnSpc>
              <a:spcBef>
                <a:spcPts val="200"/>
              </a:spcBef>
            </a:pPr>
            <a:r>
              <a:rPr sz="680" b="0" i="0">
                <a:solidFill>
                  <a:srgbClr val="6D6C66"/>
                </a:solidFill>
                <a:latin typeface="Century Schoolbook"/>
              </a:rPr>
              <a:t>device_name  </a:t>
            </a:r>
            <a:r>
              <a:rPr sz="680" b="0" i="0">
                <a:solidFill>
                  <a:srgbClr val="111827"/>
                </a:solidFill>
                <a:latin typeface="Century Schoolbook"/>
              </a:rPr>
              <a:t>“BrainScope Ahead 100 (Ahead® M-100 and CV-100)”</a:t>
            </a:r>
            <a:r>
              <a:rPr sz="680" b="0" i="0">
                <a:solidFill>
                  <a:srgbClr val="6D6C66"/>
                </a:solidFill>
                <a:latin typeface="Century Schoolbook"/>
              </a:rPr>
              <a:t>  p.1</a:t>
            </a:r>
          </a:p>
          <a:p>
            <a:pPr>
              <a:lnSpc>
                <a:spcPct val="98000"/>
              </a:lnSpc>
              <a:spcBef>
                <a:spcPts val="200"/>
              </a:spcBef>
            </a:pPr>
            <a:r>
              <a:rPr sz="680" b="0" i="0">
                <a:solidFill>
                  <a:srgbClr val="6D6C66"/>
                </a:solidFill>
                <a:latin typeface="Century Schoolbook"/>
              </a:rPr>
              <a:t>age_range    </a:t>
            </a:r>
            <a:r>
              <a:rPr sz="680" b="0" i="0">
                <a:solidFill>
                  <a:srgbClr val="111827"/>
                </a:solidFill>
                <a:latin typeface="Century Schoolbook"/>
              </a:rPr>
              <a:t>“18–80 years”</a:t>
            </a:r>
            <a:r>
              <a:rPr sz="680" b="0" i="0">
                <a:solidFill>
                  <a:srgbClr val="6D6C66"/>
                </a:solidFill>
                <a:latin typeface="Century Schoolbook"/>
              </a:rPr>
              <a:t>  ← quoted from “…are between the ages of 18-80 years.”  p.1</a:t>
            </a:r>
          </a:p>
          <a:p>
            <a:pPr>
              <a:lnSpc>
                <a:spcPct val="98000"/>
              </a:lnSpc>
              <a:spcBef>
                <a:spcPts val="200"/>
              </a:spcBef>
            </a:pPr>
            <a:r>
              <a:rPr sz="680" b="0" i="0">
                <a:solidFill>
                  <a:srgbClr val="6D6C66"/>
                </a:solidFill>
                <a:latin typeface="Century Schoolbook"/>
              </a:rPr>
              <a:t>sex · race · ethnicity  </a:t>
            </a:r>
            <a:r>
              <a:rPr sz="680" b="1" i="0">
                <a:solidFill>
                  <a:srgbClr val="B4483D"/>
                </a:solidFill>
                <a:latin typeface="Century Schoolbook"/>
              </a:rPr>
              <a:t>not reported anywhere in the document</a:t>
            </a:r>
          </a:p>
        </p:txBody>
      </p:sp>
      <p:sp>
        <p:nvSpPr>
          <p:cNvPr id="12" name="Rectangle 11"/>
          <p:cNvSpPr/>
          <p:nvPr/>
        </p:nvSpPr>
        <p:spPr>
          <a:xfrm>
            <a:off x="5138928" y="1280160"/>
            <a:ext cx="11430" cy="190195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3520" y="914400"/>
            <a:ext cx="3520440" cy="237744"/>
          </a:xfrm>
          <a:prstGeom prst="rect">
            <a:avLst/>
          </a:prstGeom>
          <a:noFill/>
        </p:spPr>
        <p:txBody>
          <a:bodyPr wrap="square" lIns="0" rIns="0" tIns="0" bIns="0">
            <a:spAutoFit/>
          </a:bodyPr>
          <a:lstStyle/>
          <a:p>
            <a:r>
              <a:rPr sz="1100" b="0" i="0">
                <a:solidFill>
                  <a:srgbClr val="111827"/>
                </a:solidFill>
                <a:latin typeface="Century Schoolbook"/>
              </a:rPr>
              <a:t>What a concept costs to extract</a:t>
            </a:r>
          </a:p>
        </p:txBody>
      </p:sp>
      <p:sp>
        <p:nvSpPr>
          <p:cNvPr id="14" name="Rectangle 13"/>
          <p:cNvSpPr/>
          <p:nvPr/>
        </p:nvSpPr>
        <p:spPr>
          <a:xfrm>
            <a:off x="5303520" y="1207008"/>
            <a:ext cx="3520440" cy="11430"/>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03520" y="1298448"/>
            <a:ext cx="1737360" cy="118872"/>
          </a:xfrm>
          <a:prstGeom prst="rect">
            <a:avLst/>
          </a:prstGeom>
          <a:noFill/>
        </p:spPr>
        <p:txBody>
          <a:bodyPr wrap="square" lIns="0" rIns="0" tIns="0" bIns="0">
            <a:spAutoFit/>
          </a:bodyPr>
          <a:lstStyle/>
          <a:p>
            <a:pPr algn="l"/>
            <a:r>
              <a:rPr sz="600" b="1" i="0">
                <a:solidFill>
                  <a:srgbClr val="6D6C66"/>
                </a:solidFill>
                <a:latin typeface="Century Schoolbook"/>
              </a:rPr>
              <a:t>CONCEPT GROUP</a:t>
            </a:r>
          </a:p>
        </p:txBody>
      </p:sp>
      <p:sp>
        <p:nvSpPr>
          <p:cNvPr id="16" name="TextBox 15"/>
          <p:cNvSpPr txBox="1"/>
          <p:nvPr/>
        </p:nvSpPr>
        <p:spPr>
          <a:xfrm>
            <a:off x="7059168" y="1298448"/>
            <a:ext cx="548640" cy="118872"/>
          </a:xfrm>
          <a:prstGeom prst="rect">
            <a:avLst/>
          </a:prstGeom>
          <a:noFill/>
        </p:spPr>
        <p:txBody>
          <a:bodyPr wrap="square" lIns="0" rIns="0" tIns="0" bIns="0">
            <a:spAutoFit/>
          </a:bodyPr>
          <a:lstStyle/>
          <a:p>
            <a:pPr algn="r"/>
            <a:r>
              <a:rPr sz="600" b="1" i="0">
                <a:solidFill>
                  <a:srgbClr val="6D6C66"/>
                </a:solidFill>
                <a:latin typeface="Century Schoolbook"/>
              </a:rPr>
              <a:t>HAIKU</a:t>
            </a:r>
          </a:p>
        </p:txBody>
      </p:sp>
      <p:sp>
        <p:nvSpPr>
          <p:cNvPr id="17" name="TextBox 16"/>
          <p:cNvSpPr txBox="1"/>
          <p:nvPr/>
        </p:nvSpPr>
        <p:spPr>
          <a:xfrm>
            <a:off x="7644383" y="1298448"/>
            <a:ext cx="548640" cy="118872"/>
          </a:xfrm>
          <a:prstGeom prst="rect">
            <a:avLst/>
          </a:prstGeom>
          <a:noFill/>
        </p:spPr>
        <p:txBody>
          <a:bodyPr wrap="square" lIns="0" rIns="0" tIns="0" bIns="0">
            <a:spAutoFit/>
          </a:bodyPr>
          <a:lstStyle/>
          <a:p>
            <a:pPr algn="r"/>
            <a:r>
              <a:rPr sz="600" b="1" i="0">
                <a:solidFill>
                  <a:srgbClr val="6D6C66"/>
                </a:solidFill>
                <a:latin typeface="Century Schoolbook"/>
              </a:rPr>
              <a:t>SONNET</a:t>
            </a:r>
          </a:p>
        </p:txBody>
      </p:sp>
      <p:sp>
        <p:nvSpPr>
          <p:cNvPr id="18" name="TextBox 17"/>
          <p:cNvSpPr txBox="1"/>
          <p:nvPr/>
        </p:nvSpPr>
        <p:spPr>
          <a:xfrm>
            <a:off x="8247888" y="1298448"/>
            <a:ext cx="576072" cy="118872"/>
          </a:xfrm>
          <a:prstGeom prst="rect">
            <a:avLst/>
          </a:prstGeom>
          <a:noFill/>
        </p:spPr>
        <p:txBody>
          <a:bodyPr wrap="square" lIns="0" rIns="0" tIns="0" bIns="0">
            <a:spAutoFit/>
          </a:bodyPr>
          <a:lstStyle/>
          <a:p>
            <a:pPr algn="r"/>
            <a:r>
              <a:rPr sz="600" b="1" i="0">
                <a:solidFill>
                  <a:srgbClr val="6D6C66"/>
                </a:solidFill>
                <a:latin typeface="Century Schoolbook"/>
              </a:rPr>
              <a:t>OPUS</a:t>
            </a:r>
          </a:p>
        </p:txBody>
      </p:sp>
      <p:sp>
        <p:nvSpPr>
          <p:cNvPr id="19" name="Rectangle 18"/>
          <p:cNvSpPr/>
          <p:nvPr/>
        </p:nvSpPr>
        <p:spPr>
          <a:xfrm>
            <a:off x="5303520" y="1435608"/>
            <a:ext cx="3520440" cy="11430"/>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3520" y="1490472"/>
            <a:ext cx="1737360" cy="118872"/>
          </a:xfrm>
          <a:prstGeom prst="rect">
            <a:avLst/>
          </a:prstGeom>
          <a:noFill/>
        </p:spPr>
        <p:txBody>
          <a:bodyPr wrap="square" lIns="0" rIns="0" tIns="0" bIns="0">
            <a:spAutoFit/>
          </a:bodyPr>
          <a:lstStyle/>
          <a:p>
            <a:r>
              <a:rPr sz="680" b="0" i="0">
                <a:solidFill>
                  <a:srgbClr val="111827"/>
                </a:solidFill>
                <a:latin typeface="Century Schoolbook"/>
              </a:rPr>
              <a:t>Current FDA schema — 20 fields</a:t>
            </a:r>
          </a:p>
        </p:txBody>
      </p:sp>
      <p:sp>
        <p:nvSpPr>
          <p:cNvPr id="21" name="TextBox 20"/>
          <p:cNvSpPr txBox="1"/>
          <p:nvPr/>
        </p:nvSpPr>
        <p:spPr>
          <a:xfrm>
            <a:off x="7059168" y="1490472"/>
            <a:ext cx="548640" cy="118872"/>
          </a:xfrm>
          <a:prstGeom prst="rect">
            <a:avLst/>
          </a:prstGeom>
          <a:noFill/>
        </p:spPr>
        <p:txBody>
          <a:bodyPr wrap="square" lIns="0" rIns="0" tIns="0" bIns="0">
            <a:spAutoFit/>
          </a:bodyPr>
          <a:lstStyle/>
          <a:p>
            <a:pPr algn="r"/>
            <a:r>
              <a:rPr sz="680" b="1" i="0">
                <a:solidFill>
                  <a:srgbClr val="111827"/>
                </a:solidFill>
                <a:latin typeface="Century Schoolbook"/>
              </a:rPr>
              <a:t>$23.95</a:t>
            </a:r>
          </a:p>
        </p:txBody>
      </p:sp>
      <p:sp>
        <p:nvSpPr>
          <p:cNvPr id="22" name="TextBox 21"/>
          <p:cNvSpPr txBox="1"/>
          <p:nvPr/>
        </p:nvSpPr>
        <p:spPr>
          <a:xfrm>
            <a:off x="7644383" y="1490472"/>
            <a:ext cx="548640" cy="118872"/>
          </a:xfrm>
          <a:prstGeom prst="rect">
            <a:avLst/>
          </a:prstGeom>
          <a:noFill/>
        </p:spPr>
        <p:txBody>
          <a:bodyPr wrap="square" lIns="0" rIns="0" tIns="0" bIns="0">
            <a:spAutoFit/>
          </a:bodyPr>
          <a:lstStyle/>
          <a:p>
            <a:pPr algn="r"/>
            <a:r>
              <a:rPr sz="680" b="1" i="0">
                <a:solidFill>
                  <a:srgbClr val="111827"/>
                </a:solidFill>
                <a:latin typeface="Century Schoolbook"/>
              </a:rPr>
              <a:t>$62.99</a:t>
            </a:r>
          </a:p>
        </p:txBody>
      </p:sp>
      <p:sp>
        <p:nvSpPr>
          <p:cNvPr id="23" name="TextBox 22"/>
          <p:cNvSpPr txBox="1"/>
          <p:nvPr/>
        </p:nvSpPr>
        <p:spPr>
          <a:xfrm>
            <a:off x="8247888" y="1490472"/>
            <a:ext cx="576072" cy="118872"/>
          </a:xfrm>
          <a:prstGeom prst="rect">
            <a:avLst/>
          </a:prstGeom>
          <a:noFill/>
        </p:spPr>
        <p:txBody>
          <a:bodyPr wrap="square" lIns="0" rIns="0" tIns="0" bIns="0">
            <a:spAutoFit/>
          </a:bodyPr>
          <a:lstStyle/>
          <a:p>
            <a:pPr algn="r"/>
            <a:r>
              <a:rPr sz="680" b="1" i="0">
                <a:solidFill>
                  <a:srgbClr val="111827"/>
                </a:solidFill>
                <a:latin typeface="Century Schoolbook"/>
              </a:rPr>
              <a:t>$141.70</a:t>
            </a:r>
          </a:p>
        </p:txBody>
      </p:sp>
      <p:sp>
        <p:nvSpPr>
          <p:cNvPr id="24" name="TextBox 23"/>
          <p:cNvSpPr txBox="1"/>
          <p:nvPr/>
        </p:nvSpPr>
        <p:spPr>
          <a:xfrm>
            <a:off x="5303520" y="1641348"/>
            <a:ext cx="1737360" cy="118872"/>
          </a:xfrm>
          <a:prstGeom prst="rect">
            <a:avLst/>
          </a:prstGeom>
          <a:noFill/>
        </p:spPr>
        <p:txBody>
          <a:bodyPr wrap="square" lIns="0" rIns="0" tIns="0" bIns="0">
            <a:spAutoFit/>
          </a:bodyPr>
          <a:lstStyle/>
          <a:p>
            <a:r>
              <a:rPr sz="680" b="0" i="1">
                <a:solidFill>
                  <a:srgbClr val="B4483D"/>
                </a:solidFill>
                <a:latin typeface="Century Schoolbook"/>
              </a:rPr>
              <a:t>[ Maryam — concept group ]</a:t>
            </a:r>
          </a:p>
        </p:txBody>
      </p:sp>
      <p:sp>
        <p:nvSpPr>
          <p:cNvPr id="25" name="TextBox 24"/>
          <p:cNvSpPr txBox="1"/>
          <p:nvPr/>
        </p:nvSpPr>
        <p:spPr>
          <a:xfrm>
            <a:off x="7059168" y="1641348"/>
            <a:ext cx="548640" cy="118872"/>
          </a:xfrm>
          <a:prstGeom prst="rect">
            <a:avLst/>
          </a:prstGeom>
          <a:noFill/>
        </p:spPr>
        <p:txBody>
          <a:bodyPr wrap="square" lIns="0" rIns="0" tIns="0" bIns="0">
            <a:spAutoFit/>
          </a:bodyPr>
          <a:lstStyle/>
          <a:p>
            <a:pPr algn="r"/>
            <a:r>
              <a:rPr sz="680" b="0" i="0">
                <a:solidFill>
                  <a:srgbClr val="D9D8D3"/>
                </a:solidFill>
                <a:latin typeface="Century Schoolbook"/>
              </a:rPr>
              <a:t>—</a:t>
            </a:r>
          </a:p>
        </p:txBody>
      </p:sp>
      <p:sp>
        <p:nvSpPr>
          <p:cNvPr id="26" name="TextBox 25"/>
          <p:cNvSpPr txBox="1"/>
          <p:nvPr/>
        </p:nvSpPr>
        <p:spPr>
          <a:xfrm>
            <a:off x="7644383" y="1641348"/>
            <a:ext cx="548640" cy="118872"/>
          </a:xfrm>
          <a:prstGeom prst="rect">
            <a:avLst/>
          </a:prstGeom>
          <a:noFill/>
        </p:spPr>
        <p:txBody>
          <a:bodyPr wrap="square" lIns="0" rIns="0" tIns="0" bIns="0">
            <a:spAutoFit/>
          </a:bodyPr>
          <a:lstStyle/>
          <a:p>
            <a:pPr algn="r"/>
            <a:r>
              <a:rPr sz="680" b="0" i="0">
                <a:solidFill>
                  <a:srgbClr val="D9D8D3"/>
                </a:solidFill>
                <a:latin typeface="Century Schoolbook"/>
              </a:rPr>
              <a:t>—</a:t>
            </a:r>
          </a:p>
        </p:txBody>
      </p:sp>
      <p:sp>
        <p:nvSpPr>
          <p:cNvPr id="27" name="TextBox 26"/>
          <p:cNvSpPr txBox="1"/>
          <p:nvPr/>
        </p:nvSpPr>
        <p:spPr>
          <a:xfrm>
            <a:off x="8247888" y="1641348"/>
            <a:ext cx="576072" cy="118872"/>
          </a:xfrm>
          <a:prstGeom prst="rect">
            <a:avLst/>
          </a:prstGeom>
          <a:noFill/>
        </p:spPr>
        <p:txBody>
          <a:bodyPr wrap="square" lIns="0" rIns="0" tIns="0" bIns="0">
            <a:spAutoFit/>
          </a:bodyPr>
          <a:lstStyle/>
          <a:p>
            <a:pPr algn="r"/>
            <a:r>
              <a:rPr sz="680" b="0" i="0">
                <a:solidFill>
                  <a:srgbClr val="D9D8D3"/>
                </a:solidFill>
                <a:latin typeface="Century Schoolbook"/>
              </a:rPr>
              <a:t>—</a:t>
            </a:r>
          </a:p>
        </p:txBody>
      </p:sp>
      <p:sp>
        <p:nvSpPr>
          <p:cNvPr id="28" name="TextBox 27"/>
          <p:cNvSpPr txBox="1"/>
          <p:nvPr/>
        </p:nvSpPr>
        <p:spPr>
          <a:xfrm>
            <a:off x="5303520" y="1792224"/>
            <a:ext cx="1737360" cy="118872"/>
          </a:xfrm>
          <a:prstGeom prst="rect">
            <a:avLst/>
          </a:prstGeom>
          <a:noFill/>
        </p:spPr>
        <p:txBody>
          <a:bodyPr wrap="square" lIns="0" rIns="0" tIns="0" bIns="0">
            <a:spAutoFit/>
          </a:bodyPr>
          <a:lstStyle/>
          <a:p>
            <a:r>
              <a:rPr sz="680" b="0" i="1">
                <a:solidFill>
                  <a:srgbClr val="B4483D"/>
                </a:solidFill>
                <a:latin typeface="Century Schoolbook"/>
              </a:rPr>
              <a:t>[ Maryam — concept group ]</a:t>
            </a:r>
          </a:p>
        </p:txBody>
      </p:sp>
      <p:sp>
        <p:nvSpPr>
          <p:cNvPr id="29" name="TextBox 28"/>
          <p:cNvSpPr txBox="1"/>
          <p:nvPr/>
        </p:nvSpPr>
        <p:spPr>
          <a:xfrm>
            <a:off x="7059168" y="1792224"/>
            <a:ext cx="548640" cy="118872"/>
          </a:xfrm>
          <a:prstGeom prst="rect">
            <a:avLst/>
          </a:prstGeom>
          <a:noFill/>
        </p:spPr>
        <p:txBody>
          <a:bodyPr wrap="square" lIns="0" rIns="0" tIns="0" bIns="0">
            <a:spAutoFit/>
          </a:bodyPr>
          <a:lstStyle/>
          <a:p>
            <a:pPr algn="r"/>
            <a:r>
              <a:rPr sz="680" b="0" i="0">
                <a:solidFill>
                  <a:srgbClr val="D9D8D3"/>
                </a:solidFill>
                <a:latin typeface="Century Schoolbook"/>
              </a:rPr>
              <a:t>—</a:t>
            </a:r>
          </a:p>
        </p:txBody>
      </p:sp>
      <p:sp>
        <p:nvSpPr>
          <p:cNvPr id="30" name="TextBox 29"/>
          <p:cNvSpPr txBox="1"/>
          <p:nvPr/>
        </p:nvSpPr>
        <p:spPr>
          <a:xfrm>
            <a:off x="7644383" y="1792224"/>
            <a:ext cx="548640" cy="118872"/>
          </a:xfrm>
          <a:prstGeom prst="rect">
            <a:avLst/>
          </a:prstGeom>
          <a:noFill/>
        </p:spPr>
        <p:txBody>
          <a:bodyPr wrap="square" lIns="0" rIns="0" tIns="0" bIns="0">
            <a:spAutoFit/>
          </a:bodyPr>
          <a:lstStyle/>
          <a:p>
            <a:pPr algn="r"/>
            <a:r>
              <a:rPr sz="680" b="0" i="0">
                <a:solidFill>
                  <a:srgbClr val="D9D8D3"/>
                </a:solidFill>
                <a:latin typeface="Century Schoolbook"/>
              </a:rPr>
              <a:t>—</a:t>
            </a:r>
          </a:p>
        </p:txBody>
      </p:sp>
      <p:sp>
        <p:nvSpPr>
          <p:cNvPr id="31" name="TextBox 30"/>
          <p:cNvSpPr txBox="1"/>
          <p:nvPr/>
        </p:nvSpPr>
        <p:spPr>
          <a:xfrm>
            <a:off x="8247888" y="1792224"/>
            <a:ext cx="576072" cy="118872"/>
          </a:xfrm>
          <a:prstGeom prst="rect">
            <a:avLst/>
          </a:prstGeom>
          <a:noFill/>
        </p:spPr>
        <p:txBody>
          <a:bodyPr wrap="square" lIns="0" rIns="0" tIns="0" bIns="0">
            <a:spAutoFit/>
          </a:bodyPr>
          <a:lstStyle/>
          <a:p>
            <a:pPr algn="r"/>
            <a:r>
              <a:rPr sz="680" b="0" i="0">
                <a:solidFill>
                  <a:srgbClr val="D9D8D3"/>
                </a:solidFill>
                <a:latin typeface="Century Schoolbook"/>
              </a:rPr>
              <a:t>—</a:t>
            </a:r>
          </a:p>
        </p:txBody>
      </p:sp>
      <p:sp>
        <p:nvSpPr>
          <p:cNvPr id="32" name="TextBox 31"/>
          <p:cNvSpPr txBox="1"/>
          <p:nvPr/>
        </p:nvSpPr>
        <p:spPr>
          <a:xfrm>
            <a:off x="5303520" y="1943100"/>
            <a:ext cx="1737360" cy="118872"/>
          </a:xfrm>
          <a:prstGeom prst="rect">
            <a:avLst/>
          </a:prstGeom>
          <a:noFill/>
        </p:spPr>
        <p:txBody>
          <a:bodyPr wrap="square" lIns="0" rIns="0" tIns="0" bIns="0">
            <a:spAutoFit/>
          </a:bodyPr>
          <a:lstStyle/>
          <a:p>
            <a:r>
              <a:rPr sz="680" b="0" i="1">
                <a:solidFill>
                  <a:srgbClr val="B4483D"/>
                </a:solidFill>
                <a:latin typeface="Century Schoolbook"/>
              </a:rPr>
              <a:t>[ Maryam — concept group ]</a:t>
            </a:r>
          </a:p>
        </p:txBody>
      </p:sp>
      <p:sp>
        <p:nvSpPr>
          <p:cNvPr id="33" name="TextBox 32"/>
          <p:cNvSpPr txBox="1"/>
          <p:nvPr/>
        </p:nvSpPr>
        <p:spPr>
          <a:xfrm>
            <a:off x="7059168" y="1943100"/>
            <a:ext cx="548640" cy="118872"/>
          </a:xfrm>
          <a:prstGeom prst="rect">
            <a:avLst/>
          </a:prstGeom>
          <a:noFill/>
        </p:spPr>
        <p:txBody>
          <a:bodyPr wrap="square" lIns="0" rIns="0" tIns="0" bIns="0">
            <a:spAutoFit/>
          </a:bodyPr>
          <a:lstStyle/>
          <a:p>
            <a:pPr algn="r"/>
            <a:r>
              <a:rPr sz="680" b="0" i="0">
                <a:solidFill>
                  <a:srgbClr val="D9D8D3"/>
                </a:solidFill>
                <a:latin typeface="Century Schoolbook"/>
              </a:rPr>
              <a:t>—</a:t>
            </a:r>
          </a:p>
        </p:txBody>
      </p:sp>
      <p:sp>
        <p:nvSpPr>
          <p:cNvPr id="34" name="TextBox 33"/>
          <p:cNvSpPr txBox="1"/>
          <p:nvPr/>
        </p:nvSpPr>
        <p:spPr>
          <a:xfrm>
            <a:off x="7644383" y="1943100"/>
            <a:ext cx="548640" cy="118872"/>
          </a:xfrm>
          <a:prstGeom prst="rect">
            <a:avLst/>
          </a:prstGeom>
          <a:noFill/>
        </p:spPr>
        <p:txBody>
          <a:bodyPr wrap="square" lIns="0" rIns="0" tIns="0" bIns="0">
            <a:spAutoFit/>
          </a:bodyPr>
          <a:lstStyle/>
          <a:p>
            <a:pPr algn="r"/>
            <a:r>
              <a:rPr sz="680" b="0" i="0">
                <a:solidFill>
                  <a:srgbClr val="D9D8D3"/>
                </a:solidFill>
                <a:latin typeface="Century Schoolbook"/>
              </a:rPr>
              <a:t>—</a:t>
            </a:r>
          </a:p>
        </p:txBody>
      </p:sp>
      <p:sp>
        <p:nvSpPr>
          <p:cNvPr id="35" name="TextBox 34"/>
          <p:cNvSpPr txBox="1"/>
          <p:nvPr/>
        </p:nvSpPr>
        <p:spPr>
          <a:xfrm>
            <a:off x="8247888" y="1943100"/>
            <a:ext cx="576072" cy="118872"/>
          </a:xfrm>
          <a:prstGeom prst="rect">
            <a:avLst/>
          </a:prstGeom>
          <a:noFill/>
        </p:spPr>
        <p:txBody>
          <a:bodyPr wrap="square" lIns="0" rIns="0" tIns="0" bIns="0">
            <a:spAutoFit/>
          </a:bodyPr>
          <a:lstStyle/>
          <a:p>
            <a:pPr algn="r"/>
            <a:r>
              <a:rPr sz="680" b="0" i="0">
                <a:solidFill>
                  <a:srgbClr val="D9D8D3"/>
                </a:solidFill>
                <a:latin typeface="Century Schoolbook"/>
              </a:rPr>
              <a:t>—</a:t>
            </a:r>
          </a:p>
        </p:txBody>
      </p:sp>
      <p:sp>
        <p:nvSpPr>
          <p:cNvPr id="36" name="Rectangle 35"/>
          <p:cNvSpPr/>
          <p:nvPr/>
        </p:nvSpPr>
        <p:spPr>
          <a:xfrm>
            <a:off x="5303520" y="2112264"/>
            <a:ext cx="3520440" cy="11430"/>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303520" y="2185416"/>
            <a:ext cx="3520440" cy="274320"/>
          </a:xfrm>
          <a:prstGeom prst="rect">
            <a:avLst/>
          </a:prstGeom>
          <a:noFill/>
        </p:spPr>
        <p:txBody>
          <a:bodyPr wrap="square" lIns="0" rIns="0" tIns="0" bIns="0">
            <a:spAutoFit/>
          </a:bodyPr>
          <a:lstStyle/>
          <a:p>
            <a:pPr>
              <a:lnSpc>
                <a:spcPct val="98000"/>
              </a:lnSpc>
            </a:pPr>
            <a:r>
              <a:rPr sz="650" b="0" i="0">
                <a:solidFill>
                  <a:srgbClr val="6D6C66"/>
                </a:solidFill>
                <a:latin typeface="Century Schoolbook"/>
              </a:rPr>
              <a:t>Cost per 1,000 documents at current list rates. </a:t>
            </a:r>
            <a:r>
              <a:rPr sz="650" b="1" i="0">
                <a:solidFill>
                  <a:srgbClr val="111827"/>
                </a:solidFill>
                <a:latin typeface="Century Schoolbook"/>
              </a:rPr>
              <a:t>Amortized over the 20 fields the schema returns, that is $0.0012 per field on Haiku and $0.0071 on Opus.</a:t>
            </a:r>
          </a:p>
        </p:txBody>
      </p:sp>
      <p:sp>
        <p:nvSpPr>
          <p:cNvPr id="38" name="Rectangle 37"/>
          <p:cNvSpPr/>
          <p:nvPr/>
        </p:nvSpPr>
        <p:spPr>
          <a:xfrm>
            <a:off x="5303520" y="2615184"/>
            <a:ext cx="3520440" cy="566928"/>
          </a:xfrm>
          <a:prstGeom prst="rect">
            <a:avLst/>
          </a:prstGeom>
          <a:solidFill>
            <a:srgbClr val="FAF7F6"/>
          </a:solidFill>
          <a:ln w="9525">
            <a:solidFill>
              <a:srgbClr val="B4483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413248" y="2706624"/>
            <a:ext cx="3300984" cy="384048"/>
          </a:xfrm>
          <a:prstGeom prst="rect">
            <a:avLst/>
          </a:prstGeom>
          <a:noFill/>
        </p:spPr>
        <p:txBody>
          <a:bodyPr wrap="square" lIns="0" rIns="0" tIns="0" bIns="0">
            <a:spAutoFit/>
          </a:bodyPr>
          <a:lstStyle/>
          <a:p>
            <a:pPr>
              <a:lnSpc>
                <a:spcPct val="98000"/>
              </a:lnSpc>
            </a:pPr>
            <a:r>
              <a:rPr sz="750" b="1" i="0">
                <a:solidFill>
                  <a:srgbClr val="B4483D"/>
                </a:solidFill>
                <a:latin typeface="Century Schoolbook"/>
              </a:rPr>
              <a:t>PLACEHOLDER — efficiency</a:t>
            </a:r>
          </a:p>
          <a:p>
            <a:pPr>
              <a:lnSpc>
                <a:spcPct val="98000"/>
              </a:lnSpc>
              <a:spcBef>
                <a:spcPts val="300"/>
              </a:spcBef>
            </a:pPr>
            <a:r>
              <a:rPr sz="750" b="0" i="0">
                <a:solidFill>
                  <a:srgbClr val="6D6C66"/>
                </a:solidFill>
                <a:latin typeface="Century Schoolbook"/>
              </a:rPr>
              <a:t>Manual review takes ____ per document; the pipeline takes ____. Add the human-hours baseline you want to compare against.</a:t>
            </a:r>
          </a:p>
        </p:txBody>
      </p:sp>
      <p:sp>
        <p:nvSpPr>
          <p:cNvPr id="40" name="Rectangle 39"/>
          <p:cNvSpPr/>
          <p:nvPr/>
        </p:nvSpPr>
        <p:spPr>
          <a:xfrm>
            <a:off x="320040" y="3291840"/>
            <a:ext cx="8503920" cy="11430"/>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0040" y="3364992"/>
            <a:ext cx="6858000" cy="237744"/>
          </a:xfrm>
          <a:prstGeom prst="rect">
            <a:avLst/>
          </a:prstGeom>
          <a:noFill/>
        </p:spPr>
        <p:txBody>
          <a:bodyPr wrap="square" lIns="0" rIns="0" tIns="0" bIns="0">
            <a:spAutoFit/>
          </a:bodyPr>
          <a:lstStyle/>
          <a:p>
            <a:r>
              <a:rPr sz="1100" b="0" i="0">
                <a:solidFill>
                  <a:srgbClr val="111827"/>
                </a:solidFill>
                <a:latin typeface="Century Schoolbook"/>
              </a:rPr>
              <a:t>What we’d want your read on — and where this could be useful to you</a:t>
            </a:r>
          </a:p>
        </p:txBody>
      </p:sp>
      <p:sp>
        <p:nvSpPr>
          <p:cNvPr id="42" name="TextBox 41"/>
          <p:cNvSpPr txBox="1"/>
          <p:nvPr/>
        </p:nvSpPr>
        <p:spPr>
          <a:xfrm>
            <a:off x="320040" y="3621024"/>
            <a:ext cx="2011680" cy="109728"/>
          </a:xfrm>
          <a:prstGeom prst="rect">
            <a:avLst/>
          </a:prstGeom>
          <a:noFill/>
        </p:spPr>
        <p:txBody>
          <a:bodyPr wrap="square" lIns="0" rIns="0" tIns="0" bIns="0">
            <a:spAutoFit/>
          </a:bodyPr>
          <a:lstStyle/>
          <a:p>
            <a:r>
              <a:rPr sz="600" b="1" i="0">
                <a:solidFill>
                  <a:srgbClr val="B4483D"/>
                </a:solidFill>
                <a:latin typeface="Century Schoolbook"/>
              </a:rPr>
              <a:t>CLINICAL</a:t>
            </a:r>
          </a:p>
        </p:txBody>
      </p:sp>
      <p:sp>
        <p:nvSpPr>
          <p:cNvPr id="43" name="TextBox 42"/>
          <p:cNvSpPr txBox="1"/>
          <p:nvPr/>
        </p:nvSpPr>
        <p:spPr>
          <a:xfrm>
            <a:off x="320040" y="3739896"/>
            <a:ext cx="146304" cy="118872"/>
          </a:xfrm>
          <a:prstGeom prst="rect">
            <a:avLst/>
          </a:prstGeom>
          <a:noFill/>
        </p:spPr>
        <p:txBody>
          <a:bodyPr wrap="square" lIns="0" rIns="0" tIns="0" bIns="0">
            <a:spAutoFit/>
          </a:bodyPr>
          <a:lstStyle/>
          <a:p>
            <a:r>
              <a:rPr sz="750" b="1" i="0">
                <a:solidFill>
                  <a:srgbClr val="B4483D"/>
                </a:solidFill>
                <a:latin typeface="Century Schoolbook"/>
              </a:rPr>
              <a:t>1</a:t>
            </a:r>
          </a:p>
        </p:txBody>
      </p:sp>
      <p:sp>
        <p:nvSpPr>
          <p:cNvPr id="44" name="TextBox 43"/>
          <p:cNvSpPr txBox="1"/>
          <p:nvPr/>
        </p:nvSpPr>
        <p:spPr>
          <a:xfrm>
            <a:off x="466344" y="3739896"/>
            <a:ext cx="1865376" cy="237744"/>
          </a:xfrm>
          <a:prstGeom prst="rect">
            <a:avLst/>
          </a:prstGeom>
          <a:noFill/>
        </p:spPr>
        <p:txBody>
          <a:bodyPr wrap="square" lIns="0" rIns="0" tIns="0" bIns="0">
            <a:spAutoFit/>
          </a:bodyPr>
          <a:lstStyle/>
          <a:p>
            <a:pPr>
              <a:lnSpc>
                <a:spcPct val="95000"/>
              </a:lnSpc>
            </a:pPr>
            <a:r>
              <a:rPr sz="750" b="1" i="0">
                <a:solidFill>
                  <a:srgbClr val="111827"/>
                </a:solidFill>
                <a:latin typeface="Century Schoolbook"/>
              </a:rPr>
              <a:t>Representative against what?</a:t>
            </a:r>
          </a:p>
        </p:txBody>
      </p:sp>
      <p:sp>
        <p:nvSpPr>
          <p:cNvPr id="45" name="TextBox 44"/>
          <p:cNvSpPr txBox="1"/>
          <p:nvPr/>
        </p:nvSpPr>
        <p:spPr>
          <a:xfrm>
            <a:off x="466344" y="4005072"/>
            <a:ext cx="1865376" cy="731520"/>
          </a:xfrm>
          <a:prstGeom prst="rect">
            <a:avLst/>
          </a:prstGeom>
          <a:noFill/>
        </p:spPr>
        <p:txBody>
          <a:bodyPr wrap="square" lIns="0" rIns="0" tIns="0" bIns="0">
            <a:spAutoFit/>
          </a:bodyPr>
          <a:lstStyle/>
          <a:p>
            <a:pPr>
              <a:lnSpc>
                <a:spcPct val="98000"/>
              </a:lnSpc>
            </a:pPr>
            <a:r>
              <a:rPr sz="640" b="0" i="0">
                <a:solidFill>
                  <a:srgbClr val="6D6C66"/>
                </a:solidFill>
                <a:latin typeface="Century Schoolbook"/>
              </a:rPr>
              <a:t>We can report that a validation cohort was 84% White. We cannot say whether that is a problem. The benchmark could be the census, the condition’s own epidemiology, or the deploying hospital’s patient panel — and they disagree. Without an agreed denominator the dashboard describes composition but cannot flag risk.</a:t>
            </a:r>
          </a:p>
        </p:txBody>
      </p:sp>
      <p:sp>
        <p:nvSpPr>
          <p:cNvPr id="46" name="TextBox 45"/>
          <p:cNvSpPr txBox="1"/>
          <p:nvPr/>
        </p:nvSpPr>
        <p:spPr>
          <a:xfrm>
            <a:off x="2484120" y="3621024"/>
            <a:ext cx="2011680" cy="109728"/>
          </a:xfrm>
          <a:prstGeom prst="rect">
            <a:avLst/>
          </a:prstGeom>
          <a:noFill/>
        </p:spPr>
        <p:txBody>
          <a:bodyPr wrap="square" lIns="0" rIns="0" tIns="0" bIns="0">
            <a:spAutoFit/>
          </a:bodyPr>
          <a:lstStyle/>
          <a:p>
            <a:r>
              <a:rPr sz="600" b="1" i="0">
                <a:solidFill>
                  <a:srgbClr val="B4483D"/>
                </a:solidFill>
                <a:latin typeface="Century Schoolbook"/>
              </a:rPr>
              <a:t>CLINICAL</a:t>
            </a:r>
          </a:p>
        </p:txBody>
      </p:sp>
      <p:sp>
        <p:nvSpPr>
          <p:cNvPr id="47" name="TextBox 46"/>
          <p:cNvSpPr txBox="1"/>
          <p:nvPr/>
        </p:nvSpPr>
        <p:spPr>
          <a:xfrm>
            <a:off x="2484120" y="3739896"/>
            <a:ext cx="146304" cy="118872"/>
          </a:xfrm>
          <a:prstGeom prst="rect">
            <a:avLst/>
          </a:prstGeom>
          <a:noFill/>
        </p:spPr>
        <p:txBody>
          <a:bodyPr wrap="square" lIns="0" rIns="0" tIns="0" bIns="0">
            <a:spAutoFit/>
          </a:bodyPr>
          <a:lstStyle/>
          <a:p>
            <a:r>
              <a:rPr sz="750" b="1" i="0">
                <a:solidFill>
                  <a:srgbClr val="B4483D"/>
                </a:solidFill>
                <a:latin typeface="Century Schoolbook"/>
              </a:rPr>
              <a:t>2</a:t>
            </a:r>
          </a:p>
        </p:txBody>
      </p:sp>
      <p:sp>
        <p:nvSpPr>
          <p:cNvPr id="48" name="TextBox 47"/>
          <p:cNvSpPr txBox="1"/>
          <p:nvPr/>
        </p:nvSpPr>
        <p:spPr>
          <a:xfrm>
            <a:off x="2630424" y="3739896"/>
            <a:ext cx="1865376" cy="237744"/>
          </a:xfrm>
          <a:prstGeom prst="rect">
            <a:avLst/>
          </a:prstGeom>
          <a:noFill/>
        </p:spPr>
        <p:txBody>
          <a:bodyPr wrap="square" lIns="0" rIns="0" tIns="0" bIns="0">
            <a:spAutoFit/>
          </a:bodyPr>
          <a:lstStyle/>
          <a:p>
            <a:pPr>
              <a:lnSpc>
                <a:spcPct val="95000"/>
              </a:lnSpc>
            </a:pPr>
            <a:r>
              <a:rPr sz="750" b="1" i="0">
                <a:solidFill>
                  <a:srgbClr val="111827"/>
                </a:solidFill>
                <a:latin typeface="Century Schoolbook"/>
              </a:rPr>
              <a:t>Which social factors change a deployment decision?</a:t>
            </a:r>
          </a:p>
        </p:txBody>
      </p:sp>
      <p:sp>
        <p:nvSpPr>
          <p:cNvPr id="49" name="TextBox 48"/>
          <p:cNvSpPr txBox="1"/>
          <p:nvPr/>
        </p:nvSpPr>
        <p:spPr>
          <a:xfrm>
            <a:off x="2630424" y="4005072"/>
            <a:ext cx="1865376" cy="731520"/>
          </a:xfrm>
          <a:prstGeom prst="rect">
            <a:avLst/>
          </a:prstGeom>
          <a:noFill/>
        </p:spPr>
        <p:txBody>
          <a:bodyPr wrap="square" lIns="0" rIns="0" tIns="0" bIns="0">
            <a:spAutoFit/>
          </a:bodyPr>
          <a:lstStyle/>
          <a:p>
            <a:pPr>
              <a:lnSpc>
                <a:spcPct val="98000"/>
              </a:lnSpc>
            </a:pPr>
            <a:r>
              <a:rPr sz="640" b="0" i="0">
                <a:solidFill>
                  <a:srgbClr val="6D6C66"/>
                </a:solidFill>
                <a:latin typeface="Century Schoolbook"/>
              </a:rPr>
              <a:t>The schema reserves fields for income, education, insurance and neighborhood, but each one costs tokens and curator review. Which of these would actually change whether a health system deploys a tool, and which are good to know but not decision-relevant?</a:t>
            </a:r>
          </a:p>
        </p:txBody>
      </p:sp>
      <p:sp>
        <p:nvSpPr>
          <p:cNvPr id="50" name="TextBox 49"/>
          <p:cNvSpPr txBox="1"/>
          <p:nvPr/>
        </p:nvSpPr>
        <p:spPr>
          <a:xfrm>
            <a:off x="4648200" y="3621024"/>
            <a:ext cx="2011680" cy="109728"/>
          </a:xfrm>
          <a:prstGeom prst="rect">
            <a:avLst/>
          </a:prstGeom>
          <a:noFill/>
        </p:spPr>
        <p:txBody>
          <a:bodyPr wrap="square" lIns="0" rIns="0" tIns="0" bIns="0">
            <a:spAutoFit/>
          </a:bodyPr>
          <a:lstStyle/>
          <a:p>
            <a:r>
              <a:rPr sz="600" b="1" i="0">
                <a:solidFill>
                  <a:srgbClr val="B4483D"/>
                </a:solidFill>
                <a:latin typeface="Century Schoolbook"/>
              </a:rPr>
              <a:t>TECHNICAL</a:t>
            </a:r>
          </a:p>
        </p:txBody>
      </p:sp>
      <p:sp>
        <p:nvSpPr>
          <p:cNvPr id="51" name="TextBox 50"/>
          <p:cNvSpPr txBox="1"/>
          <p:nvPr/>
        </p:nvSpPr>
        <p:spPr>
          <a:xfrm>
            <a:off x="4648200" y="3739896"/>
            <a:ext cx="146304" cy="118872"/>
          </a:xfrm>
          <a:prstGeom prst="rect">
            <a:avLst/>
          </a:prstGeom>
          <a:noFill/>
        </p:spPr>
        <p:txBody>
          <a:bodyPr wrap="square" lIns="0" rIns="0" tIns="0" bIns="0">
            <a:spAutoFit/>
          </a:bodyPr>
          <a:lstStyle/>
          <a:p>
            <a:r>
              <a:rPr sz="750" b="1" i="0">
                <a:solidFill>
                  <a:srgbClr val="B4483D"/>
                </a:solidFill>
                <a:latin typeface="Century Schoolbook"/>
              </a:rPr>
              <a:t>3</a:t>
            </a:r>
          </a:p>
        </p:txBody>
      </p:sp>
      <p:sp>
        <p:nvSpPr>
          <p:cNvPr id="52" name="TextBox 51"/>
          <p:cNvSpPr txBox="1"/>
          <p:nvPr/>
        </p:nvSpPr>
        <p:spPr>
          <a:xfrm>
            <a:off x="4794504" y="3739896"/>
            <a:ext cx="1865376" cy="237744"/>
          </a:xfrm>
          <a:prstGeom prst="rect">
            <a:avLst/>
          </a:prstGeom>
          <a:noFill/>
        </p:spPr>
        <p:txBody>
          <a:bodyPr wrap="square" lIns="0" rIns="0" tIns="0" bIns="0">
            <a:spAutoFit/>
          </a:bodyPr>
          <a:lstStyle/>
          <a:p>
            <a:pPr>
              <a:lnSpc>
                <a:spcPct val="95000"/>
              </a:lnSpc>
            </a:pPr>
            <a:r>
              <a:rPr sz="750" b="1" i="0">
                <a:solidFill>
                  <a:srgbClr val="111827"/>
                </a:solidFill>
                <a:latin typeface="Century Schoolbook"/>
              </a:rPr>
              <a:t>Silence vs. a missed read.</a:t>
            </a:r>
          </a:p>
        </p:txBody>
      </p:sp>
      <p:sp>
        <p:nvSpPr>
          <p:cNvPr id="53" name="TextBox 52"/>
          <p:cNvSpPr txBox="1"/>
          <p:nvPr/>
        </p:nvSpPr>
        <p:spPr>
          <a:xfrm>
            <a:off x="4794504" y="4005072"/>
            <a:ext cx="1865376" cy="731520"/>
          </a:xfrm>
          <a:prstGeom prst="rect">
            <a:avLst/>
          </a:prstGeom>
          <a:noFill/>
        </p:spPr>
        <p:txBody>
          <a:bodyPr wrap="square" lIns="0" rIns="0" tIns="0" bIns="0">
            <a:spAutoFit/>
          </a:bodyPr>
          <a:lstStyle/>
          <a:p>
            <a:pPr>
              <a:lnSpc>
                <a:spcPct val="98000"/>
              </a:lnSpc>
            </a:pPr>
            <a:r>
              <a:rPr sz="640" b="0" i="0">
                <a:solidFill>
                  <a:srgbClr val="6D6C66"/>
                </a:solidFill>
                <a:latin typeface="Century Schoolbook"/>
              </a:rPr>
              <a:t>Our headline finding is what is never reported, so a false “not reported” is the failure that matters most. Quoting evidence before committing a value makes a positive claim auditable, but a silent document and a skipped page look identical in the output. How would you prompt or verify to separate them?</a:t>
            </a:r>
          </a:p>
        </p:txBody>
      </p:sp>
      <p:sp>
        <p:nvSpPr>
          <p:cNvPr id="54" name="TextBox 53"/>
          <p:cNvSpPr txBox="1"/>
          <p:nvPr/>
        </p:nvSpPr>
        <p:spPr>
          <a:xfrm>
            <a:off x="6812279" y="3621024"/>
            <a:ext cx="2011680" cy="109728"/>
          </a:xfrm>
          <a:prstGeom prst="rect">
            <a:avLst/>
          </a:prstGeom>
          <a:noFill/>
        </p:spPr>
        <p:txBody>
          <a:bodyPr wrap="square" lIns="0" rIns="0" tIns="0" bIns="0">
            <a:spAutoFit/>
          </a:bodyPr>
          <a:lstStyle/>
          <a:p>
            <a:r>
              <a:rPr sz="600" b="1" i="0">
                <a:solidFill>
                  <a:srgbClr val="15803D"/>
                </a:solidFill>
                <a:latin typeface="Century Schoolbook"/>
              </a:rPr>
              <a:t>FOR ANTHROPIC</a:t>
            </a:r>
          </a:p>
        </p:txBody>
      </p:sp>
      <p:sp>
        <p:nvSpPr>
          <p:cNvPr id="55" name="TextBox 54"/>
          <p:cNvSpPr txBox="1"/>
          <p:nvPr/>
        </p:nvSpPr>
        <p:spPr>
          <a:xfrm>
            <a:off x="6812279" y="3739896"/>
            <a:ext cx="146304" cy="118872"/>
          </a:xfrm>
          <a:prstGeom prst="rect">
            <a:avLst/>
          </a:prstGeom>
          <a:noFill/>
        </p:spPr>
        <p:txBody>
          <a:bodyPr wrap="square" lIns="0" rIns="0" tIns="0" bIns="0">
            <a:spAutoFit/>
          </a:bodyPr>
          <a:lstStyle/>
          <a:p>
            <a:r>
              <a:rPr sz="750" b="1" i="0">
                <a:solidFill>
                  <a:srgbClr val="15803D"/>
                </a:solidFill>
                <a:latin typeface="Century Schoolbook"/>
              </a:rPr>
              <a:t>4</a:t>
            </a:r>
          </a:p>
        </p:txBody>
      </p:sp>
      <p:sp>
        <p:nvSpPr>
          <p:cNvPr id="56" name="TextBox 55"/>
          <p:cNvSpPr txBox="1"/>
          <p:nvPr/>
        </p:nvSpPr>
        <p:spPr>
          <a:xfrm>
            <a:off x="6958583" y="3739896"/>
            <a:ext cx="1865376" cy="237744"/>
          </a:xfrm>
          <a:prstGeom prst="rect">
            <a:avLst/>
          </a:prstGeom>
          <a:noFill/>
        </p:spPr>
        <p:txBody>
          <a:bodyPr wrap="square" lIns="0" rIns="0" tIns="0" bIns="0">
            <a:spAutoFit/>
          </a:bodyPr>
          <a:lstStyle/>
          <a:p>
            <a:pPr>
              <a:lnSpc>
                <a:spcPct val="95000"/>
              </a:lnSpc>
            </a:pPr>
            <a:r>
              <a:rPr sz="750" b="1" i="0">
                <a:solidFill>
                  <a:srgbClr val="111827"/>
                </a:solidFill>
                <a:latin typeface="Century Schoolbook"/>
              </a:rPr>
              <a:t>Where this could be useful to you.</a:t>
            </a:r>
          </a:p>
        </p:txBody>
      </p:sp>
      <p:sp>
        <p:nvSpPr>
          <p:cNvPr id="57" name="TextBox 56"/>
          <p:cNvSpPr txBox="1"/>
          <p:nvPr/>
        </p:nvSpPr>
        <p:spPr>
          <a:xfrm>
            <a:off x="6958583" y="4005072"/>
            <a:ext cx="1865376" cy="731520"/>
          </a:xfrm>
          <a:prstGeom prst="rect">
            <a:avLst/>
          </a:prstGeom>
          <a:noFill/>
        </p:spPr>
        <p:txBody>
          <a:bodyPr wrap="square" lIns="0" rIns="0" tIns="0" bIns="0">
            <a:spAutoFit/>
          </a:bodyPr>
          <a:lstStyle/>
          <a:p>
            <a:pPr>
              <a:lnSpc>
                <a:spcPct val="98000"/>
              </a:lnSpc>
            </a:pPr>
            <a:r>
              <a:rPr sz="640" b="0" i="0">
                <a:solidFill>
                  <a:srgbClr val="6D6C66"/>
                </a:solidFill>
                <a:latin typeface="Century Schoolbook"/>
              </a:rPr>
              <a:t>This becomes a public, evidence-linked record of who was in the validation cohort behind every FDA-authorized AI/ML device, each value traceable to its source page. That is the question health systems raise in procurement and the gap in what 510(k) summaries disclose today. Useful in your healthcare and policy conversations — and if so, in what cut?</a:t>
            </a:r>
          </a:p>
        </p:txBody>
      </p:sp>
      <p:sp>
        <p:nvSpPr>
          <p:cNvPr id="58" name="TextBox 57"/>
          <p:cNvSpPr txBox="1"/>
          <p:nvPr/>
        </p:nvSpPr>
        <p:spPr>
          <a:xfrm>
            <a:off x="320040" y="4809744"/>
            <a:ext cx="8503920" cy="201168"/>
          </a:xfrm>
          <a:prstGeom prst="rect">
            <a:avLst/>
          </a:prstGeom>
          <a:noFill/>
        </p:spPr>
        <p:txBody>
          <a:bodyPr wrap="square" lIns="0" rIns="0" tIns="0" bIns="0">
            <a:spAutoFit/>
          </a:bodyPr>
          <a:lstStyle/>
          <a:p>
            <a:r>
              <a:rPr sz="680" b="0" i="0">
                <a:solidFill>
                  <a:srgbClr val="6D6C66"/>
                </a:solidFill>
                <a:latin typeface="Century Schoolbook"/>
              </a:rPr>
              <a:t>Pilot to date: 36 documents · 373 pages · 2.63M tokens, each document run through all three models · token counts from data/fda_token_metrics.json · costs at Anthropic list rates · extraction sample is real Sonnet 4.6 output</a:t>
            </a:r>
          </a:p>
        </p:txBody>
      </p:sp>
    </p:spTree>
    <p:extLst>
      <p:ext uri="{BB962C8B-B14F-4D97-AF65-F5344CB8AC3E}">
        <p14:creationId xmlns:p14="http://schemas.microsoft.com/office/powerpoint/2010/main" val="36713313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E2AB3CE-8E34-8DC7-1924-B52044C427E4}"/>
              </a:ext>
            </a:extLst>
          </p:cNvPr>
          <p:cNvSpPr txBox="1"/>
          <p:nvPr/>
        </p:nvSpPr>
        <p:spPr>
          <a:xfrm>
            <a:off x="2908583" y="242636"/>
            <a:ext cx="4253346" cy="707886"/>
          </a:xfrm>
          <a:prstGeom prst="rect">
            <a:avLst/>
          </a:prstGeom>
          <a:noFill/>
        </p:spPr>
        <p:txBody>
          <a:bodyPr wrap="square" rtlCol="0">
            <a:spAutoFit/>
          </a:bodyPr>
          <a:lstStyle/>
          <a:p>
            <a:r>
              <a:rPr lang="en-US" sz="4000" dirty="0">
                <a:latin typeface="Century Schoolbook" panose="02040604050505020304" pitchFamily="18" charset="0"/>
              </a:rPr>
              <a:t>About Co-leads </a:t>
            </a:r>
          </a:p>
        </p:txBody>
      </p:sp>
      <p:pic>
        <p:nvPicPr>
          <p:cNvPr id="4" name="Picture 3">
            <a:extLst>
              <a:ext uri="{FF2B5EF4-FFF2-40B4-BE49-F238E27FC236}">
                <a16:creationId xmlns:a16="http://schemas.microsoft.com/office/drawing/2014/main" id="{0CE116E0-1496-9B33-0932-97DE8F8B1A16}"/>
              </a:ext>
            </a:extLst>
          </p:cNvPr>
          <p:cNvPicPr>
            <a:picLocks noChangeAspect="1"/>
          </p:cNvPicPr>
          <p:nvPr/>
        </p:nvPicPr>
        <p:blipFill>
          <a:blip r:embed="rId2"/>
          <a:srcRect t="3097" b="19596"/>
          <a:stretch>
            <a:fillRect/>
          </a:stretch>
        </p:blipFill>
        <p:spPr>
          <a:xfrm>
            <a:off x="5035257" y="1434127"/>
            <a:ext cx="3076580" cy="3322899"/>
          </a:xfrm>
          <a:prstGeom prst="rect">
            <a:avLst/>
          </a:prstGeom>
        </p:spPr>
      </p:pic>
      <p:pic>
        <p:nvPicPr>
          <p:cNvPr id="6" name="Picture 5">
            <a:extLst>
              <a:ext uri="{FF2B5EF4-FFF2-40B4-BE49-F238E27FC236}">
                <a16:creationId xmlns:a16="http://schemas.microsoft.com/office/drawing/2014/main" id="{7E74F863-B053-5C4E-EE07-A37315B3D851}"/>
              </a:ext>
            </a:extLst>
          </p:cNvPr>
          <p:cNvPicPr>
            <a:picLocks noChangeAspect="1"/>
          </p:cNvPicPr>
          <p:nvPr/>
        </p:nvPicPr>
        <p:blipFill>
          <a:blip r:embed="rId3"/>
          <a:srcRect l="19205" t="4717" r="38147" b="31853"/>
          <a:stretch>
            <a:fillRect/>
          </a:stretch>
        </p:blipFill>
        <p:spPr>
          <a:xfrm>
            <a:off x="818289" y="1434127"/>
            <a:ext cx="3290456" cy="3262564"/>
          </a:xfrm>
          <a:prstGeom prst="rect">
            <a:avLst/>
          </a:prstGeom>
        </p:spPr>
      </p:pic>
    </p:spTree>
    <p:extLst>
      <p:ext uri="{BB962C8B-B14F-4D97-AF65-F5344CB8AC3E}">
        <p14:creationId xmlns:p14="http://schemas.microsoft.com/office/powerpoint/2010/main" val="41340993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10896"/>
            <a:ext cx="4572000" cy="160750"/>
          </a:xfrm>
          <a:prstGeom prst="rect">
            <a:avLst/>
          </a:prstGeom>
          <a:noFill/>
        </p:spPr>
        <p:txBody>
          <a:bodyPr wrap="square" lIns="0" tIns="0" rIns="0" bIns="0" anchor="t">
            <a:spAutoFit/>
          </a:bodyPr>
          <a:lstStyle/>
          <a:p>
            <a:pPr algn="l">
              <a:lnSpc>
                <a:spcPct val="115000"/>
              </a:lnSpc>
              <a:spcAft>
                <a:spcPts val="0"/>
              </a:spcAft>
            </a:pPr>
            <a:r>
              <a:rPr sz="1000" b="1" i="0" u="none" spc="140">
                <a:solidFill>
                  <a:srgbClr val="15803D"/>
                </a:solidFill>
                <a:latin typeface="Century Schoolbook"/>
              </a:rPr>
              <a:t>PROJECT CO-LEAD</a:t>
            </a:r>
          </a:p>
        </p:txBody>
      </p:sp>
      <p:sp>
        <p:nvSpPr>
          <p:cNvPr id="3" name="TextBox 2"/>
          <p:cNvSpPr txBox="1"/>
          <p:nvPr/>
        </p:nvSpPr>
        <p:spPr>
          <a:xfrm>
            <a:off x="457200" y="530352"/>
            <a:ext cx="8229600" cy="514500"/>
          </a:xfrm>
          <a:prstGeom prst="rect">
            <a:avLst/>
          </a:prstGeom>
          <a:noFill/>
        </p:spPr>
        <p:txBody>
          <a:bodyPr wrap="square" lIns="0" tIns="0" rIns="0" bIns="0" anchor="t">
            <a:spAutoFit/>
          </a:bodyPr>
          <a:lstStyle/>
          <a:p>
            <a:pPr algn="l">
              <a:lnSpc>
                <a:spcPct val="115000"/>
              </a:lnSpc>
              <a:spcAft>
                <a:spcPts val="0"/>
              </a:spcAft>
            </a:pPr>
            <a:r>
              <a:rPr sz="3200" b="1" i="0" u="none">
                <a:solidFill>
                  <a:srgbClr val="111827"/>
                </a:solidFill>
                <a:latin typeface="Century Schoolbook"/>
              </a:rPr>
              <a:t>Maryam Aziz</a:t>
            </a:r>
          </a:p>
        </p:txBody>
      </p:sp>
      <p:sp>
        <p:nvSpPr>
          <p:cNvPr id="4" name="TextBox 3"/>
          <p:cNvSpPr txBox="1"/>
          <p:nvPr/>
        </p:nvSpPr>
        <p:spPr>
          <a:xfrm>
            <a:off x="457200" y="978408"/>
            <a:ext cx="8229600" cy="224933"/>
          </a:xfrm>
          <a:prstGeom prst="rect">
            <a:avLst/>
          </a:prstGeom>
          <a:noFill/>
        </p:spPr>
        <p:txBody>
          <a:bodyPr wrap="square" lIns="0" tIns="0" rIns="0" bIns="0" anchor="t">
            <a:spAutoFit/>
          </a:bodyPr>
          <a:lstStyle/>
          <a:p>
            <a:pPr algn="l">
              <a:lnSpc>
                <a:spcPct val="115000"/>
              </a:lnSpc>
              <a:spcAft>
                <a:spcPts val="0"/>
              </a:spcAft>
            </a:pPr>
            <a:r>
              <a:rPr sz="1400" b="1" i="0" u="none">
                <a:solidFill>
                  <a:srgbClr val="111827"/>
                </a:solidFill>
                <a:latin typeface="Century Schoolbook"/>
              </a:rPr>
              <a:t>PhD Candidate</a:t>
            </a:r>
            <a:r>
              <a:rPr sz="1400" b="0" i="0" u="none">
                <a:solidFill>
                  <a:srgbClr val="D9D8D3"/>
                </a:solidFill>
                <a:latin typeface="Century Schoolbook"/>
              </a:rPr>
              <a:t>   ·   </a:t>
            </a:r>
            <a:r>
              <a:rPr sz="1400" b="0" i="0" u="none">
                <a:solidFill>
                  <a:srgbClr val="6D6C66"/>
                </a:solidFill>
                <a:latin typeface="Century Schoolbook"/>
              </a:rPr>
              <a:t>Human–LLM interaction in health</a:t>
            </a:r>
          </a:p>
        </p:txBody>
      </p:sp>
      <p:cxnSp>
        <p:nvCxnSpPr>
          <p:cNvPr id="5" name="Connector 4"/>
          <p:cNvCxnSpPr/>
          <p:nvPr/>
        </p:nvCxnSpPr>
        <p:spPr>
          <a:xfrm>
            <a:off x="3310128" y="1417320"/>
            <a:ext cx="0" cy="3291840"/>
          </a:xfrm>
          <a:prstGeom prst="line">
            <a:avLst/>
          </a:prstGeom>
          <a:ln w="9525">
            <a:solidFill>
              <a:srgbClr val="D9D8D3"/>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457200" y="3035808"/>
            <a:ext cx="2743200" cy="160750"/>
          </a:xfrm>
          <a:prstGeom prst="rect">
            <a:avLst/>
          </a:prstGeom>
          <a:noFill/>
        </p:spPr>
        <p:txBody>
          <a:bodyPr wrap="square" lIns="0" tIns="0" rIns="0" bIns="0" anchor="t">
            <a:spAutoFit/>
          </a:bodyPr>
          <a:lstStyle/>
          <a:p>
            <a:pPr algn="l">
              <a:lnSpc>
                <a:spcPct val="115000"/>
              </a:lnSpc>
              <a:spcAft>
                <a:spcPts val="0"/>
              </a:spcAft>
            </a:pPr>
            <a:r>
              <a:rPr sz="1000" b="1" i="0" u="none" spc="120">
                <a:solidFill>
                  <a:srgbClr val="6D6C66"/>
                </a:solidFill>
                <a:latin typeface="Century Schoolbook"/>
              </a:rPr>
              <a:t>STATUS</a:t>
            </a:r>
          </a:p>
        </p:txBody>
      </p:sp>
      <p:sp>
        <p:nvSpPr>
          <p:cNvPr id="8" name="TextBox 7"/>
          <p:cNvSpPr txBox="1"/>
          <p:nvPr/>
        </p:nvSpPr>
        <p:spPr>
          <a:xfrm>
            <a:off x="457200" y="3236976"/>
            <a:ext cx="2651760" cy="491353"/>
          </a:xfrm>
          <a:prstGeom prst="rect">
            <a:avLst/>
          </a:prstGeom>
          <a:noFill/>
        </p:spPr>
        <p:txBody>
          <a:bodyPr wrap="square" lIns="0" tIns="0" rIns="0" bIns="0" anchor="t">
            <a:spAutoFit/>
          </a:bodyPr>
          <a:lstStyle/>
          <a:p>
            <a:pPr algn="l">
              <a:lnSpc>
                <a:spcPct val="118000"/>
              </a:lnSpc>
              <a:spcAft>
                <a:spcPts val="600"/>
              </a:spcAft>
            </a:pPr>
            <a:r>
              <a:rPr sz="1200" b="0" i="0" u="none" dirty="0">
                <a:solidFill>
                  <a:srgbClr val="111827"/>
                </a:solidFill>
                <a:latin typeface="Century Schoolbook"/>
              </a:rPr>
              <a:t>Defending </a:t>
            </a:r>
            <a:r>
              <a:rPr lang="en-US" sz="1200" b="0" i="0" u="none" dirty="0">
                <a:solidFill>
                  <a:srgbClr val="111827"/>
                </a:solidFill>
                <a:latin typeface="Century Schoolbook"/>
              </a:rPr>
              <a:t>PhD </a:t>
            </a:r>
            <a:r>
              <a:rPr sz="1200" b="0" i="0" u="none" dirty="0">
                <a:solidFill>
                  <a:srgbClr val="111827"/>
                </a:solidFill>
                <a:latin typeface="Century Schoolbook"/>
              </a:rPr>
              <a:t>late 2026 / early 2027</a:t>
            </a:r>
          </a:p>
          <a:p>
            <a:pPr>
              <a:lnSpc>
                <a:spcPct val="118000"/>
              </a:lnSpc>
              <a:spcAft>
                <a:spcPts val="0"/>
              </a:spcAft>
            </a:pPr>
            <a:r>
              <a:rPr sz="1200" b="1" i="0" u="none" dirty="0">
                <a:latin typeface="Century Schoolbook"/>
              </a:rPr>
              <a:t>Exploring full-time roles</a:t>
            </a:r>
          </a:p>
        </p:txBody>
      </p:sp>
      <p:sp>
        <p:nvSpPr>
          <p:cNvPr id="9" name="TextBox 8"/>
          <p:cNvSpPr txBox="1"/>
          <p:nvPr/>
        </p:nvSpPr>
        <p:spPr>
          <a:xfrm>
            <a:off x="3611880" y="1417320"/>
            <a:ext cx="5074920" cy="160750"/>
          </a:xfrm>
          <a:prstGeom prst="rect">
            <a:avLst/>
          </a:prstGeom>
          <a:noFill/>
        </p:spPr>
        <p:txBody>
          <a:bodyPr wrap="square" lIns="0" tIns="0" rIns="0" bIns="0" anchor="t">
            <a:spAutoFit/>
          </a:bodyPr>
          <a:lstStyle/>
          <a:p>
            <a:pPr algn="l">
              <a:lnSpc>
                <a:spcPct val="115000"/>
              </a:lnSpc>
              <a:spcAft>
                <a:spcPts val="0"/>
              </a:spcAft>
            </a:pPr>
            <a:r>
              <a:rPr sz="1000" b="1" i="0" u="none" spc="120">
                <a:solidFill>
                  <a:srgbClr val="6D6C66"/>
                </a:solidFill>
                <a:latin typeface="Century Schoolbook"/>
              </a:rPr>
              <a:t>CURRENT RESEARCH</a:t>
            </a:r>
          </a:p>
        </p:txBody>
      </p:sp>
      <p:sp>
        <p:nvSpPr>
          <p:cNvPr id="10" name="Rectangle 9"/>
          <p:cNvSpPr/>
          <p:nvPr/>
        </p:nvSpPr>
        <p:spPr>
          <a:xfrm>
            <a:off x="3611880" y="1792224"/>
            <a:ext cx="73152" cy="73152"/>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11" name="TextBox 10"/>
          <p:cNvSpPr txBox="1"/>
          <p:nvPr/>
        </p:nvSpPr>
        <p:spPr>
          <a:xfrm>
            <a:off x="3813048" y="1737360"/>
            <a:ext cx="4873752" cy="749629"/>
          </a:xfrm>
          <a:prstGeom prst="rect">
            <a:avLst/>
          </a:prstGeom>
          <a:noFill/>
        </p:spPr>
        <p:txBody>
          <a:bodyPr wrap="square" lIns="0" tIns="0" rIns="0" bIns="0" anchor="t">
            <a:spAutoFit/>
          </a:bodyPr>
          <a:lstStyle/>
          <a:p>
            <a:pPr algn="l">
              <a:lnSpc>
                <a:spcPct val="120000"/>
              </a:lnSpc>
              <a:spcAft>
                <a:spcPts val="0"/>
              </a:spcAft>
            </a:pPr>
            <a:r>
              <a:rPr sz="1400" b="1" i="0" u="none">
                <a:solidFill>
                  <a:srgbClr val="111827"/>
                </a:solidFill>
                <a:latin typeface="Century Schoolbook"/>
              </a:rPr>
              <a:t>Health information-seeking from chatbots</a:t>
            </a:r>
            <a:r>
              <a:rPr sz="1400" b="0" i="0" u="none">
                <a:solidFill>
                  <a:srgbClr val="111827"/>
                </a:solidFill>
                <a:latin typeface="Century Schoolbook"/>
              </a:rPr>
              <a:t> — how and why people ask, including sycophancy-inducing leading questions.</a:t>
            </a:r>
            <a:r>
              <a:rPr sz="1050" b="1" i="0" u="none">
                <a:solidFill>
                  <a:srgbClr val="B4483D"/>
                </a:solidFill>
                <a:latin typeface="Century Schoolbook"/>
              </a:rPr>
              <a:t>  [add paper link]</a:t>
            </a:r>
          </a:p>
        </p:txBody>
      </p:sp>
      <p:sp>
        <p:nvSpPr>
          <p:cNvPr id="12" name="Rectangle 11"/>
          <p:cNvSpPr/>
          <p:nvPr/>
        </p:nvSpPr>
        <p:spPr>
          <a:xfrm>
            <a:off x="3611880" y="2642616"/>
            <a:ext cx="73152" cy="73152"/>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13" name="TextBox 12"/>
          <p:cNvSpPr txBox="1"/>
          <p:nvPr/>
        </p:nvSpPr>
        <p:spPr>
          <a:xfrm>
            <a:off x="3813048" y="2587752"/>
            <a:ext cx="4873752" cy="491096"/>
          </a:xfrm>
          <a:prstGeom prst="rect">
            <a:avLst/>
          </a:prstGeom>
          <a:noFill/>
        </p:spPr>
        <p:txBody>
          <a:bodyPr wrap="square" lIns="0" tIns="0" rIns="0" bIns="0" anchor="t">
            <a:spAutoFit/>
          </a:bodyPr>
          <a:lstStyle/>
          <a:p>
            <a:pPr algn="l">
              <a:lnSpc>
                <a:spcPct val="120000"/>
              </a:lnSpc>
              <a:spcAft>
                <a:spcPts val="0"/>
              </a:spcAft>
            </a:pPr>
            <a:r>
              <a:rPr sz="1400" b="1" i="0" u="none">
                <a:solidFill>
                  <a:srgbClr val="111827"/>
                </a:solidFill>
                <a:latin typeface="Century Schoolbook"/>
              </a:rPr>
              <a:t>Who is asking, and why</a:t>
            </a:r>
            <a:r>
              <a:rPr sz="1400" b="0" i="0" u="none">
                <a:solidFill>
                  <a:srgbClr val="111827"/>
                </a:solidFill>
                <a:latin typeface="Century Schoolbook"/>
              </a:rPr>
              <a:t> — women's health, plus a Reddit study of health information-seeking motivations.</a:t>
            </a:r>
          </a:p>
        </p:txBody>
      </p:sp>
      <p:sp>
        <p:nvSpPr>
          <p:cNvPr id="14" name="Rectangle 13"/>
          <p:cNvSpPr/>
          <p:nvPr/>
        </p:nvSpPr>
        <p:spPr>
          <a:xfrm>
            <a:off x="3611880" y="3493008"/>
            <a:ext cx="73152" cy="73152"/>
          </a:xfrm>
          <a:prstGeom prst="rect">
            <a:avLst/>
          </a:prstGeom>
          <a:solidFill>
            <a:srgbClr val="B44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15" name="TextBox 14"/>
          <p:cNvSpPr txBox="1"/>
          <p:nvPr/>
        </p:nvSpPr>
        <p:spPr>
          <a:xfrm>
            <a:off x="3813048" y="3438144"/>
            <a:ext cx="4873752" cy="491096"/>
          </a:xfrm>
          <a:prstGeom prst="rect">
            <a:avLst/>
          </a:prstGeom>
          <a:noFill/>
        </p:spPr>
        <p:txBody>
          <a:bodyPr wrap="square" lIns="0" tIns="0" rIns="0" bIns="0" anchor="t">
            <a:spAutoFit/>
          </a:bodyPr>
          <a:lstStyle/>
          <a:p>
            <a:pPr algn="l">
              <a:lnSpc>
                <a:spcPct val="120000"/>
              </a:lnSpc>
              <a:spcAft>
                <a:spcPts val="0"/>
              </a:spcAft>
            </a:pPr>
            <a:r>
              <a:rPr sz="1400" b="1" i="0" u="none">
                <a:solidFill>
                  <a:srgbClr val="111827"/>
                </a:solidFill>
                <a:latin typeface="Century Schoolbook"/>
              </a:rPr>
              <a:t>Sensitive and stigmatizing topics</a:t>
            </a:r>
            <a:r>
              <a:rPr sz="1400" b="0" i="0" u="none">
                <a:solidFill>
                  <a:srgbClr val="111827"/>
                </a:solidFill>
                <a:latin typeface="Century Schoolbook"/>
              </a:rPr>
              <a:t> — how models respond to them, and how users perceive those responses.</a:t>
            </a:r>
          </a:p>
        </p:txBody>
      </p:sp>
      <p:sp>
        <p:nvSpPr>
          <p:cNvPr id="16" name="TextBox 15"/>
          <p:cNvSpPr txBox="1"/>
          <p:nvPr/>
        </p:nvSpPr>
        <p:spPr>
          <a:xfrm>
            <a:off x="457200" y="4005072"/>
            <a:ext cx="2743200" cy="160750"/>
          </a:xfrm>
          <a:prstGeom prst="rect">
            <a:avLst/>
          </a:prstGeom>
          <a:noFill/>
        </p:spPr>
        <p:txBody>
          <a:bodyPr wrap="square" lIns="0" tIns="0" rIns="0" bIns="0" anchor="t">
            <a:spAutoFit/>
          </a:bodyPr>
          <a:lstStyle/>
          <a:p>
            <a:pPr algn="l">
              <a:lnSpc>
                <a:spcPct val="115000"/>
              </a:lnSpc>
              <a:spcAft>
                <a:spcPts val="0"/>
              </a:spcAft>
            </a:pPr>
            <a:r>
              <a:rPr sz="1000" b="1" i="0" u="none" spc="120" dirty="0">
                <a:solidFill>
                  <a:srgbClr val="6D6C66"/>
                </a:solidFill>
                <a:latin typeface="Century Schoolbook"/>
              </a:rPr>
              <a:t>FOCUS</a:t>
            </a:r>
          </a:p>
        </p:txBody>
      </p:sp>
      <p:sp>
        <p:nvSpPr>
          <p:cNvPr id="17" name="TextBox 16"/>
          <p:cNvSpPr txBox="1"/>
          <p:nvPr/>
        </p:nvSpPr>
        <p:spPr>
          <a:xfrm>
            <a:off x="457200" y="4206240"/>
            <a:ext cx="2651760" cy="756489"/>
          </a:xfrm>
          <a:prstGeom prst="rect">
            <a:avLst/>
          </a:prstGeom>
          <a:noFill/>
        </p:spPr>
        <p:txBody>
          <a:bodyPr wrap="square" lIns="0" tIns="0" rIns="0" bIns="0" anchor="t">
            <a:spAutoFit/>
          </a:bodyPr>
          <a:lstStyle/>
          <a:p>
            <a:pPr algn="l">
              <a:lnSpc>
                <a:spcPct val="120000"/>
              </a:lnSpc>
              <a:spcAft>
                <a:spcPts val="0"/>
              </a:spcAft>
            </a:pPr>
            <a:r>
              <a:rPr sz="1050" b="0" i="1" u="none" dirty="0">
                <a:latin typeface="Century Schoolbook"/>
              </a:rPr>
              <a:t>The human side of human–LLM interaction: how people seek, interpret, and act on health information — and how model behavior shapes that experience.</a:t>
            </a:r>
          </a:p>
        </p:txBody>
      </p:sp>
      <p:pic>
        <p:nvPicPr>
          <p:cNvPr id="18" name="Picture 17">
            <a:extLst>
              <a:ext uri="{FF2B5EF4-FFF2-40B4-BE49-F238E27FC236}">
                <a16:creationId xmlns:a16="http://schemas.microsoft.com/office/drawing/2014/main" id="{F9D4F560-8AA9-61FC-A78C-648EA09BF97E}"/>
              </a:ext>
            </a:extLst>
          </p:cNvPr>
          <p:cNvPicPr>
            <a:picLocks noChangeAspect="1"/>
          </p:cNvPicPr>
          <p:nvPr/>
        </p:nvPicPr>
        <p:blipFill>
          <a:blip r:embed="rId2"/>
          <a:srcRect l="19205" t="4717" r="38147" b="31853"/>
          <a:stretch>
            <a:fillRect/>
          </a:stretch>
        </p:blipFill>
        <p:spPr>
          <a:xfrm>
            <a:off x="818288" y="1417320"/>
            <a:ext cx="1578485" cy="1565105"/>
          </a:xfrm>
          <a:prstGeom prst="rect">
            <a:avLst/>
          </a:prstGeom>
        </p:spPr>
      </p:pic>
    </p:spTree>
    <p:extLst>
      <p:ext uri="{BB962C8B-B14F-4D97-AF65-F5344CB8AC3E}">
        <p14:creationId xmlns:p14="http://schemas.microsoft.com/office/powerpoint/2010/main" val="121376999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10896"/>
            <a:ext cx="4572000" cy="160750"/>
          </a:xfrm>
          <a:prstGeom prst="rect">
            <a:avLst/>
          </a:prstGeom>
          <a:noFill/>
        </p:spPr>
        <p:txBody>
          <a:bodyPr wrap="square" lIns="0" tIns="0" rIns="0" bIns="0" anchor="t">
            <a:spAutoFit/>
          </a:bodyPr>
          <a:lstStyle/>
          <a:p>
            <a:pPr algn="l">
              <a:lnSpc>
                <a:spcPct val="115000"/>
              </a:lnSpc>
              <a:spcAft>
                <a:spcPts val="0"/>
              </a:spcAft>
            </a:pPr>
            <a:r>
              <a:rPr sz="1000" b="1" i="0" u="none" spc="140" dirty="0">
                <a:solidFill>
                  <a:srgbClr val="15803D"/>
                </a:solidFill>
                <a:latin typeface="Century Schoolbook"/>
              </a:rPr>
              <a:t>PROJECT CO-LEAD</a:t>
            </a:r>
          </a:p>
        </p:txBody>
      </p:sp>
      <p:sp>
        <p:nvSpPr>
          <p:cNvPr id="3" name="TextBox 2"/>
          <p:cNvSpPr txBox="1"/>
          <p:nvPr/>
        </p:nvSpPr>
        <p:spPr>
          <a:xfrm>
            <a:off x="457200" y="530352"/>
            <a:ext cx="8229600" cy="514500"/>
          </a:xfrm>
          <a:prstGeom prst="rect">
            <a:avLst/>
          </a:prstGeom>
          <a:noFill/>
        </p:spPr>
        <p:txBody>
          <a:bodyPr wrap="square" lIns="0" tIns="0" rIns="0" bIns="0" anchor="t">
            <a:spAutoFit/>
          </a:bodyPr>
          <a:lstStyle/>
          <a:p>
            <a:pPr algn="l">
              <a:lnSpc>
                <a:spcPct val="115000"/>
              </a:lnSpc>
              <a:spcAft>
                <a:spcPts val="0"/>
              </a:spcAft>
            </a:pPr>
            <a:r>
              <a:rPr sz="3200" b="1" i="0" u="none">
                <a:solidFill>
                  <a:srgbClr val="111827"/>
                </a:solidFill>
                <a:latin typeface="Century Schoolbook"/>
              </a:rPr>
              <a:t>Michael D. Green, PhD</a:t>
            </a:r>
          </a:p>
        </p:txBody>
      </p:sp>
      <p:sp>
        <p:nvSpPr>
          <p:cNvPr id="4" name="TextBox 3"/>
          <p:cNvSpPr txBox="1"/>
          <p:nvPr/>
        </p:nvSpPr>
        <p:spPr>
          <a:xfrm>
            <a:off x="457200" y="978408"/>
            <a:ext cx="8229600" cy="225062"/>
          </a:xfrm>
          <a:prstGeom prst="rect">
            <a:avLst/>
          </a:prstGeom>
          <a:noFill/>
        </p:spPr>
        <p:txBody>
          <a:bodyPr wrap="square" lIns="0" tIns="0" rIns="0" bIns="0" anchor="t">
            <a:spAutoFit/>
          </a:bodyPr>
          <a:lstStyle/>
          <a:p>
            <a:pPr algn="l">
              <a:lnSpc>
                <a:spcPct val="115000"/>
              </a:lnSpc>
              <a:spcAft>
                <a:spcPts val="0"/>
              </a:spcAft>
            </a:pPr>
            <a:r>
              <a:rPr sz="1400" b="1" i="0" u="none" dirty="0">
                <a:solidFill>
                  <a:srgbClr val="111827"/>
                </a:solidFill>
                <a:latin typeface="Century Schoolbook"/>
              </a:rPr>
              <a:t>Postdoc</a:t>
            </a:r>
            <a:r>
              <a:rPr lang="en-US" sz="1400" b="1" i="0" u="none" dirty="0">
                <a:solidFill>
                  <a:srgbClr val="111827"/>
                </a:solidFill>
                <a:latin typeface="Century Schoolbook"/>
              </a:rPr>
              <a:t>toral Fellow</a:t>
            </a:r>
            <a:r>
              <a:rPr sz="1400" b="1" i="0" u="none" dirty="0">
                <a:solidFill>
                  <a:srgbClr val="111827"/>
                </a:solidFill>
                <a:latin typeface="Century Schoolbook"/>
              </a:rPr>
              <a:t>, Johns Hopkins Public Health</a:t>
            </a:r>
          </a:p>
        </p:txBody>
      </p:sp>
      <p:cxnSp>
        <p:nvCxnSpPr>
          <p:cNvPr id="5" name="Connector 4"/>
          <p:cNvCxnSpPr/>
          <p:nvPr/>
        </p:nvCxnSpPr>
        <p:spPr>
          <a:xfrm>
            <a:off x="3310128" y="1417320"/>
            <a:ext cx="0" cy="3291840"/>
          </a:xfrm>
          <a:prstGeom prst="line">
            <a:avLst/>
          </a:prstGeom>
          <a:ln w="9525">
            <a:solidFill>
              <a:srgbClr val="D9D8D3"/>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457200" y="3035808"/>
            <a:ext cx="2743200" cy="160750"/>
          </a:xfrm>
          <a:prstGeom prst="rect">
            <a:avLst/>
          </a:prstGeom>
          <a:noFill/>
        </p:spPr>
        <p:txBody>
          <a:bodyPr wrap="square" lIns="0" tIns="0" rIns="0" bIns="0" anchor="t">
            <a:spAutoFit/>
          </a:bodyPr>
          <a:lstStyle/>
          <a:p>
            <a:pPr algn="l">
              <a:lnSpc>
                <a:spcPct val="115000"/>
              </a:lnSpc>
              <a:spcAft>
                <a:spcPts val="0"/>
              </a:spcAft>
            </a:pPr>
            <a:r>
              <a:rPr sz="1000" b="1" i="0" u="none" spc="120" dirty="0">
                <a:solidFill>
                  <a:srgbClr val="6D6C66"/>
                </a:solidFill>
                <a:latin typeface="Century Schoolbook"/>
              </a:rPr>
              <a:t>STATUS</a:t>
            </a:r>
          </a:p>
        </p:txBody>
      </p:sp>
      <p:sp>
        <p:nvSpPr>
          <p:cNvPr id="8" name="TextBox 7"/>
          <p:cNvSpPr txBox="1"/>
          <p:nvPr/>
        </p:nvSpPr>
        <p:spPr>
          <a:xfrm>
            <a:off x="457200" y="3236976"/>
            <a:ext cx="2651760" cy="709810"/>
          </a:xfrm>
          <a:prstGeom prst="rect">
            <a:avLst/>
          </a:prstGeom>
          <a:noFill/>
        </p:spPr>
        <p:txBody>
          <a:bodyPr wrap="square" lIns="0" tIns="0" rIns="0" bIns="0" anchor="t">
            <a:spAutoFit/>
          </a:bodyPr>
          <a:lstStyle/>
          <a:p>
            <a:pPr algn="l">
              <a:lnSpc>
                <a:spcPct val="118000"/>
              </a:lnSpc>
              <a:spcAft>
                <a:spcPts val="600"/>
              </a:spcAft>
            </a:pPr>
            <a:r>
              <a:rPr sz="1200" b="1" i="0" u="none" dirty="0">
                <a:solidFill>
                  <a:srgbClr val="111827"/>
                </a:solidFill>
                <a:latin typeface="Century Schoolbook"/>
              </a:rPr>
              <a:t>Interviewing for full-time roles outside academia</a:t>
            </a:r>
            <a:r>
              <a:rPr lang="en-US" sz="1200" b="1" i="0" u="none" dirty="0">
                <a:solidFill>
                  <a:srgbClr val="111827"/>
                </a:solidFill>
                <a:latin typeface="Century Schoolbook"/>
              </a:rPr>
              <a:t>. </a:t>
            </a:r>
          </a:p>
          <a:p>
            <a:pPr algn="l">
              <a:lnSpc>
                <a:spcPct val="118000"/>
              </a:lnSpc>
              <a:spcAft>
                <a:spcPts val="600"/>
              </a:spcAft>
            </a:pPr>
            <a:r>
              <a:rPr lang="en-US" sz="1200" b="1" i="0" u="none" dirty="0">
                <a:solidFill>
                  <a:srgbClr val="111827"/>
                </a:solidFill>
                <a:latin typeface="Century Schoolbook"/>
              </a:rPr>
              <a:t>Anticipating Fall 2026 start.</a:t>
            </a:r>
            <a:endParaRPr sz="1200" b="1" i="0" u="none" dirty="0">
              <a:solidFill>
                <a:srgbClr val="111827"/>
              </a:solidFill>
              <a:latin typeface="Century Schoolbook"/>
            </a:endParaRPr>
          </a:p>
        </p:txBody>
      </p:sp>
      <p:sp>
        <p:nvSpPr>
          <p:cNvPr id="9" name="TextBox 8"/>
          <p:cNvSpPr txBox="1"/>
          <p:nvPr/>
        </p:nvSpPr>
        <p:spPr>
          <a:xfrm>
            <a:off x="457200" y="4005072"/>
            <a:ext cx="2743200" cy="160750"/>
          </a:xfrm>
          <a:prstGeom prst="rect">
            <a:avLst/>
          </a:prstGeom>
          <a:noFill/>
        </p:spPr>
        <p:txBody>
          <a:bodyPr wrap="square" lIns="0" tIns="0" rIns="0" bIns="0" anchor="t">
            <a:spAutoFit/>
          </a:bodyPr>
          <a:lstStyle/>
          <a:p>
            <a:pPr algn="l">
              <a:lnSpc>
                <a:spcPct val="115000"/>
              </a:lnSpc>
              <a:spcAft>
                <a:spcPts val="0"/>
              </a:spcAft>
            </a:pPr>
            <a:r>
              <a:rPr sz="1000" b="1" i="0" u="none" spc="120" dirty="0">
                <a:solidFill>
                  <a:srgbClr val="6D6C66"/>
                </a:solidFill>
                <a:latin typeface="Century Schoolbook"/>
              </a:rPr>
              <a:t>EDUCATION</a:t>
            </a:r>
          </a:p>
        </p:txBody>
      </p:sp>
      <p:sp>
        <p:nvSpPr>
          <p:cNvPr id="10" name="TextBox 9"/>
          <p:cNvSpPr txBox="1"/>
          <p:nvPr/>
        </p:nvSpPr>
        <p:spPr>
          <a:xfrm>
            <a:off x="457199" y="4206240"/>
            <a:ext cx="2852927" cy="444481"/>
          </a:xfrm>
          <a:prstGeom prst="rect">
            <a:avLst/>
          </a:prstGeom>
          <a:noFill/>
        </p:spPr>
        <p:txBody>
          <a:bodyPr wrap="square" lIns="0" tIns="0" rIns="0" bIns="0" anchor="t">
            <a:spAutoFit/>
          </a:bodyPr>
          <a:lstStyle/>
          <a:p>
            <a:pPr algn="l">
              <a:lnSpc>
                <a:spcPct val="118000"/>
              </a:lnSpc>
              <a:spcAft>
                <a:spcPts val="500"/>
              </a:spcAft>
            </a:pPr>
            <a:r>
              <a:rPr sz="1100" b="1" i="0" u="none" dirty="0">
                <a:solidFill>
                  <a:srgbClr val="111827"/>
                </a:solidFill>
                <a:latin typeface="Century Schoolbook"/>
              </a:rPr>
              <a:t>PhD, Population Health</a:t>
            </a:r>
            <a:r>
              <a:rPr sz="1100" b="0" i="0" u="none" dirty="0">
                <a:solidFill>
                  <a:srgbClr val="6D6C66"/>
                </a:solidFill>
                <a:latin typeface="Century Schoolbook"/>
              </a:rPr>
              <a:t> — Duke</a:t>
            </a:r>
          </a:p>
          <a:p>
            <a:pPr>
              <a:lnSpc>
                <a:spcPct val="118000"/>
              </a:lnSpc>
              <a:spcAft>
                <a:spcPts val="0"/>
              </a:spcAft>
            </a:pPr>
            <a:r>
              <a:rPr sz="1100" b="1" i="0" u="none" dirty="0">
                <a:solidFill>
                  <a:srgbClr val="111827"/>
                </a:solidFill>
                <a:latin typeface="Century Schoolbook"/>
              </a:rPr>
              <a:t>BA, Medical Anthropology</a:t>
            </a:r>
            <a:r>
              <a:rPr sz="1100" b="0" i="0" u="none" dirty="0">
                <a:solidFill>
                  <a:srgbClr val="6D6C66"/>
                </a:solidFill>
                <a:latin typeface="Century Schoolbook"/>
              </a:rPr>
              <a:t> — Dartmouth</a:t>
            </a:r>
          </a:p>
        </p:txBody>
      </p:sp>
      <p:sp>
        <p:nvSpPr>
          <p:cNvPr id="11" name="TextBox 10"/>
          <p:cNvSpPr txBox="1"/>
          <p:nvPr/>
        </p:nvSpPr>
        <p:spPr>
          <a:xfrm>
            <a:off x="3611880" y="1417320"/>
            <a:ext cx="5074920" cy="160750"/>
          </a:xfrm>
          <a:prstGeom prst="rect">
            <a:avLst/>
          </a:prstGeom>
          <a:noFill/>
        </p:spPr>
        <p:txBody>
          <a:bodyPr wrap="square" lIns="0" tIns="0" rIns="0" bIns="0" anchor="t">
            <a:spAutoFit/>
          </a:bodyPr>
          <a:lstStyle/>
          <a:p>
            <a:pPr algn="l">
              <a:lnSpc>
                <a:spcPct val="115000"/>
              </a:lnSpc>
              <a:spcAft>
                <a:spcPts val="0"/>
              </a:spcAft>
            </a:pPr>
            <a:r>
              <a:rPr sz="1000" b="1" i="0" u="none" spc="120" dirty="0">
                <a:solidFill>
                  <a:srgbClr val="6D6C66"/>
                </a:solidFill>
                <a:latin typeface="Century Schoolbook"/>
              </a:rPr>
              <a:t>PRIMARY INTEREST</a:t>
            </a:r>
            <a:r>
              <a:rPr lang="en-US" sz="1000" b="1" spc="120" dirty="0">
                <a:solidFill>
                  <a:srgbClr val="6D6C66"/>
                </a:solidFill>
                <a:latin typeface="Century Schoolbook"/>
              </a:rPr>
              <a:t>S</a:t>
            </a:r>
            <a:endParaRPr sz="1000" b="1" i="0" u="none" spc="120" dirty="0">
              <a:solidFill>
                <a:srgbClr val="6D6C66"/>
              </a:solidFill>
              <a:latin typeface="Century Schoolbook"/>
            </a:endParaRPr>
          </a:p>
        </p:txBody>
      </p:sp>
      <p:sp>
        <p:nvSpPr>
          <p:cNvPr id="12" name="Rectangle 11"/>
          <p:cNvSpPr/>
          <p:nvPr/>
        </p:nvSpPr>
        <p:spPr>
          <a:xfrm>
            <a:off x="3611880" y="1792224"/>
            <a:ext cx="73152" cy="73152"/>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13" name="TextBox 12"/>
          <p:cNvSpPr txBox="1"/>
          <p:nvPr/>
        </p:nvSpPr>
        <p:spPr>
          <a:xfrm>
            <a:off x="3813048" y="1737360"/>
            <a:ext cx="4873752" cy="491096"/>
          </a:xfrm>
          <a:prstGeom prst="rect">
            <a:avLst/>
          </a:prstGeom>
          <a:noFill/>
        </p:spPr>
        <p:txBody>
          <a:bodyPr wrap="square" lIns="0" tIns="0" rIns="0" bIns="0" anchor="t">
            <a:spAutoFit/>
          </a:bodyPr>
          <a:lstStyle/>
          <a:p>
            <a:pPr algn="l">
              <a:lnSpc>
                <a:spcPct val="120000"/>
              </a:lnSpc>
              <a:spcAft>
                <a:spcPts val="0"/>
              </a:spcAft>
            </a:pPr>
            <a:r>
              <a:rPr sz="1400" b="1" i="0" u="none" dirty="0">
                <a:solidFill>
                  <a:srgbClr val="111827"/>
                </a:solidFill>
                <a:latin typeface="Century Schoolbook"/>
              </a:rPr>
              <a:t>The intersection of AI and society</a:t>
            </a:r>
            <a:r>
              <a:rPr sz="1400" b="0" i="0" u="none" dirty="0">
                <a:solidFill>
                  <a:srgbClr val="111827"/>
                </a:solidFill>
                <a:latin typeface="Century Schoolbook"/>
              </a:rPr>
              <a:t> — how model behavior meets the people and systems it reaches.</a:t>
            </a:r>
          </a:p>
        </p:txBody>
      </p:sp>
      <p:sp>
        <p:nvSpPr>
          <p:cNvPr id="14" name="Rectangle 13"/>
          <p:cNvSpPr/>
          <p:nvPr/>
        </p:nvSpPr>
        <p:spPr>
          <a:xfrm>
            <a:off x="3611880" y="2542032"/>
            <a:ext cx="73152" cy="73152"/>
          </a:xfrm>
          <a:prstGeom prst="rect">
            <a:avLst/>
          </a:prstGeom>
          <a:solidFill>
            <a:srgbClr val="B44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15" name="TextBox 14"/>
          <p:cNvSpPr txBox="1"/>
          <p:nvPr/>
        </p:nvSpPr>
        <p:spPr>
          <a:xfrm>
            <a:off x="3813048" y="2487168"/>
            <a:ext cx="4873752" cy="749629"/>
          </a:xfrm>
          <a:prstGeom prst="rect">
            <a:avLst/>
          </a:prstGeom>
          <a:noFill/>
        </p:spPr>
        <p:txBody>
          <a:bodyPr wrap="square" lIns="0" tIns="0" rIns="0" bIns="0" anchor="t">
            <a:spAutoFit/>
          </a:bodyPr>
          <a:lstStyle/>
          <a:p>
            <a:pPr algn="l">
              <a:lnSpc>
                <a:spcPct val="120000"/>
              </a:lnSpc>
              <a:spcAft>
                <a:spcPts val="0"/>
              </a:spcAft>
            </a:pPr>
            <a:r>
              <a:rPr sz="1400" b="1" i="0" u="none" dirty="0">
                <a:solidFill>
                  <a:srgbClr val="111827"/>
                </a:solidFill>
                <a:latin typeface="Century Schoolbook"/>
              </a:rPr>
              <a:t>Quality of medical advice from AI</a:t>
            </a:r>
            <a:r>
              <a:rPr sz="1400" b="0" i="0" u="none" dirty="0">
                <a:solidFill>
                  <a:srgbClr val="111827"/>
                </a:solidFill>
                <a:latin typeface="Century Schoolbook"/>
              </a:rPr>
              <a:t> — how medical AI can deliver sound guidance and assist the </a:t>
            </a:r>
            <a:r>
              <a:rPr lang="en-US" sz="1400" dirty="0">
                <a:solidFill>
                  <a:srgbClr val="111827"/>
                </a:solidFill>
                <a:latin typeface="Century Schoolbook"/>
              </a:rPr>
              <a:t>systems</a:t>
            </a:r>
            <a:r>
              <a:rPr sz="1400" b="0" i="0" u="none" dirty="0">
                <a:solidFill>
                  <a:srgbClr val="111827"/>
                </a:solidFill>
                <a:latin typeface="Century Schoolbook"/>
              </a:rPr>
              <a:t> who </a:t>
            </a:r>
            <a:r>
              <a:rPr lang="en-US" sz="1400" b="0" i="0" u="none" dirty="0">
                <a:solidFill>
                  <a:srgbClr val="111827"/>
                </a:solidFill>
                <a:latin typeface="Century Schoolbook"/>
              </a:rPr>
              <a:t>deploy</a:t>
            </a:r>
            <a:r>
              <a:rPr sz="1400" b="0" i="0" u="none" dirty="0">
                <a:solidFill>
                  <a:srgbClr val="111827"/>
                </a:solidFill>
                <a:latin typeface="Century Schoolbook"/>
              </a:rPr>
              <a:t> it.</a:t>
            </a:r>
          </a:p>
        </p:txBody>
      </p:sp>
      <p:sp>
        <p:nvSpPr>
          <p:cNvPr id="16" name="Rectangle 15"/>
          <p:cNvSpPr/>
          <p:nvPr/>
        </p:nvSpPr>
        <p:spPr>
          <a:xfrm>
            <a:off x="3813048" y="3363191"/>
            <a:ext cx="64008" cy="64008"/>
          </a:xfrm>
          <a:prstGeom prst="rect">
            <a:avLst/>
          </a:prstGeom>
          <a:noFill/>
          <a:ln w="12700">
            <a:solidFill>
              <a:srgbClr val="B448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17" name="TextBox 16"/>
          <p:cNvSpPr txBox="1"/>
          <p:nvPr/>
        </p:nvSpPr>
        <p:spPr>
          <a:xfrm>
            <a:off x="3913632" y="3277215"/>
            <a:ext cx="4672583" cy="589007"/>
          </a:xfrm>
          <a:prstGeom prst="rect">
            <a:avLst/>
          </a:prstGeom>
          <a:noFill/>
        </p:spPr>
        <p:txBody>
          <a:bodyPr wrap="square" lIns="0" tIns="0" rIns="0" bIns="0" anchor="t">
            <a:spAutoFit/>
          </a:bodyPr>
          <a:lstStyle/>
          <a:p>
            <a:pPr algn="l">
              <a:lnSpc>
                <a:spcPct val="120000"/>
              </a:lnSpc>
              <a:spcAft>
                <a:spcPts val="0"/>
              </a:spcAft>
            </a:pPr>
            <a:r>
              <a:rPr sz="1100" b="0" i="0" u="none" dirty="0">
                <a:solidFill>
                  <a:srgbClr val="6D6C66"/>
                </a:solidFill>
                <a:latin typeface="Century Schoolbook"/>
              </a:rPr>
              <a:t>Interpretability research showing how different populations may be given different quality of advice.</a:t>
            </a:r>
            <a:r>
              <a:rPr lang="en-US" sz="1100" b="0" i="0" u="none" dirty="0">
                <a:solidFill>
                  <a:srgbClr val="6D6C66"/>
                </a:solidFill>
                <a:latin typeface="Century Schoolbook"/>
              </a:rPr>
              <a:t> </a:t>
            </a:r>
          </a:p>
          <a:p>
            <a:pPr algn="l">
              <a:lnSpc>
                <a:spcPct val="120000"/>
              </a:lnSpc>
              <a:spcAft>
                <a:spcPts val="0"/>
              </a:spcAft>
            </a:pPr>
            <a:r>
              <a:rPr lang="en-US" sz="1100" b="0" i="0" u="none" dirty="0">
                <a:solidFill>
                  <a:srgbClr val="6D6C66"/>
                </a:solidFill>
                <a:latin typeface="Century Schoolbook"/>
              </a:rPr>
              <a:t>(anticipate pre-print in 1-2 months, overview of project on next slide)</a:t>
            </a:r>
            <a:endParaRPr sz="1100" b="0" i="0" u="none" dirty="0">
              <a:solidFill>
                <a:srgbClr val="6D6C66"/>
              </a:solidFill>
              <a:latin typeface="Century Schoolbook"/>
            </a:endParaRPr>
          </a:p>
        </p:txBody>
      </p:sp>
      <p:sp>
        <p:nvSpPr>
          <p:cNvPr id="18" name="TextBox 17"/>
          <p:cNvSpPr txBox="1"/>
          <p:nvPr/>
        </p:nvSpPr>
        <p:spPr>
          <a:xfrm>
            <a:off x="3611880" y="4005072"/>
            <a:ext cx="5074920" cy="160750"/>
          </a:xfrm>
          <a:prstGeom prst="rect">
            <a:avLst/>
          </a:prstGeom>
          <a:noFill/>
        </p:spPr>
        <p:txBody>
          <a:bodyPr wrap="square" lIns="0" tIns="0" rIns="0" bIns="0" anchor="t">
            <a:spAutoFit/>
          </a:bodyPr>
          <a:lstStyle/>
          <a:p>
            <a:pPr algn="l">
              <a:lnSpc>
                <a:spcPct val="115000"/>
              </a:lnSpc>
              <a:spcAft>
                <a:spcPts val="0"/>
              </a:spcAft>
            </a:pPr>
            <a:r>
              <a:rPr sz="1000" b="1" i="0" u="none" spc="120">
                <a:solidFill>
                  <a:srgbClr val="6D6C66"/>
                </a:solidFill>
                <a:latin typeface="Century Schoolbook"/>
              </a:rPr>
              <a:t>WORK</a:t>
            </a:r>
          </a:p>
        </p:txBody>
      </p:sp>
      <p:sp>
        <p:nvSpPr>
          <p:cNvPr id="19" name="TextBox 18"/>
          <p:cNvSpPr txBox="1"/>
          <p:nvPr/>
        </p:nvSpPr>
        <p:spPr>
          <a:xfrm>
            <a:off x="3611880" y="4206240"/>
            <a:ext cx="5074920" cy="562462"/>
          </a:xfrm>
          <a:prstGeom prst="rect">
            <a:avLst/>
          </a:prstGeom>
          <a:noFill/>
        </p:spPr>
        <p:txBody>
          <a:bodyPr wrap="square" lIns="0" tIns="0" rIns="0" bIns="0" anchor="t">
            <a:spAutoFit/>
          </a:bodyPr>
          <a:lstStyle/>
          <a:p>
            <a:pPr algn="l">
              <a:lnSpc>
                <a:spcPct val="115000"/>
              </a:lnSpc>
              <a:spcAft>
                <a:spcPts val="700"/>
              </a:spcAft>
            </a:pPr>
            <a:r>
              <a:rPr sz="1400" b="0" i="0" u="none" dirty="0">
                <a:solidFill>
                  <a:srgbClr val="6D6C66"/>
                </a:solidFill>
                <a:latin typeface="Century Schoolbook"/>
              </a:rPr>
              <a:t>Portfolio   </a:t>
            </a:r>
            <a:r>
              <a:rPr sz="1400" b="1" i="0" u="none" dirty="0">
                <a:solidFill>
                  <a:schemeClr val="accent1"/>
                </a:solidFill>
                <a:latin typeface="Century Schoolbook"/>
                <a:hlinkClick r:id="rId2">
                  <a:extLst>
                    <a:ext uri="{A12FA001-AC4F-418D-AE19-62706E023703}">
                      <ahyp:hlinkClr xmlns:ahyp="http://schemas.microsoft.com/office/drawing/2018/hyperlinkcolor" val="tx"/>
                    </a:ext>
                  </a:extLst>
                </a:hlinkClick>
              </a:rPr>
              <a:t>michaeldgreen.phd</a:t>
            </a:r>
            <a:endParaRPr sz="1400" b="1" i="0" u="none" dirty="0">
              <a:solidFill>
                <a:schemeClr val="accent1"/>
              </a:solidFill>
              <a:latin typeface="Century Schoolbook"/>
              <a:hlinkClick r:id="rId2">
                <a:extLst>
                  <a:ext uri="{A12FA001-AC4F-418D-AE19-62706E023703}">
                    <ahyp:hlinkClr xmlns:ahyp="http://schemas.microsoft.com/office/drawing/2018/hyperlinkcolor" val="tx"/>
                  </a:ext>
                </a:extLst>
              </a:hlinkClick>
            </a:endParaRPr>
          </a:p>
          <a:p>
            <a:pPr>
              <a:lnSpc>
                <a:spcPct val="115000"/>
              </a:lnSpc>
              <a:spcAft>
                <a:spcPts val="0"/>
              </a:spcAft>
            </a:pPr>
            <a:r>
              <a:rPr sz="1400" b="0" i="0" u="none" dirty="0">
                <a:solidFill>
                  <a:srgbClr val="6D6C66"/>
                </a:solidFill>
                <a:latin typeface="Century Schoolbook"/>
              </a:rPr>
              <a:t>GitHub </a:t>
            </a:r>
            <a:r>
              <a:rPr lang="en-US" sz="1400" b="0" i="0" u="none" dirty="0">
                <a:solidFill>
                  <a:srgbClr val="6D6C66"/>
                </a:solidFill>
                <a:latin typeface="Century Schoolbook"/>
              </a:rPr>
              <a:t>    </a:t>
            </a:r>
            <a:r>
              <a:rPr lang="en-US" sz="1400" b="1" dirty="0">
                <a:solidFill>
                  <a:srgbClr val="B4483D"/>
                </a:solidFill>
                <a:latin typeface="Century Schoolbook"/>
                <a:hlinkClick r:id="rId3"/>
              </a:rPr>
              <a:t>github.com/michaeldgreenphd</a:t>
            </a:r>
            <a:endParaRPr sz="1400" b="1" i="0" u="none" dirty="0">
              <a:solidFill>
                <a:srgbClr val="B4483D"/>
              </a:solidFill>
              <a:latin typeface="Century Schoolbook"/>
            </a:endParaRPr>
          </a:p>
        </p:txBody>
      </p:sp>
      <p:pic>
        <p:nvPicPr>
          <p:cNvPr id="20" name="Picture 19">
            <a:extLst>
              <a:ext uri="{FF2B5EF4-FFF2-40B4-BE49-F238E27FC236}">
                <a16:creationId xmlns:a16="http://schemas.microsoft.com/office/drawing/2014/main" id="{B8BCB2B2-E4EB-D404-0491-CCD00409FA25}"/>
              </a:ext>
            </a:extLst>
          </p:cNvPr>
          <p:cNvPicPr>
            <a:picLocks noChangeAspect="1"/>
          </p:cNvPicPr>
          <p:nvPr/>
        </p:nvPicPr>
        <p:blipFill>
          <a:blip r:embed="rId4"/>
          <a:srcRect t="3097" b="19596"/>
          <a:stretch>
            <a:fillRect/>
          </a:stretch>
        </p:blipFill>
        <p:spPr>
          <a:xfrm>
            <a:off x="865362" y="1348740"/>
            <a:ext cx="1405385" cy="1517904"/>
          </a:xfrm>
          <a:prstGeom prst="rect">
            <a:avLst/>
          </a:prstGeom>
        </p:spPr>
      </p:pic>
    </p:spTree>
    <p:extLst>
      <p:ext uri="{BB962C8B-B14F-4D97-AF65-F5344CB8AC3E}">
        <p14:creationId xmlns:p14="http://schemas.microsoft.com/office/powerpoint/2010/main" val="31239701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1">
    <p:bg>
      <p:bgPr>
        <a:solidFill>
          <a:srgbClr val="FAF9F5"/>
        </a:solidFill>
        <a:effectLst/>
      </p:bgPr>
    </p:bg>
    <p:spTree>
      <p:nvGrpSpPr>
        <p:cNvPr id="1" name=""/>
        <p:cNvGrpSpPr/>
        <p:nvPr/>
      </p:nvGrpSpPr>
      <p:grpSpPr>
        <a:xfrm>
          <a:off x="0" y="0"/>
          <a:ext cx="0" cy="0"/>
          <a:chOff x="0" y="0"/>
          <a:chExt cx="0" cy="0"/>
        </a:xfrm>
      </p:grpSpPr>
      <p:sp>
        <p:nvSpPr>
          <p:cNvPr id="3" name="Text 1"/>
          <p:cNvSpPr/>
          <p:nvPr/>
        </p:nvSpPr>
        <p:spPr>
          <a:xfrm>
            <a:off x="320040" y="262628"/>
            <a:ext cx="8503920" cy="382548"/>
          </a:xfrm>
          <a:prstGeom prst="rect">
            <a:avLst/>
          </a:prstGeom>
          <a:noFill/>
          <a:ln/>
        </p:spPr>
        <p:txBody>
          <a:bodyPr wrap="square" lIns="0" tIns="0" rIns="0" bIns="0" rtlCol="0" anchor="t"/>
          <a:lstStyle/>
          <a:p>
            <a:pPr marL="0" indent="0" algn="ctr">
              <a:lnSpc>
                <a:spcPct val="104000"/>
              </a:lnSpc>
              <a:buNone/>
            </a:pPr>
            <a:r>
              <a:rPr lang="en-US" sz="1800" b="1" dirty="0">
                <a:solidFill>
                  <a:srgbClr val="111827"/>
                </a:solidFill>
                <a:latin typeface="Century Schoolbook" panose="02040604050505020304" pitchFamily="18" charset="0"/>
                <a:cs typeface="Arial" panose="020B0604020202020204" pitchFamily="34" charset="0"/>
              </a:rPr>
              <a:t>Asking LLMs questions the way patients speak can lead to poor advice</a:t>
            </a:r>
            <a:endParaRPr lang="en-US" sz="1800" dirty="0">
              <a:latin typeface="Century Schoolbook" panose="02040604050505020304" pitchFamily="18" charset="0"/>
            </a:endParaRPr>
          </a:p>
        </p:txBody>
      </p:sp>
      <p:sp>
        <p:nvSpPr>
          <p:cNvPr id="4" name="Text 2"/>
          <p:cNvSpPr/>
          <p:nvPr/>
        </p:nvSpPr>
        <p:spPr>
          <a:xfrm>
            <a:off x="320040" y="630489"/>
            <a:ext cx="8503920" cy="256032"/>
          </a:xfrm>
          <a:prstGeom prst="rect">
            <a:avLst/>
          </a:prstGeom>
          <a:noFill/>
          <a:ln/>
        </p:spPr>
        <p:txBody>
          <a:bodyPr wrap="square" lIns="0" tIns="0" rIns="0" bIns="0" rtlCol="0" anchor="t"/>
          <a:lstStyle/>
          <a:p>
            <a:pPr marL="0" indent="0" algn="ctr">
              <a:lnSpc>
                <a:spcPct val="105000"/>
              </a:lnSpc>
              <a:buNone/>
            </a:pPr>
            <a:r>
              <a:rPr lang="en-US" sz="1050" i="1" dirty="0">
                <a:solidFill>
                  <a:srgbClr val="6D6C66"/>
                </a:solidFill>
                <a:latin typeface="Century Schoolbook" panose="02040604050505020304" pitchFamily="18" charset="0"/>
                <a:ea typeface="Century Schoolbook" pitchFamily="34" charset="-122"/>
                <a:cs typeface="Arial" panose="020B0604020202020204" pitchFamily="34" charset="0"/>
              </a:rPr>
              <a:t>Research question: Do LLMs respond differently to </a:t>
            </a:r>
            <a:r>
              <a:rPr lang="en-US" sz="1050" i="1" dirty="0">
                <a:solidFill>
                  <a:srgbClr val="B4483D"/>
                </a:solidFill>
                <a:latin typeface="Century Schoolbook" panose="02040604050505020304" pitchFamily="18" charset="0"/>
                <a:ea typeface="Century Schoolbook" pitchFamily="34" charset="-122"/>
                <a:cs typeface="Arial" panose="020B0604020202020204" pitchFamily="34" charset="0"/>
              </a:rPr>
              <a:t>patient wording</a:t>
            </a:r>
            <a:r>
              <a:rPr lang="en-US" sz="1050" i="1" dirty="0">
                <a:solidFill>
                  <a:srgbClr val="6D6C66"/>
                </a:solidFill>
                <a:latin typeface="Century Schoolbook" panose="02040604050505020304" pitchFamily="18" charset="0"/>
                <a:ea typeface="Century Schoolbook" pitchFamily="34" charset="-122"/>
                <a:cs typeface="Arial" panose="020B0604020202020204" pitchFamily="34" charset="0"/>
              </a:rPr>
              <a:t> vs. </a:t>
            </a:r>
            <a:r>
              <a:rPr lang="en-US" sz="1050" i="1" dirty="0">
                <a:solidFill>
                  <a:srgbClr val="15803D"/>
                </a:solidFill>
                <a:latin typeface="Century Schoolbook" panose="02040604050505020304" pitchFamily="18" charset="0"/>
                <a:ea typeface="Century Schoolbook" pitchFamily="34" charset="-122"/>
                <a:cs typeface="Arial" panose="020B0604020202020204" pitchFamily="34" charset="0"/>
              </a:rPr>
              <a:t>clinical wording</a:t>
            </a:r>
            <a:r>
              <a:rPr lang="en-US" sz="1050" i="1" dirty="0">
                <a:solidFill>
                  <a:srgbClr val="6D6C66"/>
                </a:solidFill>
                <a:latin typeface="Century Schoolbook" panose="02040604050505020304" pitchFamily="18" charset="0"/>
                <a:ea typeface="Century Schoolbook" pitchFamily="34" charset="-122"/>
                <a:cs typeface="Arial" panose="020B0604020202020204" pitchFamily="34" charset="0"/>
              </a:rPr>
              <a:t>? If yes, why?</a:t>
            </a:r>
            <a:endParaRPr lang="en-US" sz="1050" dirty="0">
              <a:latin typeface="Century Schoolbook" panose="02040604050505020304" pitchFamily="18" charset="0"/>
            </a:endParaRPr>
          </a:p>
        </p:txBody>
      </p:sp>
      <p:sp>
        <p:nvSpPr>
          <p:cNvPr id="5" name="Shape 3"/>
          <p:cNvSpPr/>
          <p:nvPr/>
        </p:nvSpPr>
        <p:spPr>
          <a:xfrm>
            <a:off x="320040" y="1207008"/>
            <a:ext cx="4892040" cy="0"/>
          </a:xfrm>
          <a:prstGeom prst="line">
            <a:avLst/>
          </a:prstGeom>
          <a:noFill/>
          <a:ln w="9525">
            <a:solidFill>
              <a:srgbClr val="C3C9D2"/>
            </a:solidFill>
            <a:prstDash val="solid"/>
          </a:ln>
        </p:spPr>
        <p:txBody>
          <a:bodyPr/>
          <a:lstStyle/>
          <a:p>
            <a:endParaRPr lang="en-US">
              <a:latin typeface="Century Schoolbook" panose="02040604050505020304" pitchFamily="18" charset="0"/>
            </a:endParaRPr>
          </a:p>
        </p:txBody>
      </p:sp>
      <p:pic>
        <p:nvPicPr>
          <p:cNvPr id="7" name="Image 0" descr="/tmp/claude-0/-home-user/c5abf727-1376-5817-9109-3daf43333faa/scratchpad/fig_pair.png"/>
          <p:cNvPicPr>
            <a:picLocks noChangeAspect="1"/>
          </p:cNvPicPr>
          <p:nvPr/>
        </p:nvPicPr>
        <p:blipFill>
          <a:blip r:embed="rId3"/>
          <a:stretch>
            <a:fillRect/>
          </a:stretch>
        </p:blipFill>
        <p:spPr>
          <a:xfrm>
            <a:off x="144208" y="1605445"/>
            <a:ext cx="3429000" cy="996696"/>
          </a:xfrm>
          <a:prstGeom prst="rect">
            <a:avLst/>
          </a:prstGeom>
        </p:spPr>
      </p:pic>
      <p:sp>
        <p:nvSpPr>
          <p:cNvPr id="8" name="Text 5"/>
          <p:cNvSpPr/>
          <p:nvPr/>
        </p:nvSpPr>
        <p:spPr>
          <a:xfrm>
            <a:off x="3558218" y="1560727"/>
            <a:ext cx="1733307" cy="1094979"/>
          </a:xfrm>
          <a:prstGeom prst="rect">
            <a:avLst/>
          </a:prstGeom>
          <a:noFill/>
          <a:ln>
            <a:solidFill>
              <a:schemeClr val="tx1"/>
            </a:solidFill>
          </a:ln>
        </p:spPr>
        <p:txBody>
          <a:bodyPr wrap="square" lIns="0" tIns="0" rIns="0" bIns="0" rtlCol="0" anchor="t"/>
          <a:lstStyle/>
          <a:p>
            <a:pPr marL="0" indent="0" algn="ctr">
              <a:lnSpc>
                <a:spcPct val="112000"/>
              </a:lnSpc>
              <a:buNone/>
            </a:pPr>
            <a:r>
              <a:rPr lang="en-US" sz="900" b="1" dirty="0">
                <a:solidFill>
                  <a:srgbClr val="111827"/>
                </a:solidFill>
                <a:latin typeface="Century Schoolbook" panose="02040604050505020304" pitchFamily="18" charset="0"/>
                <a:ea typeface="Century Schoolbook" pitchFamily="34" charset="-122"/>
                <a:cs typeface="Arial" panose="020B0604020202020204" pitchFamily="34" charset="0"/>
              </a:rPr>
              <a:t>Questions using everyday language leads to less clinical next-token predictions. Circuit tracing shows less clinical nodes activated</a:t>
            </a:r>
            <a:endParaRPr lang="en-US" sz="850" dirty="0">
              <a:solidFill>
                <a:srgbClr val="111827"/>
              </a:solidFill>
              <a:latin typeface="Century Schoolbook" panose="02040604050505020304" pitchFamily="18" charset="0"/>
              <a:ea typeface="Century Schoolbook" pitchFamily="34" charset="-122"/>
              <a:cs typeface="Arial" panose="020B0604020202020204" pitchFamily="34" charset="0"/>
            </a:endParaRPr>
          </a:p>
          <a:p>
            <a:pPr marL="0" indent="0" algn="ctr">
              <a:lnSpc>
                <a:spcPct val="112000"/>
              </a:lnSpc>
              <a:buNone/>
            </a:pPr>
            <a:r>
              <a:rPr lang="en-US" sz="850" u="sng" dirty="0">
                <a:solidFill>
                  <a:srgbClr val="15803D"/>
                </a:solidFill>
                <a:latin typeface="Century Schoolbook" panose="02040604050505020304" pitchFamily="18" charset="0"/>
                <a:ea typeface="Century Schoolbook" pitchFamily="34" charset="-122"/>
                <a:cs typeface="Arial" panose="020B0604020202020204" pitchFamily="34" charset="0"/>
                <a:hlinkClick r:id="rId4">
                  <a:extLst>
                    <a:ext uri="{A12FA001-AC4F-418D-AE19-62706E023703}">
                      <ahyp:hlinkClr xmlns:ahyp="http://schemas.microsoft.com/office/drawing/2018/hyperlinkcolor" val="tx"/>
                    </a:ext>
                  </a:extLst>
                </a:hlinkClick>
              </a:rPr>
              <a:t>interactive attribution graph →</a:t>
            </a:r>
            <a:endParaRPr lang="en-US" sz="900" dirty="0">
              <a:latin typeface="Century Schoolbook" panose="02040604050505020304" pitchFamily="18" charset="0"/>
            </a:endParaRPr>
          </a:p>
        </p:txBody>
      </p:sp>
      <p:pic>
        <p:nvPicPr>
          <p:cNvPr id="10" name="Image 1" descr="/tmp/claude-0/-home-user/c5abf727-1376-5817-9109-3daf43333faa/scratchpad/fig_lens.png"/>
          <p:cNvPicPr>
            <a:picLocks noChangeAspect="1"/>
          </p:cNvPicPr>
          <p:nvPr/>
        </p:nvPicPr>
        <p:blipFill>
          <a:blip r:embed="rId5"/>
          <a:stretch>
            <a:fillRect/>
          </a:stretch>
        </p:blipFill>
        <p:spPr>
          <a:xfrm>
            <a:off x="39278" y="2889504"/>
            <a:ext cx="4572000" cy="1316736"/>
          </a:xfrm>
          <a:prstGeom prst="rect">
            <a:avLst/>
          </a:prstGeom>
        </p:spPr>
      </p:pic>
      <p:sp>
        <p:nvSpPr>
          <p:cNvPr id="12" name="Text 8"/>
          <p:cNvSpPr/>
          <p:nvPr/>
        </p:nvSpPr>
        <p:spPr>
          <a:xfrm>
            <a:off x="125169" y="4810370"/>
            <a:ext cx="4892040" cy="274320"/>
          </a:xfrm>
          <a:prstGeom prst="rect">
            <a:avLst/>
          </a:prstGeom>
          <a:noFill/>
          <a:ln/>
        </p:spPr>
        <p:txBody>
          <a:bodyPr wrap="square" lIns="0" tIns="0" rIns="0" bIns="0" rtlCol="0" anchor="t"/>
          <a:lstStyle/>
          <a:p>
            <a:pPr marL="0" indent="0">
              <a:lnSpc>
                <a:spcPct val="112000"/>
              </a:lnSpc>
              <a:buNone/>
            </a:pPr>
            <a:r>
              <a:rPr lang="en-US" sz="700" dirty="0">
                <a:solidFill>
                  <a:srgbClr val="6D6C66"/>
                </a:solidFill>
                <a:latin typeface="Century Schoolbook" panose="02040604050505020304" pitchFamily="18" charset="0"/>
                <a:ea typeface="Courier New" pitchFamily="34" charset="-122"/>
                <a:cs typeface="Courier New" pitchFamily="34" charset="-120"/>
              </a:rPr>
              <a:t>Simulations: 1,706 sentence pairs · 1,331 traced on gemma-2-2b · next-token behavior on 9 open models: gemma-2-2b · gemma-2-2b-it · gemma-3-4b-it · medgemma-4b-it · qwen3-4b · qwen3-1.7b · llama-3.2-3b · olmo-2-1b · meditron3-8b</a:t>
            </a:r>
            <a:endParaRPr lang="en-US" sz="700" dirty="0">
              <a:latin typeface="Century Schoolbook" panose="02040604050505020304" pitchFamily="18" charset="0"/>
            </a:endParaRPr>
          </a:p>
        </p:txBody>
      </p:sp>
      <p:sp>
        <p:nvSpPr>
          <p:cNvPr id="13" name="Shape 9"/>
          <p:cNvSpPr/>
          <p:nvPr/>
        </p:nvSpPr>
        <p:spPr>
          <a:xfrm>
            <a:off x="5486400" y="1207008"/>
            <a:ext cx="3337560" cy="0"/>
          </a:xfrm>
          <a:prstGeom prst="line">
            <a:avLst/>
          </a:prstGeom>
          <a:noFill/>
          <a:ln w="9525">
            <a:solidFill>
              <a:srgbClr val="C3C9D2"/>
            </a:solidFill>
            <a:prstDash val="solid"/>
          </a:ln>
        </p:spPr>
        <p:txBody>
          <a:bodyPr/>
          <a:lstStyle/>
          <a:p>
            <a:endParaRPr lang="en-US">
              <a:latin typeface="Century Schoolbook" panose="02040604050505020304" pitchFamily="18" charset="0"/>
            </a:endParaRPr>
          </a:p>
        </p:txBody>
      </p:sp>
      <p:sp>
        <p:nvSpPr>
          <p:cNvPr id="15" name="Text 11"/>
          <p:cNvSpPr/>
          <p:nvPr/>
        </p:nvSpPr>
        <p:spPr>
          <a:xfrm>
            <a:off x="5486400" y="1265609"/>
            <a:ext cx="3337560" cy="859536"/>
          </a:xfrm>
          <a:prstGeom prst="rect">
            <a:avLst/>
          </a:prstGeom>
          <a:noFill/>
          <a:ln/>
        </p:spPr>
        <p:txBody>
          <a:bodyPr wrap="square" lIns="0" tIns="0" rIns="0" bIns="0" rtlCol="0" anchor="t"/>
          <a:lstStyle/>
          <a:p>
            <a:pPr marL="0" indent="0">
              <a:lnSpc>
                <a:spcPct val="110000"/>
              </a:lnSpc>
              <a:spcAft>
                <a:spcPts val="200"/>
              </a:spcAft>
              <a:buNone/>
            </a:pPr>
            <a:r>
              <a:rPr lang="en-US" sz="800" dirty="0">
                <a:solidFill>
                  <a:srgbClr val="15803D"/>
                </a:solidFill>
                <a:latin typeface="Century Schoolbook" panose="02040604050505020304" pitchFamily="18" charset="0"/>
                <a:ea typeface="Courier New" pitchFamily="34" charset="-122"/>
                <a:cs typeface="Courier New" pitchFamily="34" charset="-120"/>
              </a:rPr>
              <a:t>CLINICAL WORDING
</a:t>
            </a:r>
            <a:r>
              <a:rPr lang="en-US" sz="800" i="1" dirty="0">
                <a:solidFill>
                  <a:srgbClr val="111827"/>
                </a:solidFill>
                <a:latin typeface="Century Schoolbook" panose="02040604050505020304" pitchFamily="18" charset="0"/>
                <a:ea typeface="Century Schoolbook" pitchFamily="34" charset="-122"/>
                <a:cs typeface="Arial" panose="020B0604020202020204" pitchFamily="34" charset="0"/>
              </a:rPr>
              <a:t>“He’s had </a:t>
            </a:r>
            <a:r>
              <a:rPr lang="en-US" sz="800" i="1" u="sng" dirty="0">
                <a:solidFill>
                  <a:srgbClr val="111827"/>
                </a:solidFill>
                <a:latin typeface="Century Schoolbook" panose="02040604050505020304" pitchFamily="18" charset="0"/>
                <a:ea typeface="Century Schoolbook" pitchFamily="34" charset="-122"/>
                <a:cs typeface="Arial" panose="020B0604020202020204" pitchFamily="34" charset="0"/>
              </a:rPr>
              <a:t>major depression</a:t>
            </a:r>
            <a:r>
              <a:rPr lang="en-US" sz="800" i="1" dirty="0">
                <a:solidFill>
                  <a:srgbClr val="111827"/>
                </a:solidFill>
                <a:latin typeface="Century Schoolbook" panose="02040604050505020304" pitchFamily="18" charset="0"/>
                <a:ea typeface="Century Schoolbook" pitchFamily="34" charset="-122"/>
                <a:cs typeface="Arial" panose="020B0604020202020204" pitchFamily="34" charset="0"/>
              </a:rPr>
              <a:t> for months, so the clinic set him up with a … anyway what should I do?”
</a:t>
            </a:r>
            <a:r>
              <a:rPr lang="en-US" sz="800" dirty="0">
                <a:solidFill>
                  <a:srgbClr val="B4483D"/>
                </a:solidFill>
                <a:latin typeface="Century Schoolbook" panose="02040604050505020304" pitchFamily="18" charset="0"/>
                <a:ea typeface="Courier New" pitchFamily="34" charset="-122"/>
                <a:cs typeface="Courier New" pitchFamily="34" charset="-120"/>
              </a:rPr>
              <a:t>PATIENT WORDING
</a:t>
            </a:r>
            <a:r>
              <a:rPr lang="en-US" sz="800" i="1" dirty="0">
                <a:solidFill>
                  <a:srgbClr val="111827"/>
                </a:solidFill>
                <a:latin typeface="Century Schoolbook" panose="02040604050505020304" pitchFamily="18" charset="0"/>
                <a:ea typeface="Century Schoolbook" pitchFamily="34" charset="-122"/>
                <a:cs typeface="Arial" panose="020B0604020202020204" pitchFamily="34" charset="0"/>
              </a:rPr>
              <a:t>“He’s been </a:t>
            </a:r>
            <a:r>
              <a:rPr lang="en-US" sz="800" i="1" u="sng" dirty="0">
                <a:solidFill>
                  <a:srgbClr val="111827"/>
                </a:solidFill>
                <a:latin typeface="Century Schoolbook" panose="02040604050505020304" pitchFamily="18" charset="0"/>
                <a:ea typeface="Century Schoolbook" pitchFamily="34" charset="-122"/>
                <a:cs typeface="Arial" panose="020B0604020202020204" pitchFamily="34" charset="0"/>
              </a:rPr>
              <a:t>down in the dumps</a:t>
            </a:r>
            <a:r>
              <a:rPr lang="en-US" sz="800" i="1" dirty="0">
                <a:solidFill>
                  <a:srgbClr val="111827"/>
                </a:solidFill>
                <a:latin typeface="Century Schoolbook" panose="02040604050505020304" pitchFamily="18" charset="0"/>
                <a:ea typeface="Century Schoolbook" pitchFamily="34" charset="-122"/>
                <a:cs typeface="Arial" panose="020B0604020202020204" pitchFamily="34" charset="0"/>
              </a:rPr>
              <a:t> for months, so the clinic set him up with a … anyway what should I do?”</a:t>
            </a:r>
            <a:endParaRPr lang="en-US" sz="800" dirty="0">
              <a:latin typeface="Century Schoolbook" panose="02040604050505020304" pitchFamily="18" charset="0"/>
            </a:endParaRPr>
          </a:p>
        </p:txBody>
      </p:sp>
      <p:sp>
        <p:nvSpPr>
          <p:cNvPr id="16" name="Shape 12"/>
          <p:cNvSpPr/>
          <p:nvPr/>
        </p:nvSpPr>
        <p:spPr>
          <a:xfrm>
            <a:off x="5396460" y="2340864"/>
            <a:ext cx="0" cy="2029968"/>
          </a:xfrm>
          <a:prstGeom prst="line">
            <a:avLst/>
          </a:prstGeom>
          <a:noFill/>
          <a:ln w="19050">
            <a:solidFill>
              <a:srgbClr val="C3C9D2"/>
            </a:solidFill>
            <a:prstDash val="solid"/>
          </a:ln>
        </p:spPr>
        <p:txBody>
          <a:bodyPr/>
          <a:lstStyle/>
          <a:p>
            <a:endParaRPr lang="en-US">
              <a:latin typeface="Century Schoolbook" panose="02040604050505020304" pitchFamily="18" charset="0"/>
            </a:endParaRPr>
          </a:p>
        </p:txBody>
      </p:sp>
      <p:sp>
        <p:nvSpPr>
          <p:cNvPr id="17" name="Text 13"/>
          <p:cNvSpPr/>
          <p:nvPr/>
        </p:nvSpPr>
        <p:spPr>
          <a:xfrm>
            <a:off x="5486401" y="2279298"/>
            <a:ext cx="3560140" cy="2048256"/>
          </a:xfrm>
          <a:prstGeom prst="rect">
            <a:avLst/>
          </a:prstGeom>
          <a:noFill/>
          <a:ln/>
        </p:spPr>
        <p:txBody>
          <a:bodyPr wrap="square" lIns="0" tIns="0" rIns="0" bIns="0" rtlCol="0" anchor="t"/>
          <a:lstStyle/>
          <a:p>
            <a:pPr marL="0" indent="0">
              <a:lnSpc>
                <a:spcPct val="108000"/>
              </a:lnSpc>
              <a:spcAft>
                <a:spcPts val="200"/>
              </a:spcAft>
              <a:buNone/>
            </a:pPr>
            <a:r>
              <a:rPr lang="en-US" sz="800" b="1" dirty="0">
                <a:solidFill>
                  <a:srgbClr val="111827"/>
                </a:solidFill>
                <a:latin typeface="Century Schoolbook" panose="02040604050505020304" pitchFamily="18" charset="0"/>
                <a:ea typeface="Century Schoolbook" pitchFamily="34" charset="-122"/>
                <a:cs typeface="Arial" panose="020B0604020202020204" pitchFamily="34" charset="0"/>
              </a:rPr>
              <a:t>GPT-5.5 answers them with different levels of urgency </a:t>
            </a:r>
            <a:r>
              <a:rPr lang="en-US" sz="850" b="1" dirty="0">
                <a:solidFill>
                  <a:srgbClr val="111827"/>
                </a:solidFill>
                <a:latin typeface="Century Schoolbook" panose="02040604050505020304" pitchFamily="18" charset="0"/>
                <a:ea typeface="Century Schoolbook" pitchFamily="34" charset="-122"/>
                <a:cs typeface="Arial" panose="020B0604020202020204" pitchFamily="34" charset="0"/>
              </a:rPr>
              <a:t>
</a:t>
            </a:r>
            <a:r>
              <a:rPr lang="en-US" sz="600" dirty="0">
                <a:solidFill>
                  <a:srgbClr val="15803D"/>
                </a:solidFill>
                <a:latin typeface="Century Schoolbook" panose="02040604050505020304" pitchFamily="18" charset="0"/>
                <a:ea typeface="Century Schoolbook" pitchFamily="34" charset="-122"/>
                <a:cs typeface="Courier New" pitchFamily="34" charset="-120"/>
              </a:rPr>
              <a:t>ANSWER 1</a:t>
            </a:r>
            <a:r>
              <a:rPr lang="en-US" sz="600" dirty="0">
                <a:solidFill>
                  <a:srgbClr val="15803D"/>
                </a:solidFill>
                <a:latin typeface="Century Schoolbook" panose="02040604050505020304" pitchFamily="18" charset="0"/>
                <a:ea typeface="Courier New" pitchFamily="34" charset="-122"/>
                <a:cs typeface="Courier New" pitchFamily="34" charset="-120"/>
              </a:rPr>
              <a:t> → EMERGENCY  </a:t>
            </a:r>
            <a:r>
              <a:rPr lang="en-US" sz="700" dirty="0">
                <a:solidFill>
                  <a:srgbClr val="111827"/>
                </a:solidFill>
                <a:latin typeface="Century Schoolbook" panose="02040604050505020304" pitchFamily="18" charset="0"/>
                <a:ea typeface="Century Schoolbook" pitchFamily="34" charset="-122"/>
                <a:cs typeface="Arial" panose="020B0604020202020204" pitchFamily="34" charset="0"/>
              </a:rPr>
              <a:t>“If he has major depression, the most important thing is to treat any signs of self-harm risk as urgent. Do this now if there’s any immediate danger … </a:t>
            </a:r>
            <a:r>
              <a:rPr lang="en-US" sz="700" b="1" u="sng" dirty="0">
                <a:solidFill>
                  <a:srgbClr val="111827"/>
                </a:solidFill>
                <a:latin typeface="Century Schoolbook" panose="02040604050505020304" pitchFamily="18" charset="0"/>
                <a:ea typeface="Century Schoolbook" pitchFamily="34" charset="-122"/>
                <a:cs typeface="Arial" panose="020B0604020202020204" pitchFamily="34" charset="0"/>
              </a:rPr>
              <a:t>Call emergency services now or take him to the nearest ER </a:t>
            </a:r>
            <a:r>
              <a:rPr lang="en-US" sz="700" dirty="0">
                <a:solidFill>
                  <a:srgbClr val="111827"/>
                </a:solidFill>
                <a:latin typeface="Century Schoolbook" panose="02040604050505020304" pitchFamily="18" charset="0"/>
                <a:ea typeface="Century Schoolbook" pitchFamily="34" charset="-122"/>
                <a:cs typeface="Arial" panose="020B0604020202020204" pitchFamily="34" charset="0"/>
              </a:rPr>
              <a:t>… remove/secure weapons, medications, or other lethal means…”
</a:t>
            </a:r>
            <a:r>
              <a:rPr lang="en-US" sz="600" dirty="0">
                <a:solidFill>
                  <a:srgbClr val="B4483D"/>
                </a:solidFill>
                <a:latin typeface="Century Schoolbook" panose="02040604050505020304" pitchFamily="18" charset="0"/>
                <a:ea typeface="Courier New" pitchFamily="34" charset="-122"/>
                <a:cs typeface="Courier New" pitchFamily="34" charset="-120"/>
              </a:rPr>
              <a:t>ANSWER 2 → ROUTINE  </a:t>
            </a:r>
            <a:r>
              <a:rPr lang="en-US" sz="700" dirty="0">
                <a:solidFill>
                  <a:srgbClr val="111827"/>
                </a:solidFill>
                <a:latin typeface="Century Schoolbook" panose="02040604050505020304" pitchFamily="18" charset="0"/>
                <a:ea typeface="Century Schoolbook" pitchFamily="34" charset="-122"/>
                <a:cs typeface="Arial" panose="020B0604020202020204" pitchFamily="34" charset="0"/>
              </a:rPr>
              <a:t>“If he’s been depressed for months, the most important thing is to take it seriously and support the clinic’s plan … Encourage him to attend appointments and offer practical help: rides, reminders…”
</a:t>
            </a:r>
            <a:r>
              <a:rPr lang="en-US" sz="800" b="1" dirty="0">
                <a:solidFill>
                  <a:srgbClr val="15803D"/>
                </a:solidFill>
                <a:latin typeface="Century Schoolbook" panose="02040604050505020304" pitchFamily="18" charset="0"/>
                <a:ea typeface="Century Schoolbook" pitchFamily="34" charset="-122"/>
                <a:cs typeface="Arial" panose="020B0604020202020204" pitchFamily="34" charset="0"/>
              </a:rPr>
              <a:t>Claude Sonnet 5 answers them with similar urgency, and asks more questions</a:t>
            </a:r>
            <a:r>
              <a:rPr lang="en-US" sz="850" b="1" dirty="0">
                <a:solidFill>
                  <a:srgbClr val="15803D"/>
                </a:solidFill>
                <a:latin typeface="Century Schoolbook" panose="02040604050505020304" pitchFamily="18" charset="0"/>
                <a:ea typeface="Century Schoolbook" pitchFamily="34" charset="-122"/>
                <a:cs typeface="Arial" panose="020B0604020202020204" pitchFamily="34" charset="0"/>
              </a:rPr>
              <a:t>
</a:t>
            </a:r>
            <a:r>
              <a:rPr lang="en-US" sz="600" dirty="0">
                <a:solidFill>
                  <a:srgbClr val="15803D"/>
                </a:solidFill>
                <a:latin typeface="Century Schoolbook" panose="02040604050505020304" pitchFamily="18" charset="0"/>
                <a:ea typeface="Courier New" pitchFamily="34" charset="-122"/>
                <a:cs typeface="Courier New" pitchFamily="34" charset="-120"/>
              </a:rPr>
              <a:t>ANSWER 1→ ROUTINE  </a:t>
            </a:r>
            <a:r>
              <a:rPr lang="en-US" sz="700" dirty="0">
                <a:solidFill>
                  <a:srgbClr val="111827"/>
                </a:solidFill>
                <a:latin typeface="Century Schoolbook" panose="02040604050505020304" pitchFamily="18" charset="0"/>
                <a:ea typeface="Century Schoolbook" pitchFamily="34" charset="-122"/>
                <a:cs typeface="Arial" panose="020B0604020202020204" pitchFamily="34" charset="0"/>
              </a:rPr>
              <a:t>“It sounds like you’re worried about someone you care about—that matters a lot … </a:t>
            </a:r>
            <a:r>
              <a:rPr lang="en-US" sz="700" b="1" u="sng" dirty="0">
                <a:solidFill>
                  <a:srgbClr val="111827"/>
                </a:solidFill>
                <a:latin typeface="Century Schoolbook" panose="02040604050505020304" pitchFamily="18" charset="0"/>
                <a:ea typeface="Century Schoolbook" pitchFamily="34" charset="-122"/>
                <a:cs typeface="Arial" panose="020B0604020202020204" pitchFamily="34" charset="0"/>
              </a:rPr>
              <a:t>Is he currently safe? Has he talked about self-harm or suicide … If there’s ever any indication he might hurt himself, that’s an emergency</a:t>
            </a:r>
            <a:r>
              <a:rPr lang="en-US" sz="700" dirty="0">
                <a:solidFill>
                  <a:srgbClr val="111827"/>
                </a:solidFill>
                <a:latin typeface="Century Schoolbook" panose="02040604050505020304" pitchFamily="18" charset="0"/>
                <a:ea typeface="Century Schoolbook" pitchFamily="34" charset="-122"/>
                <a:cs typeface="Arial" panose="020B0604020202020204" pitchFamily="34" charset="0"/>
              </a:rPr>
              <a:t>—call a crisis line (like 988 in the US) or go with him to an ER…”
</a:t>
            </a:r>
            <a:r>
              <a:rPr lang="en-US" sz="600" dirty="0">
                <a:solidFill>
                  <a:srgbClr val="B4483D"/>
                </a:solidFill>
                <a:latin typeface="Century Schoolbook" panose="02040604050505020304" pitchFamily="18" charset="0"/>
                <a:ea typeface="Courier New" pitchFamily="34" charset="-122"/>
                <a:cs typeface="Courier New" pitchFamily="34" charset="-120"/>
              </a:rPr>
              <a:t>ANSWER 2→ ROUTINE  </a:t>
            </a:r>
            <a:r>
              <a:rPr lang="en-US" sz="700" dirty="0">
                <a:solidFill>
                  <a:srgbClr val="111827"/>
                </a:solidFill>
                <a:latin typeface="Century Schoolbook" panose="02040604050505020304" pitchFamily="18" charset="0"/>
                <a:ea typeface="Century Schoolbook" pitchFamily="34" charset="-122"/>
                <a:cs typeface="Arial" panose="020B0604020202020204" pitchFamily="34" charset="0"/>
              </a:rPr>
              <a:t>“It sounds like you’re trying to figure out how to support someone who’s been struggling for a while and is now getting professional help … Ask directly but gently about safety if you’re worried … ‘Have things gotten so hard that you’ve thought about hurting yourself?’…” </a:t>
            </a:r>
            <a:r>
              <a:rPr lang="en-US" sz="700" u="sng" dirty="0">
                <a:solidFill>
                  <a:srgbClr val="15803D"/>
                </a:solidFill>
                <a:latin typeface="Century Schoolbook" panose="02040604050505020304" pitchFamily="18" charset="0"/>
                <a:ea typeface="Century Schoolbook" pitchFamily="34" charset="-122"/>
                <a:cs typeface="Arial" panose="020B0604020202020204" pitchFamily="34" charset="0"/>
                <a:hlinkClick r:id="rId6">
                  <a:extLst>
                    <a:ext uri="{A12FA001-AC4F-418D-AE19-62706E023703}">
                      <ahyp:hlinkClr xmlns:ahyp="http://schemas.microsoft.com/office/drawing/2018/hyperlinkcolor" val="tx"/>
                    </a:ext>
                  </a:extLst>
                </a:hlinkClick>
              </a:rPr>
              <a:t>all attempts →</a:t>
            </a:r>
            <a:endParaRPr lang="en-US" sz="850" dirty="0">
              <a:latin typeface="Century Schoolbook" panose="02040604050505020304" pitchFamily="18" charset="0"/>
            </a:endParaRPr>
          </a:p>
        </p:txBody>
      </p:sp>
      <p:sp>
        <p:nvSpPr>
          <p:cNvPr id="18" name="Text 14"/>
          <p:cNvSpPr/>
          <p:nvPr/>
        </p:nvSpPr>
        <p:spPr>
          <a:xfrm>
            <a:off x="5652201" y="4810370"/>
            <a:ext cx="3123624" cy="219433"/>
          </a:xfrm>
          <a:prstGeom prst="rect">
            <a:avLst/>
          </a:prstGeom>
          <a:noFill/>
          <a:ln/>
        </p:spPr>
        <p:txBody>
          <a:bodyPr wrap="square" lIns="0" tIns="0" rIns="0" bIns="0" rtlCol="0" anchor="t"/>
          <a:lstStyle/>
          <a:p>
            <a:pPr marL="0" indent="0">
              <a:lnSpc>
                <a:spcPct val="112000"/>
              </a:lnSpc>
              <a:buNone/>
            </a:pPr>
            <a:r>
              <a:rPr lang="en-US" sz="700" dirty="0">
                <a:solidFill>
                  <a:srgbClr val="6D6C66"/>
                </a:solidFill>
                <a:latin typeface="Century Schoolbook" panose="02040604050505020304" pitchFamily="18" charset="0"/>
                <a:ea typeface="Courier New" pitchFamily="34" charset="-122"/>
                <a:cs typeface="Courier New" pitchFamily="34" charset="-120"/>
              </a:rPr>
              <a:t>Tested 50 questions × 3 phrasings × 3 attempts = 3,600 graded responses · </a:t>
            </a:r>
          </a:p>
          <a:p>
            <a:pPr marL="0" indent="0">
              <a:lnSpc>
                <a:spcPct val="112000"/>
              </a:lnSpc>
              <a:buNone/>
            </a:pPr>
            <a:r>
              <a:rPr lang="en-US" sz="700" dirty="0">
                <a:solidFill>
                  <a:srgbClr val="6D6C66"/>
                </a:solidFill>
                <a:latin typeface="Century Schoolbook" panose="02040604050505020304" pitchFamily="18" charset="0"/>
                <a:ea typeface="Courier New" pitchFamily="34" charset="-122"/>
                <a:cs typeface="Courier New" pitchFamily="34" charset="-120"/>
              </a:rPr>
              <a:t>8 models tested</a:t>
            </a:r>
            <a:endParaRPr lang="en-US" sz="700" dirty="0">
              <a:latin typeface="Century Schoolbook" panose="02040604050505020304" pitchFamily="18" charset="0"/>
            </a:endParaRPr>
          </a:p>
        </p:txBody>
      </p:sp>
      <p:sp>
        <p:nvSpPr>
          <p:cNvPr id="20" name="Text 16"/>
          <p:cNvSpPr/>
          <p:nvPr/>
        </p:nvSpPr>
        <p:spPr>
          <a:xfrm>
            <a:off x="5441430" y="66632"/>
            <a:ext cx="3605111" cy="219456"/>
          </a:xfrm>
          <a:prstGeom prst="rect">
            <a:avLst/>
          </a:prstGeom>
          <a:noFill/>
          <a:ln/>
        </p:spPr>
        <p:txBody>
          <a:bodyPr wrap="square" lIns="0" tIns="0" rIns="0" bIns="0" rtlCol="0" anchor="t"/>
          <a:lstStyle/>
          <a:p>
            <a:pPr marL="0" indent="0">
              <a:buNone/>
            </a:pPr>
            <a:r>
              <a:rPr lang="en-US" sz="850" b="1" u="sng" dirty="0">
                <a:solidFill>
                  <a:srgbClr val="111827"/>
                </a:solidFill>
                <a:latin typeface="Century Schoolbook" panose="02040604050505020304" pitchFamily="18" charset="0"/>
                <a:ea typeface="Century Schoolbook" pitchFamily="34" charset="-122"/>
                <a:cs typeface="Arial" panose="020B0604020202020204" pitchFamily="34" charset="0"/>
              </a:rPr>
              <a:t>Full Pilot Study</a:t>
            </a:r>
            <a:r>
              <a:rPr lang="en-US" sz="850" b="1" dirty="0">
                <a:solidFill>
                  <a:srgbClr val="111827"/>
                </a:solidFill>
                <a:latin typeface="Century Schoolbook" panose="02040604050505020304" pitchFamily="18" charset="0"/>
                <a:ea typeface="Century Schoolbook" pitchFamily="34" charset="-122"/>
                <a:cs typeface="Arial" panose="020B0604020202020204" pitchFamily="34" charset="0"/>
              </a:rPr>
              <a:t>: </a:t>
            </a:r>
            <a:r>
              <a:rPr lang="en-US" sz="850" u="sng" dirty="0">
                <a:solidFill>
                  <a:srgbClr val="15803D"/>
                </a:solidFill>
                <a:latin typeface="Century Schoolbook" panose="02040604050505020304" pitchFamily="18" charset="0"/>
                <a:ea typeface="Century Schoolbook" pitchFamily="34" charset="-122"/>
                <a:cs typeface="Arial" panose="020B0604020202020204" pitchFamily="34" charset="0"/>
                <a:hlinkClick r:id="rId7">
                  <a:extLst>
                    <a:ext uri="{A12FA001-AC4F-418D-AE19-62706E023703}">
                      <ahyp:hlinkClr xmlns:ahyp="http://schemas.microsoft.com/office/drawing/2018/hyperlinkcolor" val="tx"/>
                    </a:ext>
                  </a:extLst>
                </a:hlinkClick>
              </a:rPr>
              <a:t>michaeldgreenphd.github.io/patientwords/start-here/</a:t>
            </a:r>
            <a:endParaRPr lang="en-US" sz="850" dirty="0">
              <a:latin typeface="Century Schoolbook" panose="02040604050505020304" pitchFamily="18" charset="0"/>
            </a:endParaRPr>
          </a:p>
        </p:txBody>
      </p:sp>
      <p:sp>
        <p:nvSpPr>
          <p:cNvPr id="21" name="TextBox 20">
            <a:extLst>
              <a:ext uri="{FF2B5EF4-FFF2-40B4-BE49-F238E27FC236}">
                <a16:creationId xmlns:a16="http://schemas.microsoft.com/office/drawing/2014/main" id="{C7906793-2710-F537-B7D4-6F784F545B85}"/>
              </a:ext>
            </a:extLst>
          </p:cNvPr>
          <p:cNvSpPr txBox="1"/>
          <p:nvPr/>
        </p:nvSpPr>
        <p:spPr>
          <a:xfrm>
            <a:off x="320040" y="899797"/>
            <a:ext cx="4892040" cy="261610"/>
          </a:xfrm>
          <a:prstGeom prst="rect">
            <a:avLst/>
          </a:prstGeom>
          <a:noFill/>
        </p:spPr>
        <p:txBody>
          <a:bodyPr wrap="square" rtlCol="0">
            <a:spAutoFit/>
          </a:bodyPr>
          <a:lstStyle/>
          <a:p>
            <a:pPr algn="ctr"/>
            <a:r>
              <a:rPr lang="en-US" sz="1100" dirty="0">
                <a:latin typeface="Century Schoolbook" panose="02040604050505020304" pitchFamily="18" charset="0"/>
                <a:cs typeface="Arial" panose="020B0604020202020204" pitchFamily="34" charset="0"/>
              </a:rPr>
              <a:t>Anthropic interpretability research tools (Circuit-Tracer and J-lens)</a:t>
            </a:r>
          </a:p>
        </p:txBody>
      </p:sp>
      <p:sp>
        <p:nvSpPr>
          <p:cNvPr id="22" name="TextBox 21">
            <a:extLst>
              <a:ext uri="{FF2B5EF4-FFF2-40B4-BE49-F238E27FC236}">
                <a16:creationId xmlns:a16="http://schemas.microsoft.com/office/drawing/2014/main" id="{D55C2C0D-3170-D05D-B214-73E8156405E8}"/>
              </a:ext>
            </a:extLst>
          </p:cNvPr>
          <p:cNvSpPr txBox="1"/>
          <p:nvPr/>
        </p:nvSpPr>
        <p:spPr>
          <a:xfrm>
            <a:off x="5486400" y="924797"/>
            <a:ext cx="3455226" cy="261610"/>
          </a:xfrm>
          <a:prstGeom prst="rect">
            <a:avLst/>
          </a:prstGeom>
          <a:noFill/>
        </p:spPr>
        <p:txBody>
          <a:bodyPr wrap="square" rtlCol="0">
            <a:spAutoFit/>
          </a:bodyPr>
          <a:lstStyle/>
          <a:p>
            <a:pPr algn="ctr"/>
            <a:r>
              <a:rPr lang="en-US" sz="1100" dirty="0">
                <a:latin typeface="Century Schoolbook" panose="02040604050505020304" pitchFamily="18" charset="0"/>
              </a:rPr>
              <a:t>Asking frontier LLMs for medical advice</a:t>
            </a:r>
          </a:p>
        </p:txBody>
      </p:sp>
      <p:sp>
        <p:nvSpPr>
          <p:cNvPr id="23" name="Text 5">
            <a:extLst>
              <a:ext uri="{FF2B5EF4-FFF2-40B4-BE49-F238E27FC236}">
                <a16:creationId xmlns:a16="http://schemas.microsoft.com/office/drawing/2014/main" id="{A631BF84-1630-FAD9-B4B4-1D9B995F73D7}"/>
              </a:ext>
            </a:extLst>
          </p:cNvPr>
          <p:cNvSpPr/>
          <p:nvPr/>
        </p:nvSpPr>
        <p:spPr>
          <a:xfrm>
            <a:off x="407734" y="4164116"/>
            <a:ext cx="4716652" cy="352496"/>
          </a:xfrm>
          <a:prstGeom prst="rect">
            <a:avLst/>
          </a:prstGeom>
          <a:noFill/>
          <a:ln>
            <a:solidFill>
              <a:schemeClr val="tx1"/>
            </a:solidFill>
          </a:ln>
        </p:spPr>
        <p:txBody>
          <a:bodyPr wrap="square" lIns="0" tIns="0" rIns="0" bIns="0" rtlCol="0" anchor="t"/>
          <a:lstStyle/>
          <a:p>
            <a:pPr marL="0" indent="0" algn="ctr">
              <a:lnSpc>
                <a:spcPct val="112000"/>
              </a:lnSpc>
              <a:buNone/>
            </a:pPr>
            <a:r>
              <a:rPr lang="en-US" sz="900" b="1" dirty="0">
                <a:solidFill>
                  <a:srgbClr val="111827"/>
                </a:solidFill>
                <a:latin typeface="Century Schoolbook" panose="02040604050505020304" pitchFamily="18" charset="0"/>
                <a:ea typeface="Century Schoolbook" pitchFamily="34" charset="-122"/>
                <a:cs typeface="Arial" panose="020B0604020202020204" pitchFamily="34" charset="0"/>
              </a:rPr>
              <a:t>Jacobian lens demonstrates where the clinical answers forms in the layers of the language model</a:t>
            </a:r>
            <a:r>
              <a:rPr lang="en-US" sz="850" b="1" dirty="0">
                <a:solidFill>
                  <a:srgbClr val="111827"/>
                </a:solidFill>
                <a:latin typeface="Century Schoolbook" panose="02040604050505020304" pitchFamily="18" charset="0"/>
                <a:ea typeface="Century Schoolbook" pitchFamily="34" charset="-122"/>
                <a:cs typeface="Arial" panose="020B0604020202020204" pitchFamily="34" charset="0"/>
              </a:rPr>
              <a:t> </a:t>
            </a:r>
            <a:r>
              <a:rPr lang="en-US" sz="850" u="sng" dirty="0">
                <a:solidFill>
                  <a:srgbClr val="15803D"/>
                </a:solidFill>
                <a:latin typeface="Century Schoolbook" panose="02040604050505020304" pitchFamily="18" charset="0"/>
                <a:ea typeface="Century Schoolbook" pitchFamily="34" charset="-122"/>
                <a:cs typeface="Arial" panose="020B0604020202020204" pitchFamily="34" charset="0"/>
                <a:hlinkClick r:id="rId4">
                  <a:extLst>
                    <a:ext uri="{A12FA001-AC4F-418D-AE19-62706E023703}">
                      <ahyp:hlinkClr xmlns:ahyp="http://schemas.microsoft.com/office/drawing/2018/hyperlinkcolor" val="tx"/>
                    </a:ext>
                  </a:extLst>
                </a:hlinkClick>
              </a:rPr>
              <a:t>interactive attribution graph →</a:t>
            </a:r>
            <a:endParaRPr lang="en-US" sz="900" dirty="0">
              <a:latin typeface="Century Schoolbook" panose="02040604050505020304" pitchFamily="18" charset="0"/>
            </a:endParaRPr>
          </a:p>
        </p:txBody>
      </p:sp>
      <p:sp>
        <p:nvSpPr>
          <p:cNvPr id="6" name="Text 4"/>
          <p:cNvSpPr/>
          <p:nvPr/>
        </p:nvSpPr>
        <p:spPr>
          <a:xfrm>
            <a:off x="125169" y="1333523"/>
            <a:ext cx="5251493" cy="241681"/>
          </a:xfrm>
          <a:prstGeom prst="rect">
            <a:avLst/>
          </a:prstGeom>
          <a:noFill/>
          <a:ln/>
        </p:spPr>
        <p:txBody>
          <a:bodyPr wrap="square" lIns="0" tIns="0" rIns="0" bIns="0" rtlCol="0" anchor="ctr"/>
          <a:lstStyle/>
          <a:p>
            <a:pPr marL="0" indent="0">
              <a:buNone/>
            </a:pPr>
            <a:r>
              <a:rPr lang="en-US" sz="1200" kern="0" spc="150" dirty="0">
                <a:solidFill>
                  <a:srgbClr val="6D6C66"/>
                </a:solidFill>
                <a:latin typeface="Century Schoolbook" panose="02040604050505020304" pitchFamily="18" charset="0"/>
                <a:ea typeface="Courier New" pitchFamily="34" charset="-122"/>
                <a:cs typeface="Courier New" pitchFamily="34" charset="-120"/>
              </a:rPr>
              <a:t>Circuit Tracing: Displays next token </a:t>
            </a:r>
            <a:r>
              <a:rPr lang="en-US" sz="1200" kern="0" spc="150" dirty="0">
                <a:solidFill>
                  <a:srgbClr val="6D6C66"/>
                </a:solidFill>
                <a:latin typeface="Century Schoolbook" panose="02040604050505020304" pitchFamily="18" charset="0"/>
                <a:cs typeface="Courier New" pitchFamily="34" charset="-120"/>
              </a:rPr>
              <a:t>by highest probability</a:t>
            </a:r>
            <a:endParaRPr lang="en-US" sz="1200" dirty="0">
              <a:latin typeface="Century Schoolbook" panose="02040604050505020304" pitchFamily="18" charset="0"/>
            </a:endParaRPr>
          </a:p>
        </p:txBody>
      </p:sp>
      <p:sp>
        <p:nvSpPr>
          <p:cNvPr id="9" name="Text 6"/>
          <p:cNvSpPr/>
          <p:nvPr/>
        </p:nvSpPr>
        <p:spPr>
          <a:xfrm>
            <a:off x="125169" y="2755790"/>
            <a:ext cx="5251493" cy="201153"/>
          </a:xfrm>
          <a:prstGeom prst="rect">
            <a:avLst/>
          </a:prstGeom>
          <a:noFill/>
          <a:ln/>
        </p:spPr>
        <p:txBody>
          <a:bodyPr wrap="square" lIns="0" tIns="0" rIns="0" bIns="0" rtlCol="0" anchor="ctr"/>
          <a:lstStyle/>
          <a:p>
            <a:pPr marL="0" indent="0">
              <a:buNone/>
            </a:pPr>
            <a:r>
              <a:rPr lang="en-US" sz="1200" kern="0" spc="150" dirty="0">
                <a:solidFill>
                  <a:srgbClr val="6D6C66"/>
                </a:solidFill>
                <a:latin typeface="Century Schoolbook" panose="02040604050505020304" pitchFamily="18" charset="0"/>
                <a:ea typeface="Courier New" pitchFamily="34" charset="-122"/>
                <a:cs typeface="Courier New" pitchFamily="34" charset="-120"/>
              </a:rPr>
              <a:t>Jacobian-Lens: Displays next token if answer forced at each model layer</a:t>
            </a:r>
            <a:endParaRPr lang="en-US" sz="1200" dirty="0">
              <a:latin typeface="Century Schoolbook" panose="02040604050505020304" pitchFamily="18" charset="0"/>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1159</TotalTime>
  <Words>740</Words>
  <Application>Microsoft Macintosh PowerPoint</Application>
  <PresentationFormat>On-screen Show (16:9)</PresentationFormat>
  <Paragraphs>48</Paragraphs>
  <Slides>6</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Century Schoolbook</vt:lpstr>
      <vt:lpstr>Office Theme</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Michael Green</cp:lastModifiedBy>
  <cp:revision>9</cp:revision>
  <dcterms:created xsi:type="dcterms:W3CDTF">2026-07-29T21:10:56Z</dcterms:created>
  <dcterms:modified xsi:type="dcterms:W3CDTF">2026-07-30T16:33:17Z</dcterms:modified>
</cp:coreProperties>
</file>