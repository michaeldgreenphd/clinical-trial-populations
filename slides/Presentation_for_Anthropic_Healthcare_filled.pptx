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0" r:id="rId2"/>
    <p:sldId id="261" r:id="rId3"/>
    <p:sldId id="259" r:id="rId4"/>
    <p:sldId id="258" r:id="rId5"/>
    <p:sldId id="257" r:id="rId6"/>
    <p:sldId id="256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9"/>
    <p:restoredTop sz="94610"/>
  </p:normalViewPr>
  <p:slideViewPr>
    <p:cSldViewPr snapToGrid="0" snapToObjects="1">
      <p:cViewPr varScale="1">
        <p:scale>
          <a:sx n="184" d="100"/>
          <a:sy n="184" d="100"/>
        </p:scale>
        <p:origin x="176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376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michaeldgreen.phd/" TargetMode="External"/><Relationship Id="rId3" Type="http://schemas.openxmlformats.org/officeDocument/2006/relationships/hyperlink" Target="http://github.com/michaeldgreenphd" TargetMode="External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hyperlink" Target="https://michaeldgreenphd.github.io/patientwords/modes/simulated/pairs_20260712T163501Z/index_11.html" TargetMode="External"/><Relationship Id="rId5" Type="http://schemas.openxmlformats.org/officeDocument/2006/relationships/image" Target="../media/image4.png"/><Relationship Id="rId6" Type="http://schemas.openxmlformats.org/officeDocument/2006/relationships/hyperlink" Target="https://michaeldgreenphd.github.io/patientwords/llm/#s16" TargetMode="External"/><Relationship Id="rId7" Type="http://schemas.openxmlformats.org/officeDocument/2006/relationships/hyperlink" Target="https://michaeldgreenphd.github.io/patientwords/start-her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C37DBA-0F22-3524-5237-761B3B1A10EA}"/>
              </a:ext>
            </a:extLst>
          </p:cNvPr>
          <p:cNvSpPr txBox="1"/>
          <p:nvPr/>
        </p:nvSpPr>
        <p:spPr>
          <a:xfrm>
            <a:off x="320040" y="265176"/>
            <a:ext cx="8503920" cy="384048"/>
          </a:xfrm>
          <a:prstGeom prst="rect">
            <a:avLst/>
          </a:prstGeom>
          <a:noFill/>
        </p:spPr>
        <p:txBody>
          <a:bodyPr wrap="square" rtlCol="0" lIns="0" tIns="0">
            <a:spAutoFit/>
          </a:bodyPr>
          <a:lstStyle/>
          <a:p>
            <a:r>
              <a:rPr lang="en-US" dirty="0" sz="1800" b="1">
                <a:solidFill>
                  <a:srgbClr val="111827"/>
                </a:solidFill>
                <a:latin typeface="Century Schoolbook"/>
              </a:rPr>
              <a:t>Conclusions from Civic Sample Project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0936"/>
            <a:ext cx="8503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 i="1">
                <a:solidFill>
                  <a:srgbClr val="6D6C66"/>
                </a:solidFill>
                <a:latin typeface="Century Schoolbook"/>
              </a:rPr>
              <a:t>Four demographic dimensions across </a:t>
            </a:r>
            <a:r>
              <a:rPr sz="1050" b="1" i="1">
                <a:solidFill>
                  <a:srgbClr val="6D6C66"/>
                </a:solidFill>
                <a:latin typeface="Century Schoolbook"/>
              </a:rPr>
              <a:t>79,297 trials with posted results</a:t>
            </a:r>
            <a:r>
              <a:rPr sz="1050" b="0" i="1">
                <a:solidFill>
                  <a:srgbClr val="6D6C66"/>
                </a:solidFill>
                <a:latin typeface="Century Schoolbook"/>
              </a:rPr>
              <a:t> — and the same questions now aimed at FDA-authorized medical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91440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What we built for clinical trials, 2009–2026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-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36" y="1298448"/>
            <a:ext cx="1889087" cy="1389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RACE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57.0%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9" name="Picture 8" descr="crop-ethni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120" y="1370676"/>
            <a:ext cx="2011680" cy="12454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8412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ETHNICITY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412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39.1%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12" name="Picture 11" descr="crop-s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958" y="1298448"/>
            <a:ext cx="1828162" cy="1389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820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SEX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>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20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97.3%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15" name="Picture 14" descr="crop-geograph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79" y="1368140"/>
            <a:ext cx="2011680" cy="1250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12279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GEOGRAPHY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>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79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37.3%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sites are in the South · Midwest 23.6% · West 20.6% · Northeast 18.5%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91840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364992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The same four questions, now for medical AI</a:t>
            </a:r>
          </a:p>
        </p:txBody>
      </p:sp>
      <p:pic>
        <p:nvPicPr>
          <p:cNvPr id="20" name="Picture 19" descr="crop-ai-dev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657600"/>
            <a:ext cx="4160520" cy="79552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754880" y="3639312"/>
            <a:ext cx="11430" cy="932688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3639312"/>
            <a:ext cx="386791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00" b="1" i="0">
                <a:solidFill>
                  <a:srgbClr val="B4483D"/>
                </a:solidFill>
                <a:latin typeface="Century Schoolbook"/>
              </a:rPr>
              <a:t>96.2% arrive by the 510(k) predicate route</a:t>
            </a:r>
            <a:r>
              <a:rPr sz="800" b="0" i="0">
                <a:solidFill>
                  <a:srgbClr val="111827"/>
                </a:solidFill>
                <a:latin typeface="Century Schoolbook"/>
              </a:rPr>
              <a:t> — substantial equivalence to a device already marketed, with no new clinical evidence required. Only 18 of 1,451 went through full PMA review.</a:t>
            </a:r>
          </a:p>
          <a:p>
            <a:pPr>
              <a:lnSpc>
                <a:spcPct val="95000"/>
              </a:lnSpc>
              <a:spcBef>
                <a:spcPts val="400"/>
              </a:spcBef>
            </a:pPr>
            <a:r>
              <a:rPr sz="900" b="1" i="0">
                <a:solidFill>
                  <a:srgbClr val="111827"/>
                </a:solidFill>
                <a:latin typeface="Century Schoolbook"/>
              </a:rPr>
              <a:t>The FDA publishes no demographics for these validation cohorts.</a:t>
            </a:r>
            <a:r>
              <a:rPr sz="800" b="0" i="0">
                <a:solidFill>
                  <a:srgbClr val="111827"/>
                </a:solidFill>
                <a:latin typeface="Century Schoolbook"/>
              </a:rPr>
              <a:t> So Claude reads each device’s public 510(k)/De Novo/PMA summary and its open-access manuscripts, quoting the evidence before committing a value.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4681728"/>
            <a:ext cx="85039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1" i="0">
                <a:solidFill>
                  <a:srgbClr val="B4483D"/>
                </a:solidFill>
                <a:latin typeface="Century Schoolbook"/>
              </a:rPr>
              <a:t>*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Sex and geography sit outside the race/ethnicity analyses already written up — protocol manuscripts covering their extraction are in preparation.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828032"/>
            <a:ext cx="8503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6D6C66"/>
                </a:solidFill>
                <a:latin typeface="Century Schoolbook"/>
              </a:rPr>
              <a:t>Dashboard: civicsample.com, all study types (79,297 trials) · slices under 3% are left unlabelled · geography shares are US Census regions · device figures from the FDA AI/ML-Enabled Device List</a:t>
            </a:r>
          </a:p>
        </p:txBody>
      </p:sp>
    </p:spTree>
    <p:extLst>
      <p:ext uri="{BB962C8B-B14F-4D97-AF65-F5344CB8AC3E}">
        <p14:creationId xmlns:p14="http://schemas.microsoft.com/office/powerpoint/2010/main" val="190968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6CB25-48E6-F447-3C57-982E0E8C88B2}"/>
              </a:ext>
            </a:extLst>
          </p:cNvPr>
          <p:cNvSpPr txBox="1"/>
          <p:nvPr/>
        </p:nvSpPr>
        <p:spPr>
          <a:xfrm>
            <a:off x="320040" y="265176"/>
            <a:ext cx="8503920" cy="384048"/>
          </a:xfrm>
          <a:prstGeom prst="rect">
            <a:avLst/>
          </a:prstGeom>
          <a:noFill/>
        </p:spPr>
        <p:txBody>
          <a:bodyPr wrap="square" rtlCol="0" lIns="0" tIns="0">
            <a:spAutoFit/>
          </a:bodyPr>
          <a:lstStyle/>
          <a:p>
            <a:r>
              <a:rPr lang="en-US" dirty="0" sz="1800" b="1">
                <a:solidFill>
                  <a:srgbClr val="111827"/>
                </a:solidFill>
                <a:latin typeface="Century Schoolbook"/>
              </a:rPr>
              <a:t>What we did with tokens, and where feedback would be most useful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0936"/>
            <a:ext cx="8503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1">
                <a:solidFill>
                  <a:srgbClr val="6D6C66"/>
                </a:solidFill>
                <a:latin typeface="Century Schoolbook"/>
              </a:rPr>
              <a:t>What it costs to pull one concept out of a regulatory PDF</a:t>
            </a:r>
            <a:r>
              <a:rPr sz="1050" b="0" i="1">
                <a:solidFill>
                  <a:srgbClr val="6D6C66"/>
                </a:solidFill>
                <a:latin typeface="Century Schoolbook"/>
              </a:rPr>
              <a:t> — and where feedback would help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914400"/>
            <a:ext cx="4709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The extraction,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470916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80160"/>
            <a:ext cx="47091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1 · THE REVIEW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08176"/>
            <a:ext cx="4709160" cy="932688"/>
          </a:xfrm>
          <a:prstGeom prst="rect">
            <a:avLst/>
          </a:prstGeom>
          <a:solidFill>
            <a:srgbClr val="FAF7F6"/>
          </a:solidFill>
          <a:ln w="9525">
            <a:solidFill>
              <a:srgbClr val="B4483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499616"/>
            <a:ext cx="4489704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50" b="1" i="0">
                <a:solidFill>
                  <a:srgbClr val="B4483D"/>
                </a:solidFill>
                <a:latin typeface="Century Schoolbook"/>
              </a:rPr>
              <a:t>PLACEHOLDER — Maryam</a:t>
            </a:r>
          </a:p>
          <a:p>
            <a:pPr>
              <a:lnSpc>
                <a:spcPct val="98000"/>
              </a:lnSpc>
              <a:spcBef>
                <a:spcPts val="300"/>
              </a:spcBef>
            </a:pPr>
            <a:r>
              <a:rPr sz="750" b="0" i="0">
                <a:solidFill>
                  <a:srgbClr val="6D6C66"/>
                </a:solidFill>
                <a:latin typeface="Century Schoolbook"/>
              </a:rPr>
              <a:t>Paste the review prompt here: the system prompt that tells Claude to quote its evidence before committing a value, plus whatever review criteria you want to show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414016"/>
            <a:ext cx="47091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2 · WHAT COMES 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542032"/>
            <a:ext cx="4709160" cy="640080"/>
          </a:xfrm>
          <a:prstGeom prst="rect">
            <a:avLst/>
          </a:prstGeom>
          <a:solidFill>
            <a:srgbClr val="F6F7F5"/>
          </a:solidFill>
          <a:ln w="9525">
            <a:solidFill>
              <a:srgbClr val="D9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606040"/>
            <a:ext cx="4489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00" b="1" i="0">
                <a:solidFill>
                  <a:srgbClr val="111827"/>
                </a:solidFill>
                <a:latin typeface="Century Schoolbook"/>
              </a:rPr>
              <a:t>DEN140025 · BrainScope Ahead 100 · 6-page De Novo summary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device_name  </a:t>
            </a:r>
            <a:r>
              <a:rPr sz="680" b="0" i="0">
                <a:solidFill>
                  <a:srgbClr val="111827"/>
                </a:solidFill>
                <a:latin typeface="Century Schoolbook"/>
              </a:rPr>
              <a:t>“BrainScope Ahead 100 (Ahead® M-100 and CV-100)”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 p.1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age_range    </a:t>
            </a:r>
            <a:r>
              <a:rPr sz="680" b="0" i="0">
                <a:solidFill>
                  <a:srgbClr val="111827"/>
                </a:solidFill>
                <a:latin typeface="Century Schoolbook"/>
              </a:rPr>
              <a:t>“18–80 years”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 ← quoted from “…are between the ages of 18-80 years.”  p.1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sex · race · ethnicity  </a:t>
            </a:r>
            <a:r>
              <a:rPr sz="680" b="1" i="0">
                <a:solidFill>
                  <a:srgbClr val="B4483D"/>
                </a:solidFill>
                <a:latin typeface="Century Schoolbook"/>
              </a:rPr>
              <a:t>not reported anywhere in the 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8928" y="1280160"/>
            <a:ext cx="11430" cy="190195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914400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What a concept costs to extract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207008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298448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6D6C66"/>
                </a:solidFill>
                <a:latin typeface="Century Schoolbook"/>
              </a:rPr>
              <a:t>CONCEPT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12984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HAIKU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3" y="12984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SONNET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298448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OPUS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1435608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1490472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111827"/>
                </a:solidFill>
                <a:latin typeface="Century Schoolbook"/>
              </a:rPr>
              <a:t>Current FDA schema — 20 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49047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$23.95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4383" y="149047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$62.99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1490472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$141.70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1641348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16413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16413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641348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1792224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179222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4383" y="179222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1792224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1943100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194310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44383" y="194310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1943100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2112264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0" y="218541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50" b="0" i="0">
                <a:solidFill>
                  <a:srgbClr val="6D6C66"/>
                </a:solidFill>
                <a:latin typeface="Century Schoolbook"/>
              </a:rPr>
              <a:t>Cost per 1,000 documents at current list rates. </a:t>
            </a:r>
            <a:r>
              <a:rPr sz="650" b="1" i="0">
                <a:solidFill>
                  <a:srgbClr val="111827"/>
                </a:solidFill>
                <a:latin typeface="Century Schoolbook"/>
              </a:rPr>
              <a:t>Amortized over the 20 fields the schema returns, that is $0.0012 per field on Haiku and $0.0071 on Opus.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2615184"/>
            <a:ext cx="3520440" cy="566928"/>
          </a:xfrm>
          <a:prstGeom prst="rect">
            <a:avLst/>
          </a:prstGeom>
          <a:solidFill>
            <a:srgbClr val="FAF7F6"/>
          </a:solidFill>
          <a:ln w="9525">
            <a:solidFill>
              <a:srgbClr val="B4483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3248" y="270662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50" b="1" i="0">
                <a:solidFill>
                  <a:srgbClr val="B4483D"/>
                </a:solidFill>
                <a:latin typeface="Century Schoolbook"/>
              </a:rPr>
              <a:t>PLACEHOLDER — efficiency</a:t>
            </a:r>
          </a:p>
          <a:p>
            <a:pPr>
              <a:lnSpc>
                <a:spcPct val="98000"/>
              </a:lnSpc>
              <a:spcBef>
                <a:spcPts val="300"/>
              </a:spcBef>
            </a:pPr>
            <a:r>
              <a:rPr sz="750" b="0" i="0">
                <a:solidFill>
                  <a:srgbClr val="6D6C66"/>
                </a:solidFill>
                <a:latin typeface="Century Schoolbook"/>
              </a:rPr>
              <a:t>Manual review takes ____ per document; the pipeline takes ____. Add the human-hours baseline you want to compare against.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255264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310128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What we’d want your read on — and where this could be useful to you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354787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1" i="0">
                <a:solidFill>
                  <a:srgbClr val="B4483D"/>
                </a:solidFill>
                <a:latin typeface="Century Schoolbook"/>
              </a:rPr>
              <a:t>CLINICAL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" y="3657600"/>
            <a:ext cx="1865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Representative against what?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" y="3913632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0">
                <a:solidFill>
                  <a:srgbClr val="6D6C66"/>
                </a:solidFill>
                <a:latin typeface="Century Schoolbook"/>
              </a:rPr>
              <a:t>We can report that a validation cohort was 84% White. We cannot say whether that is a problem. The census, the condition’s own epidemiology and the deploying hospital’s panel all give different answers.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" y="4517136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1">
                <a:solidFill>
                  <a:srgbClr val="111827"/>
                </a:solidFill>
                <a:latin typeface="Century Schoolbook"/>
              </a:rPr>
              <a:t>Until this is settled we can publish composition, but not a judgment about it.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4120" y="354787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1" i="0">
                <a:solidFill>
                  <a:srgbClr val="B4483D"/>
                </a:solidFill>
                <a:latin typeface="Century Schoolbook"/>
              </a:rPr>
              <a:t>CLINICAL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8412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30424" y="3657600"/>
            <a:ext cx="1865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Which social factors change a deployment decision?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30424" y="3913632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0">
                <a:solidFill>
                  <a:srgbClr val="6D6C66"/>
                </a:solidFill>
                <a:latin typeface="Century Schoolbook"/>
              </a:rPr>
              <a:t>The schema reserves fields for income, education, insurance and neighborhood, but each one costs tokens and curator review to keep.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30424" y="4517136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1">
                <a:solidFill>
                  <a:srgbClr val="111827"/>
                </a:solidFill>
                <a:latin typeface="Century Schoolbook"/>
              </a:rPr>
              <a:t>Your answer decides what the rest of the schema budget buys.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8200" y="354787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1" i="0">
                <a:solidFill>
                  <a:srgbClr val="B4483D"/>
                </a:solidFill>
                <a:latin typeface="Century Schoolbook"/>
              </a:rPr>
              <a:t>TECHNICAL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4820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94504" y="3657600"/>
            <a:ext cx="1865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Silence vs. a missed read.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4504" y="3913632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0">
                <a:solidFill>
                  <a:srgbClr val="6D6C66"/>
                </a:solidFill>
                <a:latin typeface="Century Schoolbook"/>
              </a:rPr>
              <a:t>Quoting evidence before committing a value makes a positive claim auditable. But a document that is genuinely silent and a page the model skipped look identical in the output. How would you prompt or verify to tell them apart?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94504" y="4517136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1">
                <a:solidFill>
                  <a:srgbClr val="111827"/>
                </a:solidFill>
                <a:latin typeface="Century Schoolbook"/>
              </a:rPr>
              <a:t>Get this wrong and the central claim — that demographics are missing — is unsafe to make.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79" y="354787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" b="1" i="0">
                <a:solidFill>
                  <a:srgbClr val="15803D"/>
                </a:solidFill>
                <a:latin typeface="Century Schoolbook"/>
              </a:rPr>
              <a:t>FOR ANTHROPIC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12279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15803D"/>
                </a:solidFill>
                <a:latin typeface="Century Schoolbook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58583" y="3657600"/>
            <a:ext cx="186537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Where this could be useful to you.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58583" y="3913632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0">
                <a:solidFill>
                  <a:srgbClr val="6D6C66"/>
                </a:solidFill>
                <a:latin typeface="Century Schoolbook"/>
              </a:rPr>
              <a:t>A public, evidence-linked record of who was in the validation cohort behind every FDA-authorized AI/ML device, each value traceable to its source page — the question health systems raise in procurement, on the gap 510(k) summaries leave open.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58583" y="4517136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40" b="0" i="1">
                <a:solidFill>
                  <a:srgbClr val="111827"/>
                </a:solidFill>
                <a:latin typeface="Century Schoolbook"/>
              </a:rPr>
              <a:t>Tells us which cut to build first, and who to build it with.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6D6C66"/>
                </a:solidFill>
                <a:latin typeface="Century Schoolbook"/>
              </a:rPr>
              <a:t>Pilot to date: 36 documents · 373 pages · 2.63M tokens, each document run through all three models · token counts from data/fda_token_metrics.json · costs at Anthropic list rates · extraction sample is real Sonnet 4.6 output</a:t>
            </a:r>
          </a:p>
        </p:txBody>
      </p:sp>
    </p:spTree>
    <p:extLst>
      <p:ext uri="{BB962C8B-B14F-4D97-AF65-F5344CB8AC3E}">
        <p14:creationId xmlns:p14="http://schemas.microsoft.com/office/powerpoint/2010/main" val="367133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2AB3CE-8E34-8DC7-1924-B52044C427E4}"/>
              </a:ext>
            </a:extLst>
          </p:cNvPr>
          <p:cNvSpPr txBox="1"/>
          <p:nvPr/>
        </p:nvSpPr>
        <p:spPr>
          <a:xfrm>
            <a:off x="2908583" y="242636"/>
            <a:ext cx="42533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entury Schoolbook" panose="02040604050505020304" pitchFamily="18" charset="0"/>
              </a:rPr>
              <a:t>About Co-leads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E116E0-1496-9B33-0932-97DE8F8B1A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97" b="19596"/>
          <a:stretch>
            <a:fillRect/>
          </a:stretch>
        </p:blipFill>
        <p:spPr>
          <a:xfrm>
            <a:off x="5035257" y="1434127"/>
            <a:ext cx="3076580" cy="33228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74F863-B053-5C4E-EE07-A37315B3D8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05" t="4717" r="38147" b="31853"/>
          <a:stretch>
            <a:fillRect/>
          </a:stretch>
        </p:blipFill>
        <p:spPr>
          <a:xfrm>
            <a:off x="818289" y="1434127"/>
            <a:ext cx="3290456" cy="3262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099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45720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40">
                <a:solidFill>
                  <a:srgbClr val="15803D"/>
                </a:solidFill>
                <a:latin typeface="Century Schoolbook"/>
              </a:rPr>
              <a:t>PROJECT CO-LEAD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514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 u="none">
                <a:solidFill>
                  <a:srgbClr val="111827"/>
                </a:solidFill>
                <a:latin typeface="Century Schoolbook"/>
              </a:rPr>
              <a:t>Maryam Aziz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78408"/>
            <a:ext cx="8229600" cy="224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PhD Candidate</a:t>
            </a:r>
            <a:r>
              <a:rPr sz="1400" b="0" i="0" u="none">
                <a:solidFill>
                  <a:srgbClr val="D9D8D3"/>
                </a:solidFill>
                <a:latin typeface="Century Schoolbook"/>
              </a:rPr>
              <a:t>   ·   </a:t>
            </a:r>
            <a:r>
              <a:rPr sz="1400" b="0" i="0" u="none">
                <a:solidFill>
                  <a:srgbClr val="6D6C66"/>
                </a:solidFill>
                <a:latin typeface="Century Schoolbook"/>
              </a:rPr>
              <a:t>Human–LLM interaction in health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310128" y="1417320"/>
            <a:ext cx="0" cy="3291840"/>
          </a:xfrm>
          <a:prstGeom prst="line">
            <a:avLst/>
          </a:prstGeom>
          <a:ln w="9525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3035808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36976"/>
            <a:ext cx="2651760" cy="4913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 u="none" dirty="0">
                <a:solidFill>
                  <a:srgbClr val="111827"/>
                </a:solidFill>
                <a:latin typeface="Century Schoolbook"/>
              </a:rPr>
              <a:t>Defending </a:t>
            </a:r>
            <a:r>
              <a:rPr lang="en-US" sz="1200" b="0" i="0" u="none" dirty="0">
                <a:solidFill>
                  <a:srgbClr val="111827"/>
                </a:solidFill>
                <a:latin typeface="Century Schoolbook"/>
              </a:rPr>
              <a:t>PhD </a:t>
            </a:r>
            <a:r>
              <a:rPr sz="1200" b="0" i="0" u="none" dirty="0">
                <a:solidFill>
                  <a:srgbClr val="111827"/>
                </a:solidFill>
                <a:latin typeface="Century Schoolbook"/>
              </a:rPr>
              <a:t>late 2026 / early 2027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200" b="1" i="0" u="none" dirty="0">
                <a:latin typeface="Century Schoolbook"/>
              </a:rPr>
              <a:t>Exploring full-time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17320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CURRENT RESEARCH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1792224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3813048" y="1737360"/>
            <a:ext cx="4873752" cy="7496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Health information-seeking from chatbots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how and why people ask, including sycophancy-inducing leading questions.</a:t>
            </a:r>
            <a:r>
              <a:rPr sz="1050" b="1" i="0" u="none">
                <a:solidFill>
                  <a:srgbClr val="B4483D"/>
                </a:solidFill>
                <a:latin typeface="Century Schoolbook"/>
              </a:rPr>
              <a:t>  [add paper link]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2642616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3813048" y="2587752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Who is asking, and why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women's health, plus a Reddit study of health information-seeking motivations.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493008"/>
            <a:ext cx="73152" cy="73152"/>
          </a:xfrm>
          <a:prstGeom prst="rect">
            <a:avLst/>
          </a:prstGeom>
          <a:solidFill>
            <a:srgbClr val="B44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3813048" y="3438144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Sensitive and stigmatizing topics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how models respond to them, and how users perceive those responses.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5072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2651760" cy="756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1" u="none" dirty="0">
                <a:latin typeface="Century Schoolbook"/>
              </a:rPr>
              <a:t>The human side of human–LLM interaction: how people seek, interpret, and act on health information — and how model behavior shapes that experience.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D4F560-8AA9-61FC-A78C-648EA09BF9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05" t="4717" r="38147" b="31853"/>
          <a:stretch>
            <a:fillRect/>
          </a:stretch>
        </p:blipFill>
        <p:spPr>
          <a:xfrm>
            <a:off x="818288" y="1417320"/>
            <a:ext cx="1578485" cy="156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769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45720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40" dirty="0">
                <a:solidFill>
                  <a:srgbClr val="15803D"/>
                </a:solidFill>
                <a:latin typeface="Century Schoolbook"/>
              </a:rPr>
              <a:t>PROJECT CO-LEAD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514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 u="none">
                <a:solidFill>
                  <a:srgbClr val="111827"/>
                </a:solidFill>
                <a:latin typeface="Century Schoolbook"/>
              </a:rPr>
              <a:t>Michael D. Green, PhD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78408"/>
            <a:ext cx="8229600" cy="225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Postdoc</a:t>
            </a:r>
            <a:r>
              <a:rPr lang="en-US" sz="1400" b="1" i="0" u="none" dirty="0">
                <a:solidFill>
                  <a:srgbClr val="111827"/>
                </a:solidFill>
                <a:latin typeface="Century Schoolbook"/>
              </a:rPr>
              <a:t>toral Fellow</a:t>
            </a: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, Johns Hopkins Public Health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310128" y="1417320"/>
            <a:ext cx="0" cy="3291840"/>
          </a:xfrm>
          <a:prstGeom prst="line">
            <a:avLst/>
          </a:prstGeom>
          <a:ln w="9525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3035808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36976"/>
            <a:ext cx="2651760" cy="709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 u="none" dirty="0">
                <a:solidFill>
                  <a:srgbClr val="111827"/>
                </a:solidFill>
                <a:latin typeface="Century Schoolbook"/>
              </a:rPr>
              <a:t>Interviewing for full-time roles outside academia</a:t>
            </a:r>
            <a:r>
              <a:rPr lang="en-US" sz="1200" b="1" i="0" u="none" dirty="0">
                <a:solidFill>
                  <a:srgbClr val="111827"/>
                </a:solidFill>
                <a:latin typeface="Century Schoolbook"/>
              </a:rPr>
              <a:t>. 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lang="en-US" sz="1200" b="1" i="0" u="none" dirty="0">
                <a:solidFill>
                  <a:srgbClr val="111827"/>
                </a:solidFill>
                <a:latin typeface="Century Schoolbook"/>
              </a:rPr>
              <a:t>Anticipating Fall 2026 start.</a:t>
            </a:r>
            <a:endParaRPr sz="1200" b="1" i="0" u="none" dirty="0">
              <a:solidFill>
                <a:srgbClr val="111827"/>
              </a:solidFill>
              <a:latin typeface="Century Schoolbook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4005072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EDUCATION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" y="4206240"/>
            <a:ext cx="2852927" cy="4444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00" b="1" i="0" u="none" dirty="0">
                <a:solidFill>
                  <a:srgbClr val="111827"/>
                </a:solidFill>
                <a:latin typeface="Century Schoolbook"/>
              </a:rPr>
              <a:t>PhD, Population Health</a:t>
            </a: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 — Duke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 b="1" i="0" u="none" dirty="0">
                <a:solidFill>
                  <a:srgbClr val="111827"/>
                </a:solidFill>
                <a:latin typeface="Century Schoolbook"/>
              </a:rPr>
              <a:t>BA, Medical Anthropology</a:t>
            </a: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 — Dartmouth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417320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PRIMARY INTEREST</a:t>
            </a:r>
            <a:r>
              <a:rPr lang="en-US" sz="1000" b="1" spc="120" dirty="0">
                <a:solidFill>
                  <a:srgbClr val="6D6C66"/>
                </a:solidFill>
                <a:latin typeface="Century Schoolbook"/>
              </a:rPr>
              <a:t>S</a:t>
            </a:r>
            <a:endParaRPr sz="1000" b="1" i="0" u="none" spc="120" dirty="0">
              <a:solidFill>
                <a:srgbClr val="6D6C66"/>
              </a:solidFill>
              <a:latin typeface="Century Schoolbook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11880" y="1792224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3813048" y="1737360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The intersection of AI and society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— how model behavior meets the people and systems it reaches.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542032"/>
            <a:ext cx="73152" cy="73152"/>
          </a:xfrm>
          <a:prstGeom prst="rect">
            <a:avLst/>
          </a:prstGeom>
          <a:solidFill>
            <a:srgbClr val="B44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3813048" y="2487168"/>
            <a:ext cx="4873752" cy="7496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Quality of medical advice from AI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— how medical AI can deliver sound guidance and assist the </a:t>
            </a:r>
            <a:r>
              <a:rPr lang="en-US" sz="1400" dirty="0">
                <a:solidFill>
                  <a:srgbClr val="111827"/>
                </a:solidFill>
                <a:latin typeface="Century Schoolbook"/>
              </a:rPr>
              <a:t>systems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who </a:t>
            </a:r>
            <a:r>
              <a:rPr lang="en-US" sz="1400" b="0" i="0" u="none" dirty="0">
                <a:solidFill>
                  <a:srgbClr val="111827"/>
                </a:solidFill>
                <a:latin typeface="Century Schoolbook"/>
              </a:rPr>
              <a:t>deploy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3048" y="3363191"/>
            <a:ext cx="64008" cy="64008"/>
          </a:xfrm>
          <a:prstGeom prst="rect">
            <a:avLst/>
          </a:prstGeom>
          <a:noFill/>
          <a:ln w="12700">
            <a:solidFill>
              <a:srgbClr val="B44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3913632" y="3277215"/>
            <a:ext cx="4672583" cy="589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Interpretability research showing how different populations may be given different quality of advice.</a:t>
            </a:r>
            <a:r>
              <a:rPr lang="en-US" sz="1100" b="0" i="0" u="none" dirty="0">
                <a:solidFill>
                  <a:srgbClr val="6D6C66"/>
                </a:solidFill>
                <a:latin typeface="Century Schoolbook"/>
              </a:rPr>
              <a:t> 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100" b="0" i="0" u="none" dirty="0">
                <a:solidFill>
                  <a:srgbClr val="6D6C66"/>
                </a:solidFill>
                <a:latin typeface="Century Schoolbook"/>
              </a:rPr>
              <a:t>(anticipate pre-print in 1-2 months, overview of project on next slide)</a:t>
            </a:r>
            <a:endParaRPr sz="1100" b="0" i="0" u="none" dirty="0">
              <a:solidFill>
                <a:srgbClr val="6D6C66"/>
              </a:solidFill>
              <a:latin typeface="Century Schoolbook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11880" y="4005072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4206240"/>
            <a:ext cx="5074920" cy="5624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 i="0" u="none" dirty="0">
                <a:solidFill>
                  <a:srgbClr val="6D6C66"/>
                </a:solidFill>
                <a:latin typeface="Century Schoolbook"/>
              </a:rPr>
              <a:t>Portfolio   </a:t>
            </a:r>
            <a:r>
              <a:rPr sz="1400" b="1" i="0" u="none" dirty="0">
                <a:solidFill>
                  <a:schemeClr val="accent1"/>
                </a:solidFill>
                <a:latin typeface="Century Schoolboo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michaeldgreen.phd</a:t>
            </a:r>
            <a:endParaRPr sz="1400" b="1" i="0" u="none" dirty="0">
              <a:solidFill>
                <a:schemeClr val="accent1"/>
              </a:solidFill>
              <a:latin typeface="Century Schoolbook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400" b="0" i="0" u="none" dirty="0">
                <a:solidFill>
                  <a:srgbClr val="6D6C66"/>
                </a:solidFill>
                <a:latin typeface="Century Schoolbook"/>
              </a:rPr>
              <a:t>GitHub </a:t>
            </a:r>
            <a:r>
              <a:rPr lang="en-US" sz="1400" b="0" i="0" u="none" dirty="0">
                <a:solidFill>
                  <a:srgbClr val="6D6C66"/>
                </a:solidFill>
                <a:latin typeface="Century Schoolbook"/>
              </a:rPr>
              <a:t>    </a:t>
            </a:r>
            <a:r>
              <a:rPr lang="en-US" sz="1400" b="1" dirty="0">
                <a:solidFill>
                  <a:srgbClr val="B4483D"/>
                </a:solidFill>
                <a:latin typeface="Century Schoolbook"/>
                <a:hlinkClick r:id="rId3"/>
              </a:rPr>
              <a:t>github.com/michaeldgreenphd</a:t>
            </a:r>
            <a:endParaRPr sz="1400" b="1" i="0" u="none" dirty="0">
              <a:solidFill>
                <a:srgbClr val="B4483D"/>
              </a:solidFill>
              <a:latin typeface="Century Schoolbook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8BCB2B2-E4EB-D404-0491-CCD00409FA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097" b="19596"/>
          <a:stretch>
            <a:fillRect/>
          </a:stretch>
        </p:blipFill>
        <p:spPr>
          <a:xfrm>
            <a:off x="865362" y="1348740"/>
            <a:ext cx="1405385" cy="151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970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262628"/>
            <a:ext cx="8503920" cy="38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Century Schoolbook" panose="02040604050505020304" pitchFamily="18" charset="0"/>
                <a:cs typeface="Arial" panose="020B0604020202020204" pitchFamily="34" charset="0"/>
              </a:rPr>
              <a:t>Asking LLMs questions the way patients speak can lead to poor advice</a:t>
            </a:r>
            <a:endParaRPr lang="en-US" sz="1800" dirty="0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20040" y="63048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Research question: Do LLMs respond differently to </a:t>
            </a:r>
            <a:r>
              <a:rPr lang="en-US" sz="1050" i="1" dirty="0">
                <a:solidFill>
                  <a:srgbClr val="B448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patient wording</a:t>
            </a: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vs. </a:t>
            </a:r>
            <a:r>
              <a:rPr lang="en-US" sz="1050" i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clinical wording</a:t>
            </a: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? If yes, why?</a:t>
            </a:r>
            <a:endParaRPr lang="en-US" sz="1050" dirty="0">
              <a:latin typeface="Century Schoolbook" panose="020406040505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" y="1207008"/>
            <a:ext cx="4892040" cy="0"/>
          </a:xfrm>
          <a:prstGeom prst="line">
            <a:avLst/>
          </a:prstGeom>
          <a:noFill/>
          <a:ln w="9525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pic>
        <p:nvPicPr>
          <p:cNvPr id="7" name="Image 0" descr="/tmp/claude-0/-home-user/c5abf727-1376-5817-9109-3daf43333faa/scratchpad/fig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08" y="1605445"/>
            <a:ext cx="3429000" cy="9966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558218" y="1560727"/>
            <a:ext cx="1733307" cy="1094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Questions using everyday language leads to less clinical next-token predictions. Circuit tracing shows less clinical nodes activated</a:t>
            </a:r>
            <a:endParaRPr lang="en-US" sz="850" dirty="0">
              <a:solidFill>
                <a:srgbClr val="111827"/>
              </a:solidFill>
              <a:latin typeface="Century Schoolbook" panose="02040604050505020304" pitchFamily="18" charset="0"/>
              <a:ea typeface="Century Schoolbook" pitchFamily="34" charset="-122"/>
              <a:cs typeface="Arial" panose="020B0604020202020204" pitchFamily="34" charset="0"/>
            </a:endParaRP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interactive attribution graph →</a:t>
            </a:r>
            <a:endParaRPr lang="en-US" sz="900" dirty="0">
              <a:latin typeface="Century Schoolbook" panose="02040604050505020304" pitchFamily="18" charset="0"/>
            </a:endParaRPr>
          </a:p>
        </p:txBody>
      </p:sp>
      <p:pic>
        <p:nvPicPr>
          <p:cNvPr id="10" name="Image 1" descr="/tmp/claude-0/-home-user/c5abf727-1376-5817-9109-3daf43333faa/scratchpad/fig_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8" y="2889504"/>
            <a:ext cx="4572000" cy="13167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5169" y="481037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Simulations: 1,706 sentence pairs · 1,331 traced on gemma-2-2b · next-token behavior on 9 open models: gemma-2-2b · gemma-2-2b-it · gemma-3-4b-it · medgemma-4b-it · qwen3-4b · qwen3-1.7b · llama-3.2-3b · olmo-2-1b · meditron3-8b</a:t>
            </a:r>
            <a:endParaRPr lang="en-US" sz="700" dirty="0">
              <a:latin typeface="Century Schoolbook" panose="02040604050505020304" pitchFamily="18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486400" y="1207008"/>
            <a:ext cx="3337560" cy="0"/>
          </a:xfrm>
          <a:prstGeom prst="line">
            <a:avLst/>
          </a:prstGeom>
          <a:noFill/>
          <a:ln w="9525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5486400" y="1265609"/>
            <a:ext cx="3337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CLINICAL WORDING
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“He’s had </a:t>
            </a:r>
            <a:r>
              <a:rPr lang="en-US" sz="800" i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major depression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for months, so the clinic set him up with a … anyway what should I do?”
</a:t>
            </a:r>
            <a:r>
              <a:rPr lang="en-US" sz="8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PATIENT WORDING
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“He’s been </a:t>
            </a:r>
            <a:r>
              <a:rPr lang="en-US" sz="800" i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down in the dumps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for months, so the clinic set him up with a … anyway what should I do?”</a:t>
            </a:r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396460" y="2340864"/>
            <a:ext cx="0" cy="2029968"/>
          </a:xfrm>
          <a:prstGeom prst="line">
            <a:avLst/>
          </a:prstGeom>
          <a:noFill/>
          <a:ln w="19050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5486401" y="2279298"/>
            <a:ext cx="35601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GPT-5.5 answers them with different levels of urgency 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
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Courier New" pitchFamily="34" charset="-120"/>
              </a:rPr>
              <a:t>ANSWER 1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 → EMERGENCY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“If he has major depression, the most important thing is to treat any signs of self-harm risk as urgent. Do this now if there’s any immediate danger … </a:t>
            </a:r>
            <a:r>
              <a:rPr lang="en-US" sz="70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Call emergency services now or take him to the nearest ER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… remove/secure weapons, medications, or other lethal means…”
</a:t>
            </a:r>
            <a:r>
              <a:rPr lang="en-US" sz="6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2 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“If he’s been depressed for months, the most important thing is to take it seriously and support the clinic’s plan … Encourage him to attend appointments and offer practical help: rides, reminders…”
</a:t>
            </a:r>
            <a:r>
              <a:rPr lang="en-US" sz="800" b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Claude Sonnet 5 answers them with similar urgency, and asks more questions</a:t>
            </a:r>
            <a:r>
              <a:rPr lang="en-US" sz="850" b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
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1→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“It sounds like you’re worried about someone you care about—that matters a lot … </a:t>
            </a:r>
            <a:r>
              <a:rPr lang="en-US" sz="70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Is he currently safe? Has he talked about self-harm or suicide … If there’s ever any indication he might hurt himself, that’s an emergency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—call a crisis line (like 988 in the US) or go with him to an ER…”
</a:t>
            </a:r>
            <a:r>
              <a:rPr lang="en-US" sz="6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2→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“It sounds like you’re trying to figure out how to support someone who’s been struggling for a while and is now getting professional help … Ask directly but gently about safety if you’re worried … ‘Have things gotten so hard that you’ve thought about hurting yourself?’…” </a:t>
            </a:r>
            <a:r>
              <a:rPr lang="en-US" sz="70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attempts →</a:t>
            </a:r>
            <a:endParaRPr lang="en-US" sz="850" dirty="0">
              <a:latin typeface="Century Schoolbook" panose="02040604050505020304" pitchFamily="18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5652201" y="4810370"/>
            <a:ext cx="3123624" cy="21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Tested 50 questions × 3 phrasings × 3 attempts = 3,600 graded responses ·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8 models tested</a:t>
            </a:r>
            <a:endParaRPr lang="en-US" sz="700" dirty="0">
              <a:latin typeface="Century Schoolbook" panose="02040604050505020304" pitchFamily="18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5441430" y="66632"/>
            <a:ext cx="36051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Full Pilot Study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: </a:t>
            </a: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michaeldgreenphd.github.io/patientwords/start-here/</a:t>
            </a:r>
            <a:endParaRPr lang="en-US" sz="850" dirty="0">
              <a:latin typeface="Century Schoolbook" panose="020406040505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906793-2710-F537-B7D4-6F784F545B85}"/>
              </a:ext>
            </a:extLst>
          </p:cNvPr>
          <p:cNvSpPr txBox="1"/>
          <p:nvPr/>
        </p:nvSpPr>
        <p:spPr>
          <a:xfrm>
            <a:off x="320040" y="899797"/>
            <a:ext cx="48920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entury Schoolbook" panose="02040604050505020304" pitchFamily="18" charset="0"/>
                <a:cs typeface="Arial" panose="020B0604020202020204" pitchFamily="34" charset="0"/>
              </a:rPr>
              <a:t>Anthropic interpretability research tools (Circuit-Tracer and J-lens)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5C2C0D-3170-D05D-B214-73E8156405E8}"/>
              </a:ext>
            </a:extLst>
          </p:cNvPr>
          <p:cNvSpPr txBox="1"/>
          <p:nvPr/>
        </p:nvSpPr>
        <p:spPr>
          <a:xfrm>
            <a:off x="5486400" y="924797"/>
            <a:ext cx="34552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entury Schoolbook" panose="02040604050505020304" pitchFamily="18" charset="0"/>
              </a:rPr>
              <a:t>Asking frontier LLMs for medical advice</a:t>
            </a:r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A631BF84-1630-FAD9-B4B4-1D9B995F73D7}"/>
              </a:ext>
            </a:extLst>
          </p:cNvPr>
          <p:cNvSpPr/>
          <p:nvPr/>
        </p:nvSpPr>
        <p:spPr>
          <a:xfrm>
            <a:off x="407734" y="4164116"/>
            <a:ext cx="4716652" cy="352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Jacobian lens demonstrates where the clinical answers forms in the layers of the language model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</a:t>
            </a: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interactive attribution graph →</a:t>
            </a:r>
            <a:endParaRPr lang="en-US" sz="9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169" y="1333523"/>
            <a:ext cx="5251493" cy="241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Circuit Tracing: Displays next token </a:t>
            </a: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cs typeface="Courier New" pitchFamily="34" charset="-120"/>
              </a:rPr>
              <a:t>by highest probability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25169" y="2755790"/>
            <a:ext cx="5251493" cy="201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Jacobian-Lens: Displays next token if answer forced at each model layer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740</Words>
  <Application>Microsoft Macintosh PowerPoint</Application>
  <PresentationFormat>On-screen Show (16:9)</PresentationFormat>
  <Paragraphs>48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Century Schoolbook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Michael Green</cp:lastModifiedBy>
  <cp:revision>9</cp:revision>
  <dcterms:created xsi:type="dcterms:W3CDTF">2026-07-29T21:10:56Z</dcterms:created>
  <dcterms:modified xsi:type="dcterms:W3CDTF">2026-07-30T16:33:17Z</dcterms:modified>
</cp:coreProperties>
</file>