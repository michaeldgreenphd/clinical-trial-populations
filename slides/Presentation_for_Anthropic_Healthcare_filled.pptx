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60" r:id="rId2"/>
    <p:sldId id="261" r:id="rId3"/>
    <p:sldId id="259" r:id="rId4"/>
    <p:sldId id="258" r:id="rId5"/>
    <p:sldId id="257" r:id="rId6"/>
    <p:sldId id="256" r:id="rId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009"/>
    <p:restoredTop sz="94610"/>
  </p:normalViewPr>
  <p:slideViewPr>
    <p:cSldViewPr snapToGrid="0" snapToObjects="1">
      <p:cViewPr varScale="1">
        <p:scale>
          <a:sx n="184" d="100"/>
          <a:sy n="184" d="100"/>
        </p:scale>
        <p:origin x="176" y="6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233760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 Id="rId3" Type="http://schemas.openxmlformats.org/officeDocument/2006/relationships/image" Target="../media/image2.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michaeldgreen.phd/" TargetMode="External"/><Relationship Id="rId3" Type="http://schemas.openxmlformats.org/officeDocument/2006/relationships/hyperlink" Target="http://github.com/michaeldgreenphd" TargetMode="External"/><Relationship Id="rId4" Type="http://schemas.openxmlformats.org/officeDocument/2006/relationships/image" Target="../media/image1.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hyperlink" Target="https://michaeldgreenphd.github.io/patientwords/modes/simulated/pairs_20260712T163501Z/index_11.html" TargetMode="External"/><Relationship Id="rId5" Type="http://schemas.openxmlformats.org/officeDocument/2006/relationships/image" Target="../media/image4.png"/><Relationship Id="rId6" Type="http://schemas.openxmlformats.org/officeDocument/2006/relationships/hyperlink" Target="https://michaeldgreenphd.github.io/patientwords/llm/#s16" TargetMode="External"/><Relationship Id="rId7" Type="http://schemas.openxmlformats.org/officeDocument/2006/relationships/hyperlink" Target="https://michaeldgreenphd.github.io/patientwords/start-her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7C37DBA-0F22-3524-5237-761B3B1A10EA}"/>
              </a:ext>
            </a:extLst>
          </p:cNvPr>
          <p:cNvSpPr txBox="1"/>
          <p:nvPr/>
        </p:nvSpPr>
        <p:spPr>
          <a:xfrm>
            <a:off x="320040" y="265176"/>
            <a:ext cx="8503920" cy="384048"/>
          </a:xfrm>
          <a:prstGeom prst="rect">
            <a:avLst/>
          </a:prstGeom>
          <a:noFill/>
        </p:spPr>
        <p:txBody>
          <a:bodyPr wrap="square" rtlCol="0" lIns="0" tIns="0">
            <a:spAutoFit/>
          </a:bodyPr>
          <a:lstStyle/>
          <a:p>
            <a:r>
              <a:rPr lang="en-US" dirty="0" sz="1800" b="1">
                <a:solidFill>
                  <a:srgbClr val="111827"/>
                </a:solidFill>
                <a:latin typeface="Century Schoolbook"/>
              </a:rPr>
              <a:t>Conclusions from Civic Sample Project so Far</a:t>
            </a:r>
          </a:p>
        </p:txBody>
      </p:sp>
      <p:sp>
        <p:nvSpPr>
          <p:cNvPr id="3" name="TextBox 2"/>
          <p:cNvSpPr txBox="1"/>
          <p:nvPr/>
        </p:nvSpPr>
        <p:spPr>
          <a:xfrm>
            <a:off x="320040" y="630936"/>
            <a:ext cx="8503920" cy="256032"/>
          </a:xfrm>
          <a:prstGeom prst="rect">
            <a:avLst/>
          </a:prstGeom>
          <a:noFill/>
        </p:spPr>
        <p:txBody>
          <a:bodyPr wrap="square" lIns="0" rIns="0" tIns="0" bIns="0">
            <a:spAutoFit/>
          </a:bodyPr>
          <a:lstStyle/>
          <a:p>
            <a:r>
              <a:rPr sz="1050" b="0" i="1">
                <a:solidFill>
                  <a:srgbClr val="6D6C66"/>
                </a:solidFill>
                <a:latin typeface="Century Schoolbook"/>
              </a:rPr>
              <a:t>Four demographic dimensions across </a:t>
            </a:r>
            <a:r>
              <a:rPr sz="1050" b="1" i="1">
                <a:solidFill>
                  <a:srgbClr val="6D6C66"/>
                </a:solidFill>
                <a:latin typeface="Century Schoolbook"/>
              </a:rPr>
              <a:t>79,297 trials with posted results</a:t>
            </a:r>
            <a:r>
              <a:rPr sz="1050" b="0" i="1">
                <a:solidFill>
                  <a:srgbClr val="6D6C66"/>
                </a:solidFill>
                <a:latin typeface="Century Schoolbook"/>
              </a:rPr>
              <a:t> — and the same questions now aimed at FDA-authorized medical AI.</a:t>
            </a:r>
          </a:p>
        </p:txBody>
      </p:sp>
      <p:sp>
        <p:nvSpPr>
          <p:cNvPr id="4" name="TextBox 3"/>
          <p:cNvSpPr txBox="1"/>
          <p:nvPr/>
        </p:nvSpPr>
        <p:spPr>
          <a:xfrm>
            <a:off x="320040" y="914400"/>
            <a:ext cx="5486400" cy="237744"/>
          </a:xfrm>
          <a:prstGeom prst="rect">
            <a:avLst/>
          </a:prstGeom>
          <a:noFill/>
        </p:spPr>
        <p:txBody>
          <a:bodyPr wrap="square" lIns="0" rIns="0" tIns="0" bIns="0">
            <a:spAutoFit/>
          </a:bodyPr>
          <a:lstStyle/>
          <a:p>
            <a:r>
              <a:rPr sz="1100" b="0" i="0">
                <a:solidFill>
                  <a:srgbClr val="111827"/>
                </a:solidFill>
                <a:latin typeface="Century Schoolbook"/>
              </a:rPr>
              <a:t>What we built for clinical trials, 2009–2026</a:t>
            </a:r>
          </a:p>
        </p:txBody>
      </p:sp>
      <p:sp>
        <p:nvSpPr>
          <p:cNvPr id="5" name="Rectangle 4"/>
          <p:cNvSpPr/>
          <p:nvPr/>
        </p:nvSpPr>
        <p:spPr>
          <a:xfrm>
            <a:off x="320040" y="1207008"/>
            <a:ext cx="8503920" cy="11430"/>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rop-race.png"/>
          <p:cNvPicPr>
            <a:picLocks noChangeAspect="1"/>
          </p:cNvPicPr>
          <p:nvPr/>
        </p:nvPicPr>
        <p:blipFill>
          <a:blip r:embed="rId2"/>
          <a:stretch>
            <a:fillRect/>
          </a:stretch>
        </p:blipFill>
        <p:spPr>
          <a:xfrm>
            <a:off x="320040" y="1298448"/>
            <a:ext cx="1444752" cy="1444752"/>
          </a:xfrm>
          <a:prstGeom prst="rect">
            <a:avLst/>
          </a:prstGeom>
        </p:spPr>
      </p:pic>
      <p:sp>
        <p:nvSpPr>
          <p:cNvPr id="7" name="TextBox 6"/>
          <p:cNvSpPr txBox="1"/>
          <p:nvPr/>
        </p:nvSpPr>
        <p:spPr>
          <a:xfrm>
            <a:off x="320040" y="2798064"/>
            <a:ext cx="1691640" cy="137160"/>
          </a:xfrm>
          <a:prstGeom prst="rect">
            <a:avLst/>
          </a:prstGeom>
          <a:noFill/>
        </p:spPr>
        <p:txBody>
          <a:bodyPr wrap="square" lIns="0" rIns="0" tIns="0" bIns="0">
            <a:spAutoFit/>
          </a:bodyPr>
          <a:lstStyle/>
          <a:p>
            <a:r>
              <a:rPr sz="700" b="1" i="0">
                <a:solidFill>
                  <a:srgbClr val="6D6C66"/>
                </a:solidFill>
                <a:latin typeface="Century Schoolbook"/>
              </a:rPr>
              <a:t>RACE</a:t>
            </a:r>
          </a:p>
        </p:txBody>
      </p:sp>
      <p:sp>
        <p:nvSpPr>
          <p:cNvPr id="8" name="TextBox 7"/>
          <p:cNvSpPr txBox="1"/>
          <p:nvPr/>
        </p:nvSpPr>
        <p:spPr>
          <a:xfrm>
            <a:off x="320040" y="2926080"/>
            <a:ext cx="1691640" cy="310896"/>
          </a:xfrm>
          <a:prstGeom prst="rect">
            <a:avLst/>
          </a:prstGeom>
          <a:noFill/>
        </p:spPr>
        <p:txBody>
          <a:bodyPr wrap="square" lIns="0" rIns="0" tIns="0" bIns="0">
            <a:spAutoFit/>
          </a:bodyPr>
          <a:lstStyle/>
          <a:p>
            <a:pPr>
              <a:lnSpc>
                <a:spcPct val="92000"/>
              </a:lnSpc>
            </a:pPr>
            <a:r>
              <a:rPr sz="1000" b="1" i="0">
                <a:solidFill>
                  <a:srgbClr val="15803D"/>
                </a:solidFill>
                <a:latin typeface="Century Schoolbook"/>
              </a:rPr>
              <a:t>57.0%</a:t>
            </a:r>
            <a:r>
              <a:rPr sz="700" b="0" i="0">
                <a:solidFill>
                  <a:srgbClr val="6D6C66"/>
                </a:solidFill>
                <a:latin typeface="Century Schoolbook"/>
              </a:rPr>
              <a:t> of trials report it. White is 64.2% of participants with known race — the dominant slice.</a:t>
            </a:r>
          </a:p>
        </p:txBody>
      </p:sp>
      <p:pic>
        <p:nvPicPr>
          <p:cNvPr id="9" name="Picture 8" descr="crop-ethnicity.png"/>
          <p:cNvPicPr>
            <a:picLocks noChangeAspect="1"/>
          </p:cNvPicPr>
          <p:nvPr/>
        </p:nvPicPr>
        <p:blipFill>
          <a:blip r:embed="rId3"/>
          <a:stretch>
            <a:fillRect/>
          </a:stretch>
        </p:blipFill>
        <p:spPr>
          <a:xfrm>
            <a:off x="2379957" y="1298448"/>
            <a:ext cx="1444752" cy="1444752"/>
          </a:xfrm>
          <a:prstGeom prst="rect">
            <a:avLst/>
          </a:prstGeom>
        </p:spPr>
      </p:pic>
      <p:sp>
        <p:nvSpPr>
          <p:cNvPr id="10" name="TextBox 9"/>
          <p:cNvSpPr txBox="1"/>
          <p:nvPr/>
        </p:nvSpPr>
        <p:spPr>
          <a:xfrm>
            <a:off x="2379957" y="2798064"/>
            <a:ext cx="1691640" cy="137160"/>
          </a:xfrm>
          <a:prstGeom prst="rect">
            <a:avLst/>
          </a:prstGeom>
          <a:noFill/>
        </p:spPr>
        <p:txBody>
          <a:bodyPr wrap="square" lIns="0" rIns="0" tIns="0" bIns="0">
            <a:spAutoFit/>
          </a:bodyPr>
          <a:lstStyle/>
          <a:p>
            <a:r>
              <a:rPr sz="700" b="1" i="0">
                <a:solidFill>
                  <a:srgbClr val="6D6C66"/>
                </a:solidFill>
                <a:latin typeface="Century Schoolbook"/>
              </a:rPr>
              <a:t>ETHNICITY</a:t>
            </a:r>
          </a:p>
        </p:txBody>
      </p:sp>
      <p:sp>
        <p:nvSpPr>
          <p:cNvPr id="11" name="TextBox 10"/>
          <p:cNvSpPr txBox="1"/>
          <p:nvPr/>
        </p:nvSpPr>
        <p:spPr>
          <a:xfrm>
            <a:off x="2379957" y="2926080"/>
            <a:ext cx="1691640" cy="310896"/>
          </a:xfrm>
          <a:prstGeom prst="rect">
            <a:avLst/>
          </a:prstGeom>
          <a:noFill/>
        </p:spPr>
        <p:txBody>
          <a:bodyPr wrap="square" lIns="0" rIns="0" tIns="0" bIns="0">
            <a:spAutoFit/>
          </a:bodyPr>
          <a:lstStyle/>
          <a:p>
            <a:pPr>
              <a:lnSpc>
                <a:spcPct val="92000"/>
              </a:lnSpc>
            </a:pPr>
            <a:r>
              <a:rPr sz="1000" b="1" i="0">
                <a:solidFill>
                  <a:srgbClr val="15803D"/>
                </a:solidFill>
                <a:latin typeface="Century Schoolbook"/>
              </a:rPr>
              <a:t>39.1%</a:t>
            </a:r>
            <a:r>
              <a:rPr sz="700" b="0" i="0">
                <a:solidFill>
                  <a:srgbClr val="6D6C66"/>
                </a:solidFill>
                <a:latin typeface="Century Schoolbook"/>
              </a:rPr>
              <a:t> of trials report it. The largest slice is “unknown”: 52.4% of all participants.</a:t>
            </a:r>
          </a:p>
        </p:txBody>
      </p:sp>
      <p:pic>
        <p:nvPicPr>
          <p:cNvPr id="12" name="Picture 11" descr="crop-sex.png"/>
          <p:cNvPicPr>
            <a:picLocks noChangeAspect="1"/>
          </p:cNvPicPr>
          <p:nvPr/>
        </p:nvPicPr>
        <p:blipFill>
          <a:blip r:embed="rId4"/>
          <a:stretch>
            <a:fillRect/>
          </a:stretch>
        </p:blipFill>
        <p:spPr>
          <a:xfrm>
            <a:off x="4439875" y="1298448"/>
            <a:ext cx="1444752" cy="1444752"/>
          </a:xfrm>
          <a:prstGeom prst="rect">
            <a:avLst/>
          </a:prstGeom>
        </p:spPr>
      </p:pic>
      <p:sp>
        <p:nvSpPr>
          <p:cNvPr id="13" name="TextBox 12"/>
          <p:cNvSpPr txBox="1"/>
          <p:nvPr/>
        </p:nvSpPr>
        <p:spPr>
          <a:xfrm>
            <a:off x="4439875" y="2798064"/>
            <a:ext cx="1691640" cy="137160"/>
          </a:xfrm>
          <a:prstGeom prst="rect">
            <a:avLst/>
          </a:prstGeom>
          <a:noFill/>
        </p:spPr>
        <p:txBody>
          <a:bodyPr wrap="square" lIns="0" rIns="0" tIns="0" bIns="0">
            <a:spAutoFit/>
          </a:bodyPr>
          <a:lstStyle/>
          <a:p>
            <a:r>
              <a:rPr sz="700" b="1" i="0">
                <a:solidFill>
                  <a:srgbClr val="6D6C66"/>
                </a:solidFill>
                <a:latin typeface="Century Schoolbook"/>
              </a:rPr>
              <a:t>SEX</a:t>
            </a:r>
          </a:p>
        </p:txBody>
      </p:sp>
      <p:sp>
        <p:nvSpPr>
          <p:cNvPr id="14" name="TextBox 13"/>
          <p:cNvSpPr txBox="1"/>
          <p:nvPr/>
        </p:nvSpPr>
        <p:spPr>
          <a:xfrm>
            <a:off x="4439875" y="2926080"/>
            <a:ext cx="1691640" cy="310896"/>
          </a:xfrm>
          <a:prstGeom prst="rect">
            <a:avLst/>
          </a:prstGeom>
          <a:noFill/>
        </p:spPr>
        <p:txBody>
          <a:bodyPr wrap="square" lIns="0" rIns="0" tIns="0" bIns="0">
            <a:spAutoFit/>
          </a:bodyPr>
          <a:lstStyle/>
          <a:p>
            <a:pPr>
              <a:lnSpc>
                <a:spcPct val="92000"/>
              </a:lnSpc>
            </a:pPr>
            <a:r>
              <a:rPr sz="1000" b="1" i="0">
                <a:solidFill>
                  <a:srgbClr val="15803D"/>
                </a:solidFill>
                <a:latin typeface="Century Schoolbook"/>
              </a:rPr>
              <a:t>97.3%</a:t>
            </a:r>
            <a:r>
              <a:rPr sz="700" b="0" i="0">
                <a:solidFill>
                  <a:srgbClr val="6D6C66"/>
                </a:solidFill>
                <a:latin typeface="Century Schoolbook"/>
              </a:rPr>
              <a:t> of trials report it — the one dimension that is near-complete. Female 51.5%.</a:t>
            </a:r>
          </a:p>
        </p:txBody>
      </p:sp>
      <p:pic>
        <p:nvPicPr>
          <p:cNvPr id="15" name="Picture 14" descr="crop-geography.png"/>
          <p:cNvPicPr>
            <a:picLocks noChangeAspect="1"/>
          </p:cNvPicPr>
          <p:nvPr/>
        </p:nvPicPr>
        <p:blipFill>
          <a:blip r:embed="rId5"/>
          <a:stretch>
            <a:fillRect/>
          </a:stretch>
        </p:blipFill>
        <p:spPr>
          <a:xfrm>
            <a:off x="6499793" y="1298448"/>
            <a:ext cx="2324166" cy="1444752"/>
          </a:xfrm>
          <a:prstGeom prst="rect">
            <a:avLst/>
          </a:prstGeom>
        </p:spPr>
      </p:pic>
      <p:sp>
        <p:nvSpPr>
          <p:cNvPr id="16" name="TextBox 15"/>
          <p:cNvSpPr txBox="1"/>
          <p:nvPr/>
        </p:nvSpPr>
        <p:spPr>
          <a:xfrm>
            <a:off x="6499793" y="2798064"/>
            <a:ext cx="2324166" cy="137160"/>
          </a:xfrm>
          <a:prstGeom prst="rect">
            <a:avLst/>
          </a:prstGeom>
          <a:noFill/>
        </p:spPr>
        <p:txBody>
          <a:bodyPr wrap="square" lIns="0" rIns="0" tIns="0" bIns="0">
            <a:spAutoFit/>
          </a:bodyPr>
          <a:lstStyle/>
          <a:p>
            <a:r>
              <a:rPr sz="700" b="1" i="0">
                <a:solidFill>
                  <a:srgbClr val="6D6C66"/>
                </a:solidFill>
                <a:latin typeface="Century Schoolbook"/>
              </a:rPr>
              <a:t>GEOGRAPHY</a:t>
            </a:r>
          </a:p>
        </p:txBody>
      </p:sp>
      <p:sp>
        <p:nvSpPr>
          <p:cNvPr id="17" name="TextBox 16"/>
          <p:cNvSpPr txBox="1"/>
          <p:nvPr/>
        </p:nvSpPr>
        <p:spPr>
          <a:xfrm>
            <a:off x="6499793" y="2926080"/>
            <a:ext cx="2324166" cy="310896"/>
          </a:xfrm>
          <a:prstGeom prst="rect">
            <a:avLst/>
          </a:prstGeom>
          <a:noFill/>
        </p:spPr>
        <p:txBody>
          <a:bodyPr wrap="square" lIns="0" rIns="0" tIns="0" bIns="0">
            <a:spAutoFit/>
          </a:bodyPr>
          <a:lstStyle/>
          <a:p>
            <a:pPr>
              <a:lnSpc>
                <a:spcPct val="92000"/>
              </a:lnSpc>
            </a:pPr>
            <a:r>
              <a:rPr sz="1000" b="1" i="0">
                <a:solidFill>
                  <a:srgbClr val="15803D"/>
                </a:solidFill>
                <a:latin typeface="Century Schoolbook"/>
              </a:rPr>
              <a:t>37.3%</a:t>
            </a:r>
            <a:r>
              <a:rPr sz="700" b="0" i="0">
                <a:solidFill>
                  <a:srgbClr val="6D6C66"/>
                </a:solidFill>
                <a:latin typeface="Century Schoolbook"/>
              </a:rPr>
              <a:t> of trial sites sit in the South. CA, TX, FL and NY dominate the map.</a:t>
            </a:r>
          </a:p>
        </p:txBody>
      </p:sp>
      <p:sp>
        <p:nvSpPr>
          <p:cNvPr id="18" name="Rectangle 17"/>
          <p:cNvSpPr/>
          <p:nvPr/>
        </p:nvSpPr>
        <p:spPr>
          <a:xfrm>
            <a:off x="320040" y="3310128"/>
            <a:ext cx="8503920" cy="11430"/>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0040" y="3383280"/>
            <a:ext cx="5486400" cy="237744"/>
          </a:xfrm>
          <a:prstGeom prst="rect">
            <a:avLst/>
          </a:prstGeom>
          <a:noFill/>
        </p:spPr>
        <p:txBody>
          <a:bodyPr wrap="square" lIns="0" rIns="0" tIns="0" bIns="0">
            <a:spAutoFit/>
          </a:bodyPr>
          <a:lstStyle/>
          <a:p>
            <a:r>
              <a:rPr sz="1100" b="0" i="0">
                <a:solidFill>
                  <a:srgbClr val="111827"/>
                </a:solidFill>
                <a:latin typeface="Century Schoolbook"/>
              </a:rPr>
              <a:t>The same four questions, now for medical AI</a:t>
            </a:r>
          </a:p>
        </p:txBody>
      </p:sp>
      <p:pic>
        <p:nvPicPr>
          <p:cNvPr id="20" name="Picture 19" descr="crop-ai-devices.png"/>
          <p:cNvPicPr>
            <a:picLocks noChangeAspect="1"/>
          </p:cNvPicPr>
          <p:nvPr/>
        </p:nvPicPr>
        <p:blipFill>
          <a:blip r:embed="rId6"/>
          <a:stretch>
            <a:fillRect/>
          </a:stretch>
        </p:blipFill>
        <p:spPr>
          <a:xfrm>
            <a:off x="320040" y="3712463"/>
            <a:ext cx="4160520" cy="795528"/>
          </a:xfrm>
          <a:prstGeom prst="rect">
            <a:avLst/>
          </a:prstGeom>
        </p:spPr>
      </p:pic>
      <p:sp>
        <p:nvSpPr>
          <p:cNvPr id="21" name="TextBox 20"/>
          <p:cNvSpPr txBox="1"/>
          <p:nvPr/>
        </p:nvSpPr>
        <p:spPr>
          <a:xfrm>
            <a:off x="320040" y="4562856"/>
            <a:ext cx="4160520" cy="146304"/>
          </a:xfrm>
          <a:prstGeom prst="rect">
            <a:avLst/>
          </a:prstGeom>
          <a:noFill/>
        </p:spPr>
        <p:txBody>
          <a:bodyPr wrap="square" lIns="0" rIns="0" tIns="0" bIns="0">
            <a:spAutoFit/>
          </a:bodyPr>
          <a:lstStyle/>
          <a:p>
            <a:r>
              <a:rPr sz="700" b="0" i="0">
                <a:solidFill>
                  <a:srgbClr val="6D6C66"/>
                </a:solidFill>
                <a:latin typeface="Century Schoolbook"/>
              </a:rPr>
              <a:t>FDA AI/ML-Enabled Device List · 1,451 authorizations to 2026-03-05</a:t>
            </a:r>
          </a:p>
        </p:txBody>
      </p:sp>
      <p:sp>
        <p:nvSpPr>
          <p:cNvPr id="22" name="Rectangle 21"/>
          <p:cNvSpPr/>
          <p:nvPr/>
        </p:nvSpPr>
        <p:spPr>
          <a:xfrm>
            <a:off x="4754880" y="3675887"/>
            <a:ext cx="11430" cy="960120"/>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56048" y="3675887"/>
            <a:ext cx="3867912" cy="1051560"/>
          </a:xfrm>
          <a:prstGeom prst="rect">
            <a:avLst/>
          </a:prstGeom>
          <a:noFill/>
        </p:spPr>
        <p:txBody>
          <a:bodyPr wrap="square" lIns="0" rIns="0" tIns="0" bIns="0">
            <a:spAutoFit/>
          </a:bodyPr>
          <a:lstStyle/>
          <a:p>
            <a:pPr>
              <a:lnSpc>
                <a:spcPct val="95000"/>
              </a:lnSpc>
            </a:pPr>
            <a:r>
              <a:rPr sz="900" b="1" i="0">
                <a:solidFill>
                  <a:srgbClr val="B4483D"/>
                </a:solidFill>
                <a:latin typeface="Century Schoolbook"/>
              </a:rPr>
              <a:t>96.2% arrive by the 510(k) predicate route</a:t>
            </a:r>
            <a:r>
              <a:rPr sz="800" b="0" i="0">
                <a:solidFill>
                  <a:srgbClr val="111827"/>
                </a:solidFill>
                <a:latin typeface="Century Schoolbook"/>
              </a:rPr>
              <a:t> — substantial equivalence to a device already marketed, with no new clinical evidence required. Only 18 of 1,451 went through full PMA review.</a:t>
            </a:r>
          </a:p>
          <a:p>
            <a:pPr>
              <a:lnSpc>
                <a:spcPct val="95000"/>
              </a:lnSpc>
              <a:spcBef>
                <a:spcPts val="400"/>
              </a:spcBef>
            </a:pPr>
            <a:r>
              <a:rPr sz="900" b="1" i="0">
                <a:solidFill>
                  <a:srgbClr val="111827"/>
                </a:solidFill>
                <a:latin typeface="Century Schoolbook"/>
              </a:rPr>
              <a:t>The FDA publishes no demographics for these validation cohorts.</a:t>
            </a:r>
            <a:r>
              <a:rPr sz="800" b="0" i="0">
                <a:solidFill>
                  <a:srgbClr val="111827"/>
                </a:solidFill>
                <a:latin typeface="Century Schoolbook"/>
              </a:rPr>
              <a:t> So Claude reads each device’s public 510(k)/De Novo/PMA summary and its open-access manuscripts, quoting the evidence before committing a value.</a:t>
            </a:r>
          </a:p>
        </p:txBody>
      </p:sp>
      <p:sp>
        <p:nvSpPr>
          <p:cNvPr id="24" name="TextBox 23"/>
          <p:cNvSpPr txBox="1"/>
          <p:nvPr/>
        </p:nvSpPr>
        <p:spPr>
          <a:xfrm>
            <a:off x="320040" y="4809744"/>
            <a:ext cx="8503920" cy="201168"/>
          </a:xfrm>
          <a:prstGeom prst="rect">
            <a:avLst/>
          </a:prstGeom>
          <a:noFill/>
        </p:spPr>
        <p:txBody>
          <a:bodyPr wrap="square" lIns="0" rIns="0" tIns="0" bIns="0">
            <a:spAutoFit/>
          </a:bodyPr>
          <a:lstStyle/>
          <a:p>
            <a:r>
              <a:rPr sz="700" b="0" i="0">
                <a:solidFill>
                  <a:srgbClr val="6D6C66"/>
                </a:solidFill>
                <a:latin typeface="Century Schoolbook"/>
              </a:rPr>
              <a:t>Dashboard: civicsample.com · trial figures from data/dashboard-summary.json (2026-07-26 snapshot, all study types) · device figures from the FDA AI/ML-Enabled Device List</a:t>
            </a:r>
          </a:p>
        </p:txBody>
      </p:sp>
    </p:spTree>
    <p:extLst>
      <p:ext uri="{BB962C8B-B14F-4D97-AF65-F5344CB8AC3E}">
        <p14:creationId xmlns:p14="http://schemas.microsoft.com/office/powerpoint/2010/main" val="19096857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786CB25-48E6-F447-3C57-982E0E8C88B2}"/>
              </a:ext>
            </a:extLst>
          </p:cNvPr>
          <p:cNvSpPr txBox="1"/>
          <p:nvPr/>
        </p:nvSpPr>
        <p:spPr>
          <a:xfrm>
            <a:off x="320040" y="265176"/>
            <a:ext cx="8503920" cy="384048"/>
          </a:xfrm>
          <a:prstGeom prst="rect">
            <a:avLst/>
          </a:prstGeom>
          <a:noFill/>
        </p:spPr>
        <p:txBody>
          <a:bodyPr wrap="square" rtlCol="0" lIns="0" tIns="0">
            <a:spAutoFit/>
          </a:bodyPr>
          <a:lstStyle/>
          <a:p>
            <a:r>
              <a:rPr lang="en-US" dirty="0" sz="1800" b="1">
                <a:solidFill>
                  <a:srgbClr val="111827"/>
                </a:solidFill>
                <a:latin typeface="Century Schoolbook"/>
              </a:rPr>
              <a:t>What we did with tokens, and where feedback would be most useful</a:t>
            </a:r>
          </a:p>
        </p:txBody>
      </p:sp>
      <p:sp>
        <p:nvSpPr>
          <p:cNvPr id="3" name="TextBox 2"/>
          <p:cNvSpPr txBox="1"/>
          <p:nvPr/>
        </p:nvSpPr>
        <p:spPr>
          <a:xfrm>
            <a:off x="320040" y="630936"/>
            <a:ext cx="8503920" cy="256032"/>
          </a:xfrm>
          <a:prstGeom prst="rect">
            <a:avLst/>
          </a:prstGeom>
          <a:noFill/>
        </p:spPr>
        <p:txBody>
          <a:bodyPr wrap="square" lIns="0" rIns="0" tIns="0" bIns="0">
            <a:spAutoFit/>
          </a:bodyPr>
          <a:lstStyle/>
          <a:p>
            <a:r>
              <a:rPr sz="1050" b="1" i="1">
                <a:solidFill>
                  <a:srgbClr val="6D6C66"/>
                </a:solidFill>
                <a:latin typeface="Century Schoolbook"/>
              </a:rPr>
              <a:t>$11.11</a:t>
            </a:r>
            <a:r>
              <a:rPr sz="1050" b="0" i="1">
                <a:solidFill>
                  <a:srgbClr val="6D6C66"/>
                </a:solidFill>
                <a:latin typeface="Century Schoolbook"/>
              </a:rPr>
              <a:t> of the </a:t>
            </a:r>
            <a:r>
              <a:rPr sz="1050" b="1" i="1">
                <a:solidFill>
                  <a:srgbClr val="6D6C66"/>
                </a:solidFill>
                <a:latin typeface="Century Schoolbook"/>
              </a:rPr>
              <a:t>$38,133</a:t>
            </a:r>
            <a:r>
              <a:rPr sz="1050" b="0" i="1">
                <a:solidFill>
                  <a:srgbClr val="6D6C66"/>
                </a:solidFill>
                <a:latin typeface="Century Schoolbook"/>
              </a:rPr>
              <a:t> award spent so far — the pilot was about proving the extraction before scaling it, not about volume.</a:t>
            </a:r>
          </a:p>
        </p:txBody>
      </p:sp>
      <p:sp>
        <p:nvSpPr>
          <p:cNvPr id="4" name="TextBox 3"/>
          <p:cNvSpPr txBox="1"/>
          <p:nvPr/>
        </p:nvSpPr>
        <p:spPr>
          <a:xfrm>
            <a:off x="320040" y="914400"/>
            <a:ext cx="4892040" cy="237744"/>
          </a:xfrm>
          <a:prstGeom prst="rect">
            <a:avLst/>
          </a:prstGeom>
          <a:noFill/>
        </p:spPr>
        <p:txBody>
          <a:bodyPr wrap="square" lIns="0" rIns="0" tIns="0" bIns="0">
            <a:spAutoFit/>
          </a:bodyPr>
          <a:lstStyle/>
          <a:p>
            <a:r>
              <a:rPr sz="1100" b="0" i="0">
                <a:solidFill>
                  <a:srgbClr val="111827"/>
                </a:solidFill>
                <a:latin typeface="Century Schoolbook"/>
              </a:rPr>
              <a:t>What the pilot cost</a:t>
            </a:r>
          </a:p>
        </p:txBody>
      </p:sp>
      <p:sp>
        <p:nvSpPr>
          <p:cNvPr id="5" name="Rectangle 4"/>
          <p:cNvSpPr/>
          <p:nvPr/>
        </p:nvSpPr>
        <p:spPr>
          <a:xfrm>
            <a:off x="320040" y="1207008"/>
            <a:ext cx="4892040" cy="11430"/>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1298448"/>
            <a:ext cx="1188720" cy="219456"/>
          </a:xfrm>
          <a:prstGeom prst="rect">
            <a:avLst/>
          </a:prstGeom>
          <a:noFill/>
        </p:spPr>
        <p:txBody>
          <a:bodyPr wrap="square" lIns="0" rIns="0" tIns="0" bIns="0">
            <a:spAutoFit/>
          </a:bodyPr>
          <a:lstStyle/>
          <a:p>
            <a:r>
              <a:rPr sz="1300" b="1" i="0">
                <a:solidFill>
                  <a:srgbClr val="15803D"/>
                </a:solidFill>
                <a:latin typeface="Century Schoolbook"/>
              </a:rPr>
              <a:t>2.63M</a:t>
            </a:r>
          </a:p>
        </p:txBody>
      </p:sp>
      <p:sp>
        <p:nvSpPr>
          <p:cNvPr id="7" name="TextBox 6"/>
          <p:cNvSpPr txBox="1"/>
          <p:nvPr/>
        </p:nvSpPr>
        <p:spPr>
          <a:xfrm>
            <a:off x="320040" y="1517904"/>
            <a:ext cx="1188720" cy="128016"/>
          </a:xfrm>
          <a:prstGeom prst="rect">
            <a:avLst/>
          </a:prstGeom>
          <a:noFill/>
        </p:spPr>
        <p:txBody>
          <a:bodyPr wrap="square" lIns="0" rIns="0" tIns="0" bIns="0">
            <a:spAutoFit/>
          </a:bodyPr>
          <a:lstStyle/>
          <a:p>
            <a:r>
              <a:rPr sz="800" b="1" i="0">
                <a:solidFill>
                  <a:srgbClr val="111827"/>
                </a:solidFill>
                <a:latin typeface="Century Schoolbook"/>
              </a:rPr>
              <a:t>tokens</a:t>
            </a:r>
          </a:p>
        </p:txBody>
      </p:sp>
      <p:sp>
        <p:nvSpPr>
          <p:cNvPr id="8" name="TextBox 7"/>
          <p:cNvSpPr txBox="1"/>
          <p:nvPr/>
        </p:nvSpPr>
        <p:spPr>
          <a:xfrm>
            <a:off x="320040" y="1645920"/>
            <a:ext cx="1188720" cy="128016"/>
          </a:xfrm>
          <a:prstGeom prst="rect">
            <a:avLst/>
          </a:prstGeom>
          <a:noFill/>
        </p:spPr>
        <p:txBody>
          <a:bodyPr wrap="square" lIns="0" rIns="0" tIns="0" bIns="0">
            <a:spAutoFit/>
          </a:bodyPr>
          <a:lstStyle/>
          <a:p>
            <a:r>
              <a:rPr sz="650" b="0" i="0">
                <a:solidFill>
                  <a:srgbClr val="6D6C66"/>
                </a:solidFill>
                <a:latin typeface="Century Schoolbook"/>
              </a:rPr>
              <a:t>2.41M in · 220K out</a:t>
            </a:r>
          </a:p>
        </p:txBody>
      </p:sp>
      <p:sp>
        <p:nvSpPr>
          <p:cNvPr id="9" name="TextBox 8"/>
          <p:cNvSpPr txBox="1"/>
          <p:nvPr/>
        </p:nvSpPr>
        <p:spPr>
          <a:xfrm>
            <a:off x="1554480" y="1298448"/>
            <a:ext cx="1188720" cy="219456"/>
          </a:xfrm>
          <a:prstGeom prst="rect">
            <a:avLst/>
          </a:prstGeom>
          <a:noFill/>
        </p:spPr>
        <p:txBody>
          <a:bodyPr wrap="square" lIns="0" rIns="0" tIns="0" bIns="0">
            <a:spAutoFit/>
          </a:bodyPr>
          <a:lstStyle/>
          <a:p>
            <a:r>
              <a:rPr sz="1300" b="1" i="0">
                <a:solidFill>
                  <a:srgbClr val="15803D"/>
                </a:solidFill>
                <a:latin typeface="Century Schoolbook"/>
              </a:rPr>
              <a:t>36</a:t>
            </a:r>
          </a:p>
        </p:txBody>
      </p:sp>
      <p:sp>
        <p:nvSpPr>
          <p:cNvPr id="10" name="TextBox 9"/>
          <p:cNvSpPr txBox="1"/>
          <p:nvPr/>
        </p:nvSpPr>
        <p:spPr>
          <a:xfrm>
            <a:off x="1554480" y="1517904"/>
            <a:ext cx="1188720" cy="128016"/>
          </a:xfrm>
          <a:prstGeom prst="rect">
            <a:avLst/>
          </a:prstGeom>
          <a:noFill/>
        </p:spPr>
        <p:txBody>
          <a:bodyPr wrap="square" lIns="0" rIns="0" tIns="0" bIns="0">
            <a:spAutoFit/>
          </a:bodyPr>
          <a:lstStyle/>
          <a:p>
            <a:r>
              <a:rPr sz="800" b="1" i="0">
                <a:solidFill>
                  <a:srgbClr val="111827"/>
                </a:solidFill>
                <a:latin typeface="Century Schoolbook"/>
              </a:rPr>
              <a:t>documents</a:t>
            </a:r>
          </a:p>
        </p:txBody>
      </p:sp>
      <p:sp>
        <p:nvSpPr>
          <p:cNvPr id="11" name="TextBox 10"/>
          <p:cNvSpPr txBox="1"/>
          <p:nvPr/>
        </p:nvSpPr>
        <p:spPr>
          <a:xfrm>
            <a:off x="1554480" y="1645920"/>
            <a:ext cx="1188720" cy="128016"/>
          </a:xfrm>
          <a:prstGeom prst="rect">
            <a:avLst/>
          </a:prstGeom>
          <a:noFill/>
        </p:spPr>
        <p:txBody>
          <a:bodyPr wrap="square" lIns="0" rIns="0" tIns="0" bIns="0">
            <a:spAutoFit/>
          </a:bodyPr>
          <a:lstStyle/>
          <a:p>
            <a:r>
              <a:rPr sz="650" b="0" i="0">
                <a:solidFill>
                  <a:srgbClr val="6D6C66"/>
                </a:solidFill>
                <a:latin typeface="Century Schoolbook"/>
              </a:rPr>
              <a:t>373 PDF pages</a:t>
            </a:r>
          </a:p>
        </p:txBody>
      </p:sp>
      <p:sp>
        <p:nvSpPr>
          <p:cNvPr id="12" name="TextBox 11"/>
          <p:cNvSpPr txBox="1"/>
          <p:nvPr/>
        </p:nvSpPr>
        <p:spPr>
          <a:xfrm>
            <a:off x="2788920" y="1298448"/>
            <a:ext cx="1188720" cy="219456"/>
          </a:xfrm>
          <a:prstGeom prst="rect">
            <a:avLst/>
          </a:prstGeom>
          <a:noFill/>
        </p:spPr>
        <p:txBody>
          <a:bodyPr wrap="square" lIns="0" rIns="0" tIns="0" bIns="0">
            <a:spAutoFit/>
          </a:bodyPr>
          <a:lstStyle/>
          <a:p>
            <a:r>
              <a:rPr sz="1300" b="1" i="0">
                <a:solidFill>
                  <a:srgbClr val="15803D"/>
                </a:solidFill>
                <a:latin typeface="Century Schoolbook"/>
              </a:rPr>
              <a:t>3×</a:t>
            </a:r>
          </a:p>
        </p:txBody>
      </p:sp>
      <p:sp>
        <p:nvSpPr>
          <p:cNvPr id="13" name="TextBox 12"/>
          <p:cNvSpPr txBox="1"/>
          <p:nvPr/>
        </p:nvSpPr>
        <p:spPr>
          <a:xfrm>
            <a:off x="2788920" y="1517904"/>
            <a:ext cx="1188720" cy="128016"/>
          </a:xfrm>
          <a:prstGeom prst="rect">
            <a:avLst/>
          </a:prstGeom>
          <a:noFill/>
        </p:spPr>
        <p:txBody>
          <a:bodyPr wrap="square" lIns="0" rIns="0" tIns="0" bIns="0">
            <a:spAutoFit/>
          </a:bodyPr>
          <a:lstStyle/>
          <a:p>
            <a:r>
              <a:rPr sz="800" b="1" i="0">
                <a:solidFill>
                  <a:srgbClr val="111827"/>
                </a:solidFill>
                <a:latin typeface="Century Schoolbook"/>
              </a:rPr>
              <a:t>models each</a:t>
            </a:r>
          </a:p>
        </p:txBody>
      </p:sp>
      <p:sp>
        <p:nvSpPr>
          <p:cNvPr id="14" name="TextBox 13"/>
          <p:cNvSpPr txBox="1"/>
          <p:nvPr/>
        </p:nvSpPr>
        <p:spPr>
          <a:xfrm>
            <a:off x="2788920" y="1645920"/>
            <a:ext cx="1188720" cy="128016"/>
          </a:xfrm>
          <a:prstGeom prst="rect">
            <a:avLst/>
          </a:prstGeom>
          <a:noFill/>
        </p:spPr>
        <p:txBody>
          <a:bodyPr wrap="square" lIns="0" rIns="0" tIns="0" bIns="0">
            <a:spAutoFit/>
          </a:bodyPr>
          <a:lstStyle/>
          <a:p>
            <a:r>
              <a:rPr sz="650" b="0" i="0">
                <a:solidFill>
                  <a:srgbClr val="6D6C66"/>
                </a:solidFill>
                <a:latin typeface="Century Schoolbook"/>
              </a:rPr>
              <a:t>Haiku · Sonnet · Opus</a:t>
            </a:r>
          </a:p>
        </p:txBody>
      </p:sp>
      <p:sp>
        <p:nvSpPr>
          <p:cNvPr id="15" name="TextBox 14"/>
          <p:cNvSpPr txBox="1"/>
          <p:nvPr/>
        </p:nvSpPr>
        <p:spPr>
          <a:xfrm>
            <a:off x="4023360" y="1298448"/>
            <a:ext cx="1188720" cy="219456"/>
          </a:xfrm>
          <a:prstGeom prst="rect">
            <a:avLst/>
          </a:prstGeom>
          <a:noFill/>
        </p:spPr>
        <p:txBody>
          <a:bodyPr wrap="square" lIns="0" rIns="0" tIns="0" bIns="0">
            <a:spAutoFit/>
          </a:bodyPr>
          <a:lstStyle/>
          <a:p>
            <a:r>
              <a:rPr sz="1300" b="1" i="0">
                <a:solidFill>
                  <a:srgbClr val="15803D"/>
                </a:solidFill>
                <a:latin typeface="Century Schoolbook"/>
              </a:rPr>
              <a:t>0.03%</a:t>
            </a:r>
          </a:p>
        </p:txBody>
      </p:sp>
      <p:sp>
        <p:nvSpPr>
          <p:cNvPr id="16" name="TextBox 15"/>
          <p:cNvSpPr txBox="1"/>
          <p:nvPr/>
        </p:nvSpPr>
        <p:spPr>
          <a:xfrm>
            <a:off x="4023360" y="1517904"/>
            <a:ext cx="1188720" cy="128016"/>
          </a:xfrm>
          <a:prstGeom prst="rect">
            <a:avLst/>
          </a:prstGeom>
          <a:noFill/>
        </p:spPr>
        <p:txBody>
          <a:bodyPr wrap="square" lIns="0" rIns="0" tIns="0" bIns="0">
            <a:spAutoFit/>
          </a:bodyPr>
          <a:lstStyle/>
          <a:p>
            <a:r>
              <a:rPr sz="800" b="1" i="0">
                <a:solidFill>
                  <a:srgbClr val="111827"/>
                </a:solidFill>
                <a:latin typeface="Century Schoolbook"/>
              </a:rPr>
              <a:t>of award used</a:t>
            </a:r>
          </a:p>
        </p:txBody>
      </p:sp>
      <p:sp>
        <p:nvSpPr>
          <p:cNvPr id="17" name="TextBox 16"/>
          <p:cNvSpPr txBox="1"/>
          <p:nvPr/>
        </p:nvSpPr>
        <p:spPr>
          <a:xfrm>
            <a:off x="4023360" y="1645920"/>
            <a:ext cx="1188720" cy="128016"/>
          </a:xfrm>
          <a:prstGeom prst="rect">
            <a:avLst/>
          </a:prstGeom>
          <a:noFill/>
        </p:spPr>
        <p:txBody>
          <a:bodyPr wrap="square" lIns="0" rIns="0" tIns="0" bIns="0">
            <a:spAutoFit/>
          </a:bodyPr>
          <a:lstStyle/>
          <a:p>
            <a:r>
              <a:rPr sz="650" b="0" i="0">
                <a:solidFill>
                  <a:srgbClr val="6D6C66"/>
                </a:solidFill>
                <a:latin typeface="Century Schoolbook"/>
              </a:rPr>
              <a:t>$11.11 of $38,133</a:t>
            </a:r>
          </a:p>
        </p:txBody>
      </p:sp>
      <p:sp>
        <p:nvSpPr>
          <p:cNvPr id="18" name="TextBox 17"/>
          <p:cNvSpPr txBox="1"/>
          <p:nvPr/>
        </p:nvSpPr>
        <p:spPr>
          <a:xfrm>
            <a:off x="320040" y="1883664"/>
            <a:ext cx="4892040" cy="182880"/>
          </a:xfrm>
          <a:prstGeom prst="rect">
            <a:avLst/>
          </a:prstGeom>
          <a:noFill/>
        </p:spPr>
        <p:txBody>
          <a:bodyPr wrap="square" lIns="0" rIns="0" tIns="0" bIns="0">
            <a:spAutoFit/>
          </a:bodyPr>
          <a:lstStyle/>
          <a:p>
            <a:r>
              <a:rPr sz="800" b="0" i="1">
                <a:solidFill>
                  <a:srgbClr val="6D6C66"/>
                </a:solidFill>
                <a:latin typeface="Century Schoolbook"/>
              </a:rPr>
              <a:t>Per-model comparison from the FDA pilot, as shown on the dashboard</a:t>
            </a:r>
          </a:p>
        </p:txBody>
      </p:sp>
      <p:pic>
        <p:nvPicPr>
          <p:cNvPr id="19" name="Picture 18" descr="crop-models.png"/>
          <p:cNvPicPr>
            <a:picLocks noChangeAspect="1"/>
          </p:cNvPicPr>
          <p:nvPr/>
        </p:nvPicPr>
        <p:blipFill>
          <a:blip r:embed="rId2"/>
          <a:stretch>
            <a:fillRect/>
          </a:stretch>
        </p:blipFill>
        <p:spPr>
          <a:xfrm>
            <a:off x="320040" y="2084831"/>
            <a:ext cx="4892040" cy="1271016"/>
          </a:xfrm>
          <a:prstGeom prst="rect">
            <a:avLst/>
          </a:prstGeom>
        </p:spPr>
      </p:pic>
      <p:sp>
        <p:nvSpPr>
          <p:cNvPr id="20" name="TextBox 19"/>
          <p:cNvSpPr txBox="1"/>
          <p:nvPr/>
        </p:nvSpPr>
        <p:spPr>
          <a:xfrm>
            <a:off x="320040" y="3456432"/>
            <a:ext cx="4892040" cy="1234440"/>
          </a:xfrm>
          <a:prstGeom prst="rect">
            <a:avLst/>
          </a:prstGeom>
          <a:noFill/>
        </p:spPr>
        <p:txBody>
          <a:bodyPr wrap="square" lIns="0" rIns="0" tIns="0" bIns="0">
            <a:spAutoFit/>
          </a:bodyPr>
          <a:lstStyle/>
          <a:p>
            <a:pPr>
              <a:lnSpc>
                <a:spcPct val="95000"/>
              </a:lnSpc>
            </a:pPr>
            <a:r>
              <a:rPr sz="800" b="1" i="0">
                <a:solidFill>
                  <a:srgbClr val="111827"/>
                </a:solidFill>
                <a:latin typeface="Century Schoolbook"/>
              </a:rPr>
              <a:t>Scaling from here.</a:t>
            </a:r>
            <a:r>
              <a:rPr sz="800" b="0" i="0">
                <a:solidFill>
                  <a:srgbClr val="111827"/>
                </a:solidFill>
                <a:latin typeface="Century Schoolbook"/>
              </a:rPr>
              <a:t> The proposal budgets ~2.9B tokens for 1,200 devices and 75,000 manuscripts, and the $38,133 assumes all three models over the whole corpus. A single model is $2.8K–$8.6K of that.</a:t>
            </a:r>
          </a:p>
          <a:p>
            <a:pPr>
              <a:lnSpc>
                <a:spcPct val="95000"/>
              </a:lnSpc>
              <a:spcBef>
                <a:spcPts val="400"/>
              </a:spcBef>
            </a:pPr>
            <a:r>
              <a:rPr sz="800" b="1" i="0">
                <a:solidFill>
                  <a:srgbClr val="B4483D"/>
                </a:solidFill>
                <a:latin typeface="Century Schoolbook"/>
              </a:rPr>
              <a:t>One correction before this is presented.</a:t>
            </a:r>
            <a:r>
              <a:rPr sz="800" b="0" i="0">
                <a:solidFill>
                  <a:srgbClr val="B4483D"/>
                </a:solidFill>
                <a:latin typeface="Century Schoolbook"/>
              </a:rPr>
              <a:t> The dashboard still prices Opus 4.7 at $15/$75 per 1M — the current rate is $5/$25, so the projections above read ~3× high. The proposal’s own budget uses the correct rate; only the dashboard display is stale.</a:t>
            </a:r>
          </a:p>
        </p:txBody>
      </p:sp>
      <p:sp>
        <p:nvSpPr>
          <p:cNvPr id="21" name="Rectangle 20"/>
          <p:cNvSpPr/>
          <p:nvPr/>
        </p:nvSpPr>
        <p:spPr>
          <a:xfrm>
            <a:off x="5394960" y="1261872"/>
            <a:ext cx="11430" cy="3429000"/>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32120" y="914400"/>
            <a:ext cx="3291840" cy="237744"/>
          </a:xfrm>
          <a:prstGeom prst="rect">
            <a:avLst/>
          </a:prstGeom>
          <a:noFill/>
        </p:spPr>
        <p:txBody>
          <a:bodyPr wrap="square" lIns="0" rIns="0" tIns="0" bIns="0">
            <a:spAutoFit/>
          </a:bodyPr>
          <a:lstStyle/>
          <a:p>
            <a:r>
              <a:rPr sz="1100" b="0" i="0">
                <a:solidFill>
                  <a:srgbClr val="111827"/>
                </a:solidFill>
                <a:latin typeface="Century Schoolbook"/>
              </a:rPr>
              <a:t>Where feedback would help most</a:t>
            </a:r>
          </a:p>
        </p:txBody>
      </p:sp>
      <p:sp>
        <p:nvSpPr>
          <p:cNvPr id="23" name="Rectangle 22"/>
          <p:cNvSpPr/>
          <p:nvPr/>
        </p:nvSpPr>
        <p:spPr>
          <a:xfrm>
            <a:off x="5532120" y="1207008"/>
            <a:ext cx="3291840" cy="11430"/>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32120" y="1316736"/>
            <a:ext cx="164592" cy="128016"/>
          </a:xfrm>
          <a:prstGeom prst="rect">
            <a:avLst/>
          </a:prstGeom>
          <a:noFill/>
        </p:spPr>
        <p:txBody>
          <a:bodyPr wrap="square" lIns="0" rIns="0" tIns="0" bIns="0">
            <a:spAutoFit/>
          </a:bodyPr>
          <a:lstStyle/>
          <a:p>
            <a:r>
              <a:rPr sz="850" b="1" i="0">
                <a:solidFill>
                  <a:srgbClr val="B4483D"/>
                </a:solidFill>
                <a:latin typeface="Century Schoolbook"/>
              </a:rPr>
              <a:t>1</a:t>
            </a:r>
          </a:p>
        </p:txBody>
      </p:sp>
      <p:sp>
        <p:nvSpPr>
          <p:cNvPr id="25" name="TextBox 24"/>
          <p:cNvSpPr txBox="1"/>
          <p:nvPr/>
        </p:nvSpPr>
        <p:spPr>
          <a:xfrm>
            <a:off x="5724144" y="1316736"/>
            <a:ext cx="3099816" cy="137160"/>
          </a:xfrm>
          <a:prstGeom prst="rect">
            <a:avLst/>
          </a:prstGeom>
          <a:noFill/>
        </p:spPr>
        <p:txBody>
          <a:bodyPr wrap="square" lIns="0" rIns="0" tIns="0" bIns="0">
            <a:spAutoFit/>
          </a:bodyPr>
          <a:lstStyle/>
          <a:p>
            <a:r>
              <a:rPr sz="850" b="1" i="0">
                <a:solidFill>
                  <a:srgbClr val="111827"/>
                </a:solidFill>
                <a:latin typeface="Century Schoolbook"/>
              </a:rPr>
              <a:t>All three models, or one?</a:t>
            </a:r>
          </a:p>
        </p:txBody>
      </p:sp>
      <p:sp>
        <p:nvSpPr>
          <p:cNvPr id="26" name="TextBox 25"/>
          <p:cNvSpPr txBox="1"/>
          <p:nvPr/>
        </p:nvSpPr>
        <p:spPr>
          <a:xfrm>
            <a:off x="5724144" y="1463039"/>
            <a:ext cx="3099816" cy="566928"/>
          </a:xfrm>
          <a:prstGeom prst="rect">
            <a:avLst/>
          </a:prstGeom>
          <a:noFill/>
        </p:spPr>
        <p:txBody>
          <a:bodyPr wrap="square" lIns="0" rIns="0" tIns="0" bIns="0">
            <a:spAutoFit/>
          </a:bodyPr>
          <a:lstStyle/>
          <a:p>
            <a:pPr>
              <a:lnSpc>
                <a:spcPct val="95000"/>
              </a:lnSpc>
            </a:pPr>
            <a:r>
              <a:rPr sz="700" b="0" i="0">
                <a:solidFill>
                  <a:srgbClr val="6D6C66"/>
                </a:solidFill>
                <a:latin typeface="Century Schoolbook"/>
              </a:rPr>
              <a:t>We run every document through Haiku, Sonnet and Opus and treat agreement as the reliability signal. That is most of the award. Would one model plus an adversarial verification pass buy more confidence per dollar?</a:t>
            </a:r>
          </a:p>
        </p:txBody>
      </p:sp>
      <p:sp>
        <p:nvSpPr>
          <p:cNvPr id="27" name="TextBox 26"/>
          <p:cNvSpPr txBox="1"/>
          <p:nvPr/>
        </p:nvSpPr>
        <p:spPr>
          <a:xfrm>
            <a:off x="5532120" y="2231136"/>
            <a:ext cx="164592" cy="128016"/>
          </a:xfrm>
          <a:prstGeom prst="rect">
            <a:avLst/>
          </a:prstGeom>
          <a:noFill/>
        </p:spPr>
        <p:txBody>
          <a:bodyPr wrap="square" lIns="0" rIns="0" tIns="0" bIns="0">
            <a:spAutoFit/>
          </a:bodyPr>
          <a:lstStyle/>
          <a:p>
            <a:r>
              <a:rPr sz="850" b="1" i="0">
                <a:solidFill>
                  <a:srgbClr val="B4483D"/>
                </a:solidFill>
                <a:latin typeface="Century Schoolbook"/>
              </a:rPr>
              <a:t>2</a:t>
            </a:r>
          </a:p>
        </p:txBody>
      </p:sp>
      <p:sp>
        <p:nvSpPr>
          <p:cNvPr id="28" name="TextBox 27"/>
          <p:cNvSpPr txBox="1"/>
          <p:nvPr/>
        </p:nvSpPr>
        <p:spPr>
          <a:xfrm>
            <a:off x="5724144" y="2231136"/>
            <a:ext cx="3099816" cy="137160"/>
          </a:xfrm>
          <a:prstGeom prst="rect">
            <a:avLst/>
          </a:prstGeom>
          <a:noFill/>
        </p:spPr>
        <p:txBody>
          <a:bodyPr wrap="square" lIns="0" rIns="0" tIns="0" bIns="0">
            <a:spAutoFit/>
          </a:bodyPr>
          <a:lstStyle/>
          <a:p>
            <a:r>
              <a:rPr sz="850" b="1" i="0">
                <a:solidFill>
                  <a:srgbClr val="111827"/>
                </a:solidFill>
                <a:latin typeface="Century Schoolbook"/>
              </a:rPr>
              <a:t>Prompt caching may not reach us.</a:t>
            </a:r>
          </a:p>
        </p:txBody>
      </p:sp>
      <p:sp>
        <p:nvSpPr>
          <p:cNvPr id="29" name="TextBox 28"/>
          <p:cNvSpPr txBox="1"/>
          <p:nvPr/>
        </p:nvSpPr>
        <p:spPr>
          <a:xfrm>
            <a:off x="5724144" y="2377440"/>
            <a:ext cx="3099816" cy="566928"/>
          </a:xfrm>
          <a:prstGeom prst="rect">
            <a:avLst/>
          </a:prstGeom>
          <a:noFill/>
        </p:spPr>
        <p:txBody>
          <a:bodyPr wrap="square" lIns="0" rIns="0" tIns="0" bIns="0">
            <a:spAutoFit/>
          </a:bodyPr>
          <a:lstStyle/>
          <a:p>
            <a:pPr>
              <a:lnSpc>
                <a:spcPct val="95000"/>
              </a:lnSpc>
            </a:pPr>
            <a:r>
              <a:rPr sz="700" b="0" i="0">
                <a:solidFill>
                  <a:srgbClr val="6D6C66"/>
                </a:solidFill>
                <a:latin typeface="Century Schoolbook"/>
              </a:rPr>
              <a:t>Our reusable prefix — system prompt plus tool schema — is only ~1,400 tokens. That clears Sonnet 4.6’s 1,024-token minimum but falls under Opus 4.7 (2,048) and Haiku 4.5 (4,096). Is it worth restructuring to cross it?</a:t>
            </a:r>
          </a:p>
        </p:txBody>
      </p:sp>
      <p:sp>
        <p:nvSpPr>
          <p:cNvPr id="30" name="TextBox 29"/>
          <p:cNvSpPr txBox="1"/>
          <p:nvPr/>
        </p:nvSpPr>
        <p:spPr>
          <a:xfrm>
            <a:off x="5532120" y="3145536"/>
            <a:ext cx="164592" cy="128016"/>
          </a:xfrm>
          <a:prstGeom prst="rect">
            <a:avLst/>
          </a:prstGeom>
          <a:noFill/>
        </p:spPr>
        <p:txBody>
          <a:bodyPr wrap="square" lIns="0" rIns="0" tIns="0" bIns="0">
            <a:spAutoFit/>
          </a:bodyPr>
          <a:lstStyle/>
          <a:p>
            <a:r>
              <a:rPr sz="850" b="1" i="0">
                <a:solidFill>
                  <a:srgbClr val="B4483D"/>
                </a:solidFill>
                <a:latin typeface="Century Schoolbook"/>
              </a:rPr>
              <a:t>3</a:t>
            </a:r>
          </a:p>
        </p:txBody>
      </p:sp>
      <p:sp>
        <p:nvSpPr>
          <p:cNvPr id="31" name="TextBox 30"/>
          <p:cNvSpPr txBox="1"/>
          <p:nvPr/>
        </p:nvSpPr>
        <p:spPr>
          <a:xfrm>
            <a:off x="5724144" y="3145536"/>
            <a:ext cx="3099816" cy="137160"/>
          </a:xfrm>
          <a:prstGeom prst="rect">
            <a:avLst/>
          </a:prstGeom>
          <a:noFill/>
        </p:spPr>
        <p:txBody>
          <a:bodyPr wrap="square" lIns="0" rIns="0" tIns="0" bIns="0">
            <a:spAutoFit/>
          </a:bodyPr>
          <a:lstStyle/>
          <a:p>
            <a:r>
              <a:rPr sz="850" b="1" i="0">
                <a:solidFill>
                  <a:srgbClr val="111827"/>
                </a:solidFill>
                <a:latin typeface="Century Schoolbook"/>
              </a:rPr>
              <a:t>Batch API on offline runs.</a:t>
            </a:r>
          </a:p>
        </p:txBody>
      </p:sp>
      <p:sp>
        <p:nvSpPr>
          <p:cNvPr id="32" name="TextBox 31"/>
          <p:cNvSpPr txBox="1"/>
          <p:nvPr/>
        </p:nvSpPr>
        <p:spPr>
          <a:xfrm>
            <a:off x="5724144" y="3291840"/>
            <a:ext cx="3099816" cy="566928"/>
          </a:xfrm>
          <a:prstGeom prst="rect">
            <a:avLst/>
          </a:prstGeom>
          <a:noFill/>
        </p:spPr>
        <p:txBody>
          <a:bodyPr wrap="square" lIns="0" rIns="0" tIns="0" bIns="0">
            <a:spAutoFit/>
          </a:bodyPr>
          <a:lstStyle/>
          <a:p>
            <a:pPr>
              <a:lnSpc>
                <a:spcPct val="95000"/>
              </a:lnSpc>
            </a:pPr>
            <a:r>
              <a:rPr sz="700" b="0" i="0">
                <a:solidFill>
                  <a:srgbClr val="6D6C66"/>
                </a:solidFill>
                <a:latin typeface="Century Schoolbook"/>
              </a:rPr>
              <a:t>Nothing here is latency-sensitive — GitHub Actions runs the pipeline nightly. That looks like 50% of the award left on the table.</a:t>
            </a:r>
          </a:p>
        </p:txBody>
      </p:sp>
      <p:sp>
        <p:nvSpPr>
          <p:cNvPr id="33" name="TextBox 32"/>
          <p:cNvSpPr txBox="1"/>
          <p:nvPr/>
        </p:nvSpPr>
        <p:spPr>
          <a:xfrm>
            <a:off x="5532120" y="4059935"/>
            <a:ext cx="164592" cy="128016"/>
          </a:xfrm>
          <a:prstGeom prst="rect">
            <a:avLst/>
          </a:prstGeom>
          <a:noFill/>
        </p:spPr>
        <p:txBody>
          <a:bodyPr wrap="square" lIns="0" rIns="0" tIns="0" bIns="0">
            <a:spAutoFit/>
          </a:bodyPr>
          <a:lstStyle/>
          <a:p>
            <a:r>
              <a:rPr sz="850" b="1" i="0">
                <a:solidFill>
                  <a:srgbClr val="B4483D"/>
                </a:solidFill>
                <a:latin typeface="Century Schoolbook"/>
              </a:rPr>
              <a:t>4</a:t>
            </a:r>
          </a:p>
        </p:txBody>
      </p:sp>
      <p:sp>
        <p:nvSpPr>
          <p:cNvPr id="34" name="TextBox 33"/>
          <p:cNvSpPr txBox="1"/>
          <p:nvPr/>
        </p:nvSpPr>
        <p:spPr>
          <a:xfrm>
            <a:off x="5724144" y="4059935"/>
            <a:ext cx="3099816" cy="137160"/>
          </a:xfrm>
          <a:prstGeom prst="rect">
            <a:avLst/>
          </a:prstGeom>
          <a:noFill/>
        </p:spPr>
        <p:txBody>
          <a:bodyPr wrap="square" lIns="0" rIns="0" tIns="0" bIns="0">
            <a:spAutoFit/>
          </a:bodyPr>
          <a:lstStyle/>
          <a:p>
            <a:r>
              <a:rPr sz="850" b="1" i="0">
                <a:solidFill>
                  <a:srgbClr val="111827"/>
                </a:solidFill>
                <a:latin typeface="Century Schoolbook"/>
              </a:rPr>
              <a:t>Haiku leaked tool-call markup into 4 extracted values.</a:t>
            </a:r>
          </a:p>
        </p:txBody>
      </p:sp>
      <p:sp>
        <p:nvSpPr>
          <p:cNvPr id="35" name="TextBox 34"/>
          <p:cNvSpPr txBox="1"/>
          <p:nvPr/>
        </p:nvSpPr>
        <p:spPr>
          <a:xfrm>
            <a:off x="5724144" y="4206240"/>
            <a:ext cx="3099816" cy="566928"/>
          </a:xfrm>
          <a:prstGeom prst="rect">
            <a:avLst/>
          </a:prstGeom>
          <a:noFill/>
        </p:spPr>
        <p:txBody>
          <a:bodyPr wrap="square" lIns="0" rIns="0" tIns="0" bIns="0">
            <a:spAutoFit/>
          </a:bodyPr>
          <a:lstStyle/>
          <a:p>
            <a:pPr>
              <a:lnSpc>
                <a:spcPct val="95000"/>
              </a:lnSpc>
            </a:pPr>
            <a:r>
              <a:rPr sz="700" b="0" i="0">
                <a:solidFill>
                  <a:srgbClr val="6D6C66"/>
                </a:solidFill>
                <a:latin typeface="Century Schoolbook"/>
              </a:rPr>
              <a:t>Sonnet and Opus: zero. We are targeting &gt;95% precision and recall — is our paired evidence/value schema too deep for Haiku, or is this a prompt fix?</a:t>
            </a:r>
          </a:p>
        </p:txBody>
      </p:sp>
      <p:sp>
        <p:nvSpPr>
          <p:cNvPr id="36" name="TextBox 35"/>
          <p:cNvSpPr txBox="1"/>
          <p:nvPr/>
        </p:nvSpPr>
        <p:spPr>
          <a:xfrm>
            <a:off x="320040" y="4809744"/>
            <a:ext cx="8503920" cy="201168"/>
          </a:xfrm>
          <a:prstGeom prst="rect">
            <a:avLst/>
          </a:prstGeom>
          <a:noFill/>
        </p:spPr>
        <p:txBody>
          <a:bodyPr wrap="square" lIns="0" rIns="0" tIns="0" bIns="0">
            <a:spAutoFit/>
          </a:bodyPr>
          <a:lstStyle/>
          <a:p>
            <a:r>
              <a:rPr sz="700" b="0" i="0">
                <a:solidFill>
                  <a:srgbClr val="6D6C66"/>
                </a:solidFill>
                <a:latin typeface="Century Schoolbook"/>
              </a:rPr>
              <a:t>Token counts from data/fda_token_metrics.json, lit_token_metrics.json and trials_lit_token_metrics.json · rates per Anthropic list pricing · cache minimums per Anthropic prompt-caching docs</a:t>
            </a:r>
          </a:p>
        </p:txBody>
      </p:sp>
    </p:spTree>
    <p:extLst>
      <p:ext uri="{BB962C8B-B14F-4D97-AF65-F5344CB8AC3E}">
        <p14:creationId xmlns:p14="http://schemas.microsoft.com/office/powerpoint/2010/main" val="36713313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E2AB3CE-8E34-8DC7-1924-B52044C427E4}"/>
              </a:ext>
            </a:extLst>
          </p:cNvPr>
          <p:cNvSpPr txBox="1"/>
          <p:nvPr/>
        </p:nvSpPr>
        <p:spPr>
          <a:xfrm>
            <a:off x="2908583" y="242636"/>
            <a:ext cx="4253346" cy="707886"/>
          </a:xfrm>
          <a:prstGeom prst="rect">
            <a:avLst/>
          </a:prstGeom>
          <a:noFill/>
        </p:spPr>
        <p:txBody>
          <a:bodyPr wrap="square" rtlCol="0">
            <a:spAutoFit/>
          </a:bodyPr>
          <a:lstStyle/>
          <a:p>
            <a:r>
              <a:rPr lang="en-US" sz="4000" dirty="0">
                <a:latin typeface="Century Schoolbook" panose="02040604050505020304" pitchFamily="18" charset="0"/>
              </a:rPr>
              <a:t>About Co-leads </a:t>
            </a:r>
          </a:p>
        </p:txBody>
      </p:sp>
      <p:pic>
        <p:nvPicPr>
          <p:cNvPr id="4" name="Picture 3">
            <a:extLst>
              <a:ext uri="{FF2B5EF4-FFF2-40B4-BE49-F238E27FC236}">
                <a16:creationId xmlns:a16="http://schemas.microsoft.com/office/drawing/2014/main" id="{0CE116E0-1496-9B33-0932-97DE8F8B1A16}"/>
              </a:ext>
            </a:extLst>
          </p:cNvPr>
          <p:cNvPicPr>
            <a:picLocks noChangeAspect="1"/>
          </p:cNvPicPr>
          <p:nvPr/>
        </p:nvPicPr>
        <p:blipFill>
          <a:blip r:embed="rId2"/>
          <a:srcRect t="3097" b="19596"/>
          <a:stretch>
            <a:fillRect/>
          </a:stretch>
        </p:blipFill>
        <p:spPr>
          <a:xfrm>
            <a:off x="5035257" y="1434127"/>
            <a:ext cx="3076580" cy="3322899"/>
          </a:xfrm>
          <a:prstGeom prst="rect">
            <a:avLst/>
          </a:prstGeom>
        </p:spPr>
      </p:pic>
      <p:pic>
        <p:nvPicPr>
          <p:cNvPr id="6" name="Picture 5">
            <a:extLst>
              <a:ext uri="{FF2B5EF4-FFF2-40B4-BE49-F238E27FC236}">
                <a16:creationId xmlns:a16="http://schemas.microsoft.com/office/drawing/2014/main" id="{7E74F863-B053-5C4E-EE07-A37315B3D851}"/>
              </a:ext>
            </a:extLst>
          </p:cNvPr>
          <p:cNvPicPr>
            <a:picLocks noChangeAspect="1"/>
          </p:cNvPicPr>
          <p:nvPr/>
        </p:nvPicPr>
        <p:blipFill>
          <a:blip r:embed="rId3"/>
          <a:srcRect l="19205" t="4717" r="38147" b="31853"/>
          <a:stretch>
            <a:fillRect/>
          </a:stretch>
        </p:blipFill>
        <p:spPr>
          <a:xfrm>
            <a:off x="818289" y="1434127"/>
            <a:ext cx="3290456" cy="3262564"/>
          </a:xfrm>
          <a:prstGeom prst="rect">
            <a:avLst/>
          </a:prstGeom>
        </p:spPr>
      </p:pic>
    </p:spTree>
    <p:extLst>
      <p:ext uri="{BB962C8B-B14F-4D97-AF65-F5344CB8AC3E}">
        <p14:creationId xmlns:p14="http://schemas.microsoft.com/office/powerpoint/2010/main" val="41340993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10896"/>
            <a:ext cx="4572000" cy="160750"/>
          </a:xfrm>
          <a:prstGeom prst="rect">
            <a:avLst/>
          </a:prstGeom>
          <a:noFill/>
        </p:spPr>
        <p:txBody>
          <a:bodyPr wrap="square" lIns="0" tIns="0" rIns="0" bIns="0" anchor="t">
            <a:spAutoFit/>
          </a:bodyPr>
          <a:lstStyle/>
          <a:p>
            <a:pPr algn="l">
              <a:lnSpc>
                <a:spcPct val="115000"/>
              </a:lnSpc>
              <a:spcAft>
                <a:spcPts val="0"/>
              </a:spcAft>
            </a:pPr>
            <a:r>
              <a:rPr sz="1000" b="1" i="0" u="none" spc="140">
                <a:solidFill>
                  <a:srgbClr val="15803D"/>
                </a:solidFill>
                <a:latin typeface="Century Schoolbook"/>
              </a:rPr>
              <a:t>PROJECT CO-LEAD</a:t>
            </a:r>
          </a:p>
        </p:txBody>
      </p:sp>
      <p:sp>
        <p:nvSpPr>
          <p:cNvPr id="3" name="TextBox 2"/>
          <p:cNvSpPr txBox="1"/>
          <p:nvPr/>
        </p:nvSpPr>
        <p:spPr>
          <a:xfrm>
            <a:off x="457200" y="530352"/>
            <a:ext cx="8229600" cy="514500"/>
          </a:xfrm>
          <a:prstGeom prst="rect">
            <a:avLst/>
          </a:prstGeom>
          <a:noFill/>
        </p:spPr>
        <p:txBody>
          <a:bodyPr wrap="square" lIns="0" tIns="0" rIns="0" bIns="0" anchor="t">
            <a:spAutoFit/>
          </a:bodyPr>
          <a:lstStyle/>
          <a:p>
            <a:pPr algn="l">
              <a:lnSpc>
                <a:spcPct val="115000"/>
              </a:lnSpc>
              <a:spcAft>
                <a:spcPts val="0"/>
              </a:spcAft>
            </a:pPr>
            <a:r>
              <a:rPr sz="3200" b="1" i="0" u="none">
                <a:solidFill>
                  <a:srgbClr val="111827"/>
                </a:solidFill>
                <a:latin typeface="Century Schoolbook"/>
              </a:rPr>
              <a:t>Maryam Aziz</a:t>
            </a:r>
          </a:p>
        </p:txBody>
      </p:sp>
      <p:sp>
        <p:nvSpPr>
          <p:cNvPr id="4" name="TextBox 3"/>
          <p:cNvSpPr txBox="1"/>
          <p:nvPr/>
        </p:nvSpPr>
        <p:spPr>
          <a:xfrm>
            <a:off x="457200" y="978408"/>
            <a:ext cx="8229600" cy="224933"/>
          </a:xfrm>
          <a:prstGeom prst="rect">
            <a:avLst/>
          </a:prstGeom>
          <a:noFill/>
        </p:spPr>
        <p:txBody>
          <a:bodyPr wrap="square" lIns="0" tIns="0" rIns="0" bIns="0" anchor="t">
            <a:spAutoFit/>
          </a:bodyPr>
          <a:lstStyle/>
          <a:p>
            <a:pPr algn="l">
              <a:lnSpc>
                <a:spcPct val="115000"/>
              </a:lnSpc>
              <a:spcAft>
                <a:spcPts val="0"/>
              </a:spcAft>
            </a:pPr>
            <a:r>
              <a:rPr sz="1400" b="1" i="0" u="none">
                <a:solidFill>
                  <a:srgbClr val="111827"/>
                </a:solidFill>
                <a:latin typeface="Century Schoolbook"/>
              </a:rPr>
              <a:t>PhD Candidate</a:t>
            </a:r>
            <a:r>
              <a:rPr sz="1400" b="0" i="0" u="none">
                <a:solidFill>
                  <a:srgbClr val="D9D8D3"/>
                </a:solidFill>
                <a:latin typeface="Century Schoolbook"/>
              </a:rPr>
              <a:t>   ·   </a:t>
            </a:r>
            <a:r>
              <a:rPr sz="1400" b="0" i="0" u="none">
                <a:solidFill>
                  <a:srgbClr val="6D6C66"/>
                </a:solidFill>
                <a:latin typeface="Century Schoolbook"/>
              </a:rPr>
              <a:t>Human–LLM interaction in health</a:t>
            </a:r>
          </a:p>
        </p:txBody>
      </p:sp>
      <p:cxnSp>
        <p:nvCxnSpPr>
          <p:cNvPr id="5" name="Connector 4"/>
          <p:cNvCxnSpPr/>
          <p:nvPr/>
        </p:nvCxnSpPr>
        <p:spPr>
          <a:xfrm>
            <a:off x="3310128" y="1417320"/>
            <a:ext cx="0" cy="3291840"/>
          </a:xfrm>
          <a:prstGeom prst="line">
            <a:avLst/>
          </a:prstGeom>
          <a:ln w="9525">
            <a:solidFill>
              <a:srgbClr val="D9D8D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3035808"/>
            <a:ext cx="2743200" cy="160750"/>
          </a:xfrm>
          <a:prstGeom prst="rect">
            <a:avLst/>
          </a:prstGeom>
          <a:noFill/>
        </p:spPr>
        <p:txBody>
          <a:bodyPr wrap="square" lIns="0" tIns="0" rIns="0" bIns="0" anchor="t">
            <a:spAutoFit/>
          </a:bodyPr>
          <a:lstStyle/>
          <a:p>
            <a:pPr algn="l">
              <a:lnSpc>
                <a:spcPct val="115000"/>
              </a:lnSpc>
              <a:spcAft>
                <a:spcPts val="0"/>
              </a:spcAft>
            </a:pPr>
            <a:r>
              <a:rPr sz="1000" b="1" i="0" u="none" spc="120">
                <a:solidFill>
                  <a:srgbClr val="6D6C66"/>
                </a:solidFill>
                <a:latin typeface="Century Schoolbook"/>
              </a:rPr>
              <a:t>STATUS</a:t>
            </a:r>
          </a:p>
        </p:txBody>
      </p:sp>
      <p:sp>
        <p:nvSpPr>
          <p:cNvPr id="8" name="TextBox 7"/>
          <p:cNvSpPr txBox="1"/>
          <p:nvPr/>
        </p:nvSpPr>
        <p:spPr>
          <a:xfrm>
            <a:off x="457200" y="3236976"/>
            <a:ext cx="2651760" cy="491353"/>
          </a:xfrm>
          <a:prstGeom prst="rect">
            <a:avLst/>
          </a:prstGeom>
          <a:noFill/>
        </p:spPr>
        <p:txBody>
          <a:bodyPr wrap="square" lIns="0" tIns="0" rIns="0" bIns="0" anchor="t">
            <a:spAutoFit/>
          </a:bodyPr>
          <a:lstStyle/>
          <a:p>
            <a:pPr algn="l">
              <a:lnSpc>
                <a:spcPct val="118000"/>
              </a:lnSpc>
              <a:spcAft>
                <a:spcPts val="600"/>
              </a:spcAft>
            </a:pPr>
            <a:r>
              <a:rPr sz="1200" b="0" i="0" u="none" dirty="0">
                <a:solidFill>
                  <a:srgbClr val="111827"/>
                </a:solidFill>
                <a:latin typeface="Century Schoolbook"/>
              </a:rPr>
              <a:t>Defending </a:t>
            </a:r>
            <a:r>
              <a:rPr lang="en-US" sz="1200" b="0" i="0" u="none" dirty="0">
                <a:solidFill>
                  <a:srgbClr val="111827"/>
                </a:solidFill>
                <a:latin typeface="Century Schoolbook"/>
              </a:rPr>
              <a:t>PhD </a:t>
            </a:r>
            <a:r>
              <a:rPr sz="1200" b="0" i="0" u="none" dirty="0">
                <a:solidFill>
                  <a:srgbClr val="111827"/>
                </a:solidFill>
                <a:latin typeface="Century Schoolbook"/>
              </a:rPr>
              <a:t>late 2026 / early 2027</a:t>
            </a:r>
          </a:p>
          <a:p>
            <a:pPr>
              <a:lnSpc>
                <a:spcPct val="118000"/>
              </a:lnSpc>
              <a:spcAft>
                <a:spcPts val="0"/>
              </a:spcAft>
            </a:pPr>
            <a:r>
              <a:rPr sz="1200" b="1" i="0" u="none" dirty="0">
                <a:latin typeface="Century Schoolbook"/>
              </a:rPr>
              <a:t>Exploring full-time roles</a:t>
            </a:r>
          </a:p>
        </p:txBody>
      </p:sp>
      <p:sp>
        <p:nvSpPr>
          <p:cNvPr id="9" name="TextBox 8"/>
          <p:cNvSpPr txBox="1"/>
          <p:nvPr/>
        </p:nvSpPr>
        <p:spPr>
          <a:xfrm>
            <a:off x="3611880" y="1417320"/>
            <a:ext cx="5074920" cy="160750"/>
          </a:xfrm>
          <a:prstGeom prst="rect">
            <a:avLst/>
          </a:prstGeom>
          <a:noFill/>
        </p:spPr>
        <p:txBody>
          <a:bodyPr wrap="square" lIns="0" tIns="0" rIns="0" bIns="0" anchor="t">
            <a:spAutoFit/>
          </a:bodyPr>
          <a:lstStyle/>
          <a:p>
            <a:pPr algn="l">
              <a:lnSpc>
                <a:spcPct val="115000"/>
              </a:lnSpc>
              <a:spcAft>
                <a:spcPts val="0"/>
              </a:spcAft>
            </a:pPr>
            <a:r>
              <a:rPr sz="1000" b="1" i="0" u="none" spc="120">
                <a:solidFill>
                  <a:srgbClr val="6D6C66"/>
                </a:solidFill>
                <a:latin typeface="Century Schoolbook"/>
              </a:rPr>
              <a:t>CURRENT RESEARCH</a:t>
            </a:r>
          </a:p>
        </p:txBody>
      </p:sp>
      <p:sp>
        <p:nvSpPr>
          <p:cNvPr id="10" name="Rectangle 9"/>
          <p:cNvSpPr/>
          <p:nvPr/>
        </p:nvSpPr>
        <p:spPr>
          <a:xfrm>
            <a:off x="3611880" y="1792224"/>
            <a:ext cx="73152" cy="731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1" name="TextBox 10"/>
          <p:cNvSpPr txBox="1"/>
          <p:nvPr/>
        </p:nvSpPr>
        <p:spPr>
          <a:xfrm>
            <a:off x="3813048" y="1737360"/>
            <a:ext cx="4873752" cy="749629"/>
          </a:xfrm>
          <a:prstGeom prst="rect">
            <a:avLst/>
          </a:prstGeom>
          <a:noFill/>
        </p:spPr>
        <p:txBody>
          <a:bodyPr wrap="square" lIns="0" tIns="0" rIns="0" bIns="0" anchor="t">
            <a:spAutoFit/>
          </a:bodyPr>
          <a:lstStyle/>
          <a:p>
            <a:pPr algn="l">
              <a:lnSpc>
                <a:spcPct val="120000"/>
              </a:lnSpc>
              <a:spcAft>
                <a:spcPts val="0"/>
              </a:spcAft>
            </a:pPr>
            <a:r>
              <a:rPr sz="1400" b="1" i="0" u="none">
                <a:solidFill>
                  <a:srgbClr val="111827"/>
                </a:solidFill>
                <a:latin typeface="Century Schoolbook"/>
              </a:rPr>
              <a:t>Health information-seeking from chatbots</a:t>
            </a:r>
            <a:r>
              <a:rPr sz="1400" b="0" i="0" u="none">
                <a:solidFill>
                  <a:srgbClr val="111827"/>
                </a:solidFill>
                <a:latin typeface="Century Schoolbook"/>
              </a:rPr>
              <a:t> — how and why people ask, including sycophancy-inducing leading questions.</a:t>
            </a:r>
            <a:r>
              <a:rPr sz="1050" b="1" i="0" u="none">
                <a:solidFill>
                  <a:srgbClr val="B4483D"/>
                </a:solidFill>
                <a:latin typeface="Century Schoolbook"/>
              </a:rPr>
              <a:t>  [add paper link]</a:t>
            </a:r>
          </a:p>
        </p:txBody>
      </p:sp>
      <p:sp>
        <p:nvSpPr>
          <p:cNvPr id="12" name="Rectangle 11"/>
          <p:cNvSpPr/>
          <p:nvPr/>
        </p:nvSpPr>
        <p:spPr>
          <a:xfrm>
            <a:off x="3611880" y="2642616"/>
            <a:ext cx="73152" cy="731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3" name="TextBox 12"/>
          <p:cNvSpPr txBox="1"/>
          <p:nvPr/>
        </p:nvSpPr>
        <p:spPr>
          <a:xfrm>
            <a:off x="3813048" y="2587752"/>
            <a:ext cx="4873752" cy="491096"/>
          </a:xfrm>
          <a:prstGeom prst="rect">
            <a:avLst/>
          </a:prstGeom>
          <a:noFill/>
        </p:spPr>
        <p:txBody>
          <a:bodyPr wrap="square" lIns="0" tIns="0" rIns="0" bIns="0" anchor="t">
            <a:spAutoFit/>
          </a:bodyPr>
          <a:lstStyle/>
          <a:p>
            <a:pPr algn="l">
              <a:lnSpc>
                <a:spcPct val="120000"/>
              </a:lnSpc>
              <a:spcAft>
                <a:spcPts val="0"/>
              </a:spcAft>
            </a:pPr>
            <a:r>
              <a:rPr sz="1400" b="1" i="0" u="none">
                <a:solidFill>
                  <a:srgbClr val="111827"/>
                </a:solidFill>
                <a:latin typeface="Century Schoolbook"/>
              </a:rPr>
              <a:t>Who is asking, and why</a:t>
            </a:r>
            <a:r>
              <a:rPr sz="1400" b="0" i="0" u="none">
                <a:solidFill>
                  <a:srgbClr val="111827"/>
                </a:solidFill>
                <a:latin typeface="Century Schoolbook"/>
              </a:rPr>
              <a:t> — women's health, plus a Reddit study of health information-seeking motivations.</a:t>
            </a:r>
          </a:p>
        </p:txBody>
      </p:sp>
      <p:sp>
        <p:nvSpPr>
          <p:cNvPr id="14" name="Rectangle 13"/>
          <p:cNvSpPr/>
          <p:nvPr/>
        </p:nvSpPr>
        <p:spPr>
          <a:xfrm>
            <a:off x="3611880" y="3493008"/>
            <a:ext cx="73152" cy="73152"/>
          </a:xfrm>
          <a:prstGeom prst="rect">
            <a:avLst/>
          </a:prstGeom>
          <a:solidFill>
            <a:srgbClr val="B44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5" name="TextBox 14"/>
          <p:cNvSpPr txBox="1"/>
          <p:nvPr/>
        </p:nvSpPr>
        <p:spPr>
          <a:xfrm>
            <a:off x="3813048" y="3438144"/>
            <a:ext cx="4873752" cy="491096"/>
          </a:xfrm>
          <a:prstGeom prst="rect">
            <a:avLst/>
          </a:prstGeom>
          <a:noFill/>
        </p:spPr>
        <p:txBody>
          <a:bodyPr wrap="square" lIns="0" tIns="0" rIns="0" bIns="0" anchor="t">
            <a:spAutoFit/>
          </a:bodyPr>
          <a:lstStyle/>
          <a:p>
            <a:pPr algn="l">
              <a:lnSpc>
                <a:spcPct val="120000"/>
              </a:lnSpc>
              <a:spcAft>
                <a:spcPts val="0"/>
              </a:spcAft>
            </a:pPr>
            <a:r>
              <a:rPr sz="1400" b="1" i="0" u="none">
                <a:solidFill>
                  <a:srgbClr val="111827"/>
                </a:solidFill>
                <a:latin typeface="Century Schoolbook"/>
              </a:rPr>
              <a:t>Sensitive and stigmatizing topics</a:t>
            </a:r>
            <a:r>
              <a:rPr sz="1400" b="0" i="0" u="none">
                <a:solidFill>
                  <a:srgbClr val="111827"/>
                </a:solidFill>
                <a:latin typeface="Century Schoolbook"/>
              </a:rPr>
              <a:t> — how models respond to them, and how users perceive those responses.</a:t>
            </a:r>
          </a:p>
        </p:txBody>
      </p:sp>
      <p:sp>
        <p:nvSpPr>
          <p:cNvPr id="16" name="TextBox 15"/>
          <p:cNvSpPr txBox="1"/>
          <p:nvPr/>
        </p:nvSpPr>
        <p:spPr>
          <a:xfrm>
            <a:off x="457200" y="4005072"/>
            <a:ext cx="2743200" cy="160750"/>
          </a:xfrm>
          <a:prstGeom prst="rect">
            <a:avLst/>
          </a:prstGeom>
          <a:noFill/>
        </p:spPr>
        <p:txBody>
          <a:bodyPr wrap="square" lIns="0" tIns="0" rIns="0" bIns="0" anchor="t">
            <a:spAutoFit/>
          </a:bodyPr>
          <a:lstStyle/>
          <a:p>
            <a:pPr algn="l">
              <a:lnSpc>
                <a:spcPct val="115000"/>
              </a:lnSpc>
              <a:spcAft>
                <a:spcPts val="0"/>
              </a:spcAft>
            </a:pPr>
            <a:r>
              <a:rPr sz="1000" b="1" i="0" u="none" spc="120" dirty="0">
                <a:solidFill>
                  <a:srgbClr val="6D6C66"/>
                </a:solidFill>
                <a:latin typeface="Century Schoolbook"/>
              </a:rPr>
              <a:t>FOCUS</a:t>
            </a:r>
          </a:p>
        </p:txBody>
      </p:sp>
      <p:sp>
        <p:nvSpPr>
          <p:cNvPr id="17" name="TextBox 16"/>
          <p:cNvSpPr txBox="1"/>
          <p:nvPr/>
        </p:nvSpPr>
        <p:spPr>
          <a:xfrm>
            <a:off x="457200" y="4206240"/>
            <a:ext cx="2651760" cy="756489"/>
          </a:xfrm>
          <a:prstGeom prst="rect">
            <a:avLst/>
          </a:prstGeom>
          <a:noFill/>
        </p:spPr>
        <p:txBody>
          <a:bodyPr wrap="square" lIns="0" tIns="0" rIns="0" bIns="0" anchor="t">
            <a:spAutoFit/>
          </a:bodyPr>
          <a:lstStyle/>
          <a:p>
            <a:pPr algn="l">
              <a:lnSpc>
                <a:spcPct val="120000"/>
              </a:lnSpc>
              <a:spcAft>
                <a:spcPts val="0"/>
              </a:spcAft>
            </a:pPr>
            <a:r>
              <a:rPr sz="1050" b="0" i="1" u="none" dirty="0">
                <a:latin typeface="Century Schoolbook"/>
              </a:rPr>
              <a:t>The human side of human–LLM interaction: how people seek, interpret, and act on health information — and how model behavior shapes that experience.</a:t>
            </a:r>
          </a:p>
        </p:txBody>
      </p:sp>
      <p:pic>
        <p:nvPicPr>
          <p:cNvPr id="18" name="Picture 17">
            <a:extLst>
              <a:ext uri="{FF2B5EF4-FFF2-40B4-BE49-F238E27FC236}">
                <a16:creationId xmlns:a16="http://schemas.microsoft.com/office/drawing/2014/main" id="{F9D4F560-8AA9-61FC-A78C-648EA09BF97E}"/>
              </a:ext>
            </a:extLst>
          </p:cNvPr>
          <p:cNvPicPr>
            <a:picLocks noChangeAspect="1"/>
          </p:cNvPicPr>
          <p:nvPr/>
        </p:nvPicPr>
        <p:blipFill>
          <a:blip r:embed="rId2"/>
          <a:srcRect l="19205" t="4717" r="38147" b="31853"/>
          <a:stretch>
            <a:fillRect/>
          </a:stretch>
        </p:blipFill>
        <p:spPr>
          <a:xfrm>
            <a:off x="818288" y="1417320"/>
            <a:ext cx="1578485" cy="1565105"/>
          </a:xfrm>
          <a:prstGeom prst="rect">
            <a:avLst/>
          </a:prstGeom>
        </p:spPr>
      </p:pic>
    </p:spTree>
    <p:extLst>
      <p:ext uri="{BB962C8B-B14F-4D97-AF65-F5344CB8AC3E}">
        <p14:creationId xmlns:p14="http://schemas.microsoft.com/office/powerpoint/2010/main" val="12137699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10896"/>
            <a:ext cx="4572000" cy="160750"/>
          </a:xfrm>
          <a:prstGeom prst="rect">
            <a:avLst/>
          </a:prstGeom>
          <a:noFill/>
        </p:spPr>
        <p:txBody>
          <a:bodyPr wrap="square" lIns="0" tIns="0" rIns="0" bIns="0" anchor="t">
            <a:spAutoFit/>
          </a:bodyPr>
          <a:lstStyle/>
          <a:p>
            <a:pPr algn="l">
              <a:lnSpc>
                <a:spcPct val="115000"/>
              </a:lnSpc>
              <a:spcAft>
                <a:spcPts val="0"/>
              </a:spcAft>
            </a:pPr>
            <a:r>
              <a:rPr sz="1000" b="1" i="0" u="none" spc="140" dirty="0">
                <a:solidFill>
                  <a:srgbClr val="15803D"/>
                </a:solidFill>
                <a:latin typeface="Century Schoolbook"/>
              </a:rPr>
              <a:t>PROJECT CO-LEAD</a:t>
            </a:r>
          </a:p>
        </p:txBody>
      </p:sp>
      <p:sp>
        <p:nvSpPr>
          <p:cNvPr id="3" name="TextBox 2"/>
          <p:cNvSpPr txBox="1"/>
          <p:nvPr/>
        </p:nvSpPr>
        <p:spPr>
          <a:xfrm>
            <a:off x="457200" y="530352"/>
            <a:ext cx="8229600" cy="514500"/>
          </a:xfrm>
          <a:prstGeom prst="rect">
            <a:avLst/>
          </a:prstGeom>
          <a:noFill/>
        </p:spPr>
        <p:txBody>
          <a:bodyPr wrap="square" lIns="0" tIns="0" rIns="0" bIns="0" anchor="t">
            <a:spAutoFit/>
          </a:bodyPr>
          <a:lstStyle/>
          <a:p>
            <a:pPr algn="l">
              <a:lnSpc>
                <a:spcPct val="115000"/>
              </a:lnSpc>
              <a:spcAft>
                <a:spcPts val="0"/>
              </a:spcAft>
            </a:pPr>
            <a:r>
              <a:rPr sz="3200" b="1" i="0" u="none">
                <a:solidFill>
                  <a:srgbClr val="111827"/>
                </a:solidFill>
                <a:latin typeface="Century Schoolbook"/>
              </a:rPr>
              <a:t>Michael D. Green, PhD</a:t>
            </a:r>
          </a:p>
        </p:txBody>
      </p:sp>
      <p:sp>
        <p:nvSpPr>
          <p:cNvPr id="4" name="TextBox 3"/>
          <p:cNvSpPr txBox="1"/>
          <p:nvPr/>
        </p:nvSpPr>
        <p:spPr>
          <a:xfrm>
            <a:off x="457200" y="978408"/>
            <a:ext cx="8229600" cy="225062"/>
          </a:xfrm>
          <a:prstGeom prst="rect">
            <a:avLst/>
          </a:prstGeom>
          <a:noFill/>
        </p:spPr>
        <p:txBody>
          <a:bodyPr wrap="square" lIns="0" tIns="0" rIns="0" bIns="0" anchor="t">
            <a:spAutoFit/>
          </a:bodyPr>
          <a:lstStyle/>
          <a:p>
            <a:pPr algn="l">
              <a:lnSpc>
                <a:spcPct val="115000"/>
              </a:lnSpc>
              <a:spcAft>
                <a:spcPts val="0"/>
              </a:spcAft>
            </a:pPr>
            <a:r>
              <a:rPr sz="1400" b="1" i="0" u="none" dirty="0">
                <a:solidFill>
                  <a:srgbClr val="111827"/>
                </a:solidFill>
                <a:latin typeface="Century Schoolbook"/>
              </a:rPr>
              <a:t>Postdoc</a:t>
            </a:r>
            <a:r>
              <a:rPr lang="en-US" sz="1400" b="1" i="0" u="none" dirty="0">
                <a:solidFill>
                  <a:srgbClr val="111827"/>
                </a:solidFill>
                <a:latin typeface="Century Schoolbook"/>
              </a:rPr>
              <a:t>toral Fellow</a:t>
            </a:r>
            <a:r>
              <a:rPr sz="1400" b="1" i="0" u="none" dirty="0">
                <a:solidFill>
                  <a:srgbClr val="111827"/>
                </a:solidFill>
                <a:latin typeface="Century Schoolbook"/>
              </a:rPr>
              <a:t>, Johns Hopkins Public Health</a:t>
            </a:r>
          </a:p>
        </p:txBody>
      </p:sp>
      <p:cxnSp>
        <p:nvCxnSpPr>
          <p:cNvPr id="5" name="Connector 4"/>
          <p:cNvCxnSpPr/>
          <p:nvPr/>
        </p:nvCxnSpPr>
        <p:spPr>
          <a:xfrm>
            <a:off x="3310128" y="1417320"/>
            <a:ext cx="0" cy="3291840"/>
          </a:xfrm>
          <a:prstGeom prst="line">
            <a:avLst/>
          </a:prstGeom>
          <a:ln w="9525">
            <a:solidFill>
              <a:srgbClr val="D9D8D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3035808"/>
            <a:ext cx="2743200" cy="160750"/>
          </a:xfrm>
          <a:prstGeom prst="rect">
            <a:avLst/>
          </a:prstGeom>
          <a:noFill/>
        </p:spPr>
        <p:txBody>
          <a:bodyPr wrap="square" lIns="0" tIns="0" rIns="0" bIns="0" anchor="t">
            <a:spAutoFit/>
          </a:bodyPr>
          <a:lstStyle/>
          <a:p>
            <a:pPr algn="l">
              <a:lnSpc>
                <a:spcPct val="115000"/>
              </a:lnSpc>
              <a:spcAft>
                <a:spcPts val="0"/>
              </a:spcAft>
            </a:pPr>
            <a:r>
              <a:rPr sz="1000" b="1" i="0" u="none" spc="120" dirty="0">
                <a:solidFill>
                  <a:srgbClr val="6D6C66"/>
                </a:solidFill>
                <a:latin typeface="Century Schoolbook"/>
              </a:rPr>
              <a:t>STATUS</a:t>
            </a:r>
          </a:p>
        </p:txBody>
      </p:sp>
      <p:sp>
        <p:nvSpPr>
          <p:cNvPr id="8" name="TextBox 7"/>
          <p:cNvSpPr txBox="1"/>
          <p:nvPr/>
        </p:nvSpPr>
        <p:spPr>
          <a:xfrm>
            <a:off x="457200" y="3236976"/>
            <a:ext cx="2651760" cy="709810"/>
          </a:xfrm>
          <a:prstGeom prst="rect">
            <a:avLst/>
          </a:prstGeom>
          <a:noFill/>
        </p:spPr>
        <p:txBody>
          <a:bodyPr wrap="square" lIns="0" tIns="0" rIns="0" bIns="0" anchor="t">
            <a:spAutoFit/>
          </a:bodyPr>
          <a:lstStyle/>
          <a:p>
            <a:pPr algn="l">
              <a:lnSpc>
                <a:spcPct val="118000"/>
              </a:lnSpc>
              <a:spcAft>
                <a:spcPts val="600"/>
              </a:spcAft>
            </a:pPr>
            <a:r>
              <a:rPr sz="1200" b="1" i="0" u="none" dirty="0">
                <a:solidFill>
                  <a:srgbClr val="111827"/>
                </a:solidFill>
                <a:latin typeface="Century Schoolbook"/>
              </a:rPr>
              <a:t>Interviewing for full-time roles outside academia</a:t>
            </a:r>
            <a:r>
              <a:rPr lang="en-US" sz="1200" b="1" i="0" u="none" dirty="0">
                <a:solidFill>
                  <a:srgbClr val="111827"/>
                </a:solidFill>
                <a:latin typeface="Century Schoolbook"/>
              </a:rPr>
              <a:t>. </a:t>
            </a:r>
          </a:p>
          <a:p>
            <a:pPr algn="l">
              <a:lnSpc>
                <a:spcPct val="118000"/>
              </a:lnSpc>
              <a:spcAft>
                <a:spcPts val="600"/>
              </a:spcAft>
            </a:pPr>
            <a:r>
              <a:rPr lang="en-US" sz="1200" b="1" i="0" u="none" dirty="0">
                <a:solidFill>
                  <a:srgbClr val="111827"/>
                </a:solidFill>
                <a:latin typeface="Century Schoolbook"/>
              </a:rPr>
              <a:t>Anticipating Fall 2026 start.</a:t>
            </a:r>
            <a:endParaRPr sz="1200" b="1" i="0" u="none" dirty="0">
              <a:solidFill>
                <a:srgbClr val="111827"/>
              </a:solidFill>
              <a:latin typeface="Century Schoolbook"/>
            </a:endParaRPr>
          </a:p>
        </p:txBody>
      </p:sp>
      <p:sp>
        <p:nvSpPr>
          <p:cNvPr id="9" name="TextBox 8"/>
          <p:cNvSpPr txBox="1"/>
          <p:nvPr/>
        </p:nvSpPr>
        <p:spPr>
          <a:xfrm>
            <a:off x="457200" y="4005072"/>
            <a:ext cx="2743200" cy="160750"/>
          </a:xfrm>
          <a:prstGeom prst="rect">
            <a:avLst/>
          </a:prstGeom>
          <a:noFill/>
        </p:spPr>
        <p:txBody>
          <a:bodyPr wrap="square" lIns="0" tIns="0" rIns="0" bIns="0" anchor="t">
            <a:spAutoFit/>
          </a:bodyPr>
          <a:lstStyle/>
          <a:p>
            <a:pPr algn="l">
              <a:lnSpc>
                <a:spcPct val="115000"/>
              </a:lnSpc>
              <a:spcAft>
                <a:spcPts val="0"/>
              </a:spcAft>
            </a:pPr>
            <a:r>
              <a:rPr sz="1000" b="1" i="0" u="none" spc="120" dirty="0">
                <a:solidFill>
                  <a:srgbClr val="6D6C66"/>
                </a:solidFill>
                <a:latin typeface="Century Schoolbook"/>
              </a:rPr>
              <a:t>EDUCATION</a:t>
            </a:r>
          </a:p>
        </p:txBody>
      </p:sp>
      <p:sp>
        <p:nvSpPr>
          <p:cNvPr id="10" name="TextBox 9"/>
          <p:cNvSpPr txBox="1"/>
          <p:nvPr/>
        </p:nvSpPr>
        <p:spPr>
          <a:xfrm>
            <a:off x="457199" y="4206240"/>
            <a:ext cx="2852927" cy="444481"/>
          </a:xfrm>
          <a:prstGeom prst="rect">
            <a:avLst/>
          </a:prstGeom>
          <a:noFill/>
        </p:spPr>
        <p:txBody>
          <a:bodyPr wrap="square" lIns="0" tIns="0" rIns="0" bIns="0" anchor="t">
            <a:spAutoFit/>
          </a:bodyPr>
          <a:lstStyle/>
          <a:p>
            <a:pPr algn="l">
              <a:lnSpc>
                <a:spcPct val="118000"/>
              </a:lnSpc>
              <a:spcAft>
                <a:spcPts val="500"/>
              </a:spcAft>
            </a:pPr>
            <a:r>
              <a:rPr sz="1100" b="1" i="0" u="none" dirty="0">
                <a:solidFill>
                  <a:srgbClr val="111827"/>
                </a:solidFill>
                <a:latin typeface="Century Schoolbook"/>
              </a:rPr>
              <a:t>PhD, Population Health</a:t>
            </a:r>
            <a:r>
              <a:rPr sz="1100" b="0" i="0" u="none" dirty="0">
                <a:solidFill>
                  <a:srgbClr val="6D6C66"/>
                </a:solidFill>
                <a:latin typeface="Century Schoolbook"/>
              </a:rPr>
              <a:t> — Duke</a:t>
            </a:r>
          </a:p>
          <a:p>
            <a:pPr>
              <a:lnSpc>
                <a:spcPct val="118000"/>
              </a:lnSpc>
              <a:spcAft>
                <a:spcPts val="0"/>
              </a:spcAft>
            </a:pPr>
            <a:r>
              <a:rPr sz="1100" b="1" i="0" u="none" dirty="0">
                <a:solidFill>
                  <a:srgbClr val="111827"/>
                </a:solidFill>
                <a:latin typeface="Century Schoolbook"/>
              </a:rPr>
              <a:t>BA, Medical Anthropology</a:t>
            </a:r>
            <a:r>
              <a:rPr sz="1100" b="0" i="0" u="none" dirty="0">
                <a:solidFill>
                  <a:srgbClr val="6D6C66"/>
                </a:solidFill>
                <a:latin typeface="Century Schoolbook"/>
              </a:rPr>
              <a:t> — Dartmouth</a:t>
            </a:r>
          </a:p>
        </p:txBody>
      </p:sp>
      <p:sp>
        <p:nvSpPr>
          <p:cNvPr id="11" name="TextBox 10"/>
          <p:cNvSpPr txBox="1"/>
          <p:nvPr/>
        </p:nvSpPr>
        <p:spPr>
          <a:xfrm>
            <a:off x="3611880" y="1417320"/>
            <a:ext cx="5074920" cy="160750"/>
          </a:xfrm>
          <a:prstGeom prst="rect">
            <a:avLst/>
          </a:prstGeom>
          <a:noFill/>
        </p:spPr>
        <p:txBody>
          <a:bodyPr wrap="square" lIns="0" tIns="0" rIns="0" bIns="0" anchor="t">
            <a:spAutoFit/>
          </a:bodyPr>
          <a:lstStyle/>
          <a:p>
            <a:pPr algn="l">
              <a:lnSpc>
                <a:spcPct val="115000"/>
              </a:lnSpc>
              <a:spcAft>
                <a:spcPts val="0"/>
              </a:spcAft>
            </a:pPr>
            <a:r>
              <a:rPr sz="1000" b="1" i="0" u="none" spc="120" dirty="0">
                <a:solidFill>
                  <a:srgbClr val="6D6C66"/>
                </a:solidFill>
                <a:latin typeface="Century Schoolbook"/>
              </a:rPr>
              <a:t>PRIMARY INTEREST</a:t>
            </a:r>
            <a:r>
              <a:rPr lang="en-US" sz="1000" b="1" spc="120" dirty="0">
                <a:solidFill>
                  <a:srgbClr val="6D6C66"/>
                </a:solidFill>
                <a:latin typeface="Century Schoolbook"/>
              </a:rPr>
              <a:t>S</a:t>
            </a:r>
            <a:endParaRPr sz="1000" b="1" i="0" u="none" spc="120" dirty="0">
              <a:solidFill>
                <a:srgbClr val="6D6C66"/>
              </a:solidFill>
              <a:latin typeface="Century Schoolbook"/>
            </a:endParaRPr>
          </a:p>
        </p:txBody>
      </p:sp>
      <p:sp>
        <p:nvSpPr>
          <p:cNvPr id="12" name="Rectangle 11"/>
          <p:cNvSpPr/>
          <p:nvPr/>
        </p:nvSpPr>
        <p:spPr>
          <a:xfrm>
            <a:off x="3611880" y="1792224"/>
            <a:ext cx="73152" cy="731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3" name="TextBox 12"/>
          <p:cNvSpPr txBox="1"/>
          <p:nvPr/>
        </p:nvSpPr>
        <p:spPr>
          <a:xfrm>
            <a:off x="3813048" y="1737360"/>
            <a:ext cx="4873752" cy="491096"/>
          </a:xfrm>
          <a:prstGeom prst="rect">
            <a:avLst/>
          </a:prstGeom>
          <a:noFill/>
        </p:spPr>
        <p:txBody>
          <a:bodyPr wrap="square" lIns="0" tIns="0" rIns="0" bIns="0" anchor="t">
            <a:spAutoFit/>
          </a:bodyPr>
          <a:lstStyle/>
          <a:p>
            <a:pPr algn="l">
              <a:lnSpc>
                <a:spcPct val="120000"/>
              </a:lnSpc>
              <a:spcAft>
                <a:spcPts val="0"/>
              </a:spcAft>
            </a:pPr>
            <a:r>
              <a:rPr sz="1400" b="1" i="0" u="none" dirty="0">
                <a:solidFill>
                  <a:srgbClr val="111827"/>
                </a:solidFill>
                <a:latin typeface="Century Schoolbook"/>
              </a:rPr>
              <a:t>The intersection of AI and society</a:t>
            </a:r>
            <a:r>
              <a:rPr sz="1400" b="0" i="0" u="none" dirty="0">
                <a:solidFill>
                  <a:srgbClr val="111827"/>
                </a:solidFill>
                <a:latin typeface="Century Schoolbook"/>
              </a:rPr>
              <a:t> — how model behavior meets the people and systems it reaches.</a:t>
            </a:r>
          </a:p>
        </p:txBody>
      </p:sp>
      <p:sp>
        <p:nvSpPr>
          <p:cNvPr id="14" name="Rectangle 13"/>
          <p:cNvSpPr/>
          <p:nvPr/>
        </p:nvSpPr>
        <p:spPr>
          <a:xfrm>
            <a:off x="3611880" y="2542032"/>
            <a:ext cx="73152" cy="73152"/>
          </a:xfrm>
          <a:prstGeom prst="rect">
            <a:avLst/>
          </a:prstGeom>
          <a:solidFill>
            <a:srgbClr val="B44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5" name="TextBox 14"/>
          <p:cNvSpPr txBox="1"/>
          <p:nvPr/>
        </p:nvSpPr>
        <p:spPr>
          <a:xfrm>
            <a:off x="3813048" y="2487168"/>
            <a:ext cx="4873752" cy="749629"/>
          </a:xfrm>
          <a:prstGeom prst="rect">
            <a:avLst/>
          </a:prstGeom>
          <a:noFill/>
        </p:spPr>
        <p:txBody>
          <a:bodyPr wrap="square" lIns="0" tIns="0" rIns="0" bIns="0" anchor="t">
            <a:spAutoFit/>
          </a:bodyPr>
          <a:lstStyle/>
          <a:p>
            <a:pPr algn="l">
              <a:lnSpc>
                <a:spcPct val="120000"/>
              </a:lnSpc>
              <a:spcAft>
                <a:spcPts val="0"/>
              </a:spcAft>
            </a:pPr>
            <a:r>
              <a:rPr sz="1400" b="1" i="0" u="none" dirty="0">
                <a:solidFill>
                  <a:srgbClr val="111827"/>
                </a:solidFill>
                <a:latin typeface="Century Schoolbook"/>
              </a:rPr>
              <a:t>Quality of medical advice from AI</a:t>
            </a:r>
            <a:r>
              <a:rPr sz="1400" b="0" i="0" u="none" dirty="0">
                <a:solidFill>
                  <a:srgbClr val="111827"/>
                </a:solidFill>
                <a:latin typeface="Century Schoolbook"/>
              </a:rPr>
              <a:t> — how medical AI can deliver sound guidance and assist the </a:t>
            </a:r>
            <a:r>
              <a:rPr lang="en-US" sz="1400" dirty="0">
                <a:solidFill>
                  <a:srgbClr val="111827"/>
                </a:solidFill>
                <a:latin typeface="Century Schoolbook"/>
              </a:rPr>
              <a:t>systems</a:t>
            </a:r>
            <a:r>
              <a:rPr sz="1400" b="0" i="0" u="none" dirty="0">
                <a:solidFill>
                  <a:srgbClr val="111827"/>
                </a:solidFill>
                <a:latin typeface="Century Schoolbook"/>
              </a:rPr>
              <a:t> who </a:t>
            </a:r>
            <a:r>
              <a:rPr lang="en-US" sz="1400" b="0" i="0" u="none" dirty="0">
                <a:solidFill>
                  <a:srgbClr val="111827"/>
                </a:solidFill>
                <a:latin typeface="Century Schoolbook"/>
              </a:rPr>
              <a:t>deploy</a:t>
            </a:r>
            <a:r>
              <a:rPr sz="1400" b="0" i="0" u="none" dirty="0">
                <a:solidFill>
                  <a:srgbClr val="111827"/>
                </a:solidFill>
                <a:latin typeface="Century Schoolbook"/>
              </a:rPr>
              <a:t> it.</a:t>
            </a:r>
          </a:p>
        </p:txBody>
      </p:sp>
      <p:sp>
        <p:nvSpPr>
          <p:cNvPr id="16" name="Rectangle 15"/>
          <p:cNvSpPr/>
          <p:nvPr/>
        </p:nvSpPr>
        <p:spPr>
          <a:xfrm>
            <a:off x="3813048" y="3363191"/>
            <a:ext cx="64008" cy="64008"/>
          </a:xfrm>
          <a:prstGeom prst="rect">
            <a:avLst/>
          </a:prstGeom>
          <a:noFill/>
          <a:ln w="12700">
            <a:solidFill>
              <a:srgbClr val="B448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7" name="TextBox 16"/>
          <p:cNvSpPr txBox="1"/>
          <p:nvPr/>
        </p:nvSpPr>
        <p:spPr>
          <a:xfrm>
            <a:off x="3913632" y="3277215"/>
            <a:ext cx="4672583" cy="589007"/>
          </a:xfrm>
          <a:prstGeom prst="rect">
            <a:avLst/>
          </a:prstGeom>
          <a:noFill/>
        </p:spPr>
        <p:txBody>
          <a:bodyPr wrap="square" lIns="0" tIns="0" rIns="0" bIns="0" anchor="t">
            <a:spAutoFit/>
          </a:bodyPr>
          <a:lstStyle/>
          <a:p>
            <a:pPr algn="l">
              <a:lnSpc>
                <a:spcPct val="120000"/>
              </a:lnSpc>
              <a:spcAft>
                <a:spcPts val="0"/>
              </a:spcAft>
            </a:pPr>
            <a:r>
              <a:rPr sz="1100" b="0" i="0" u="none" dirty="0">
                <a:solidFill>
                  <a:srgbClr val="6D6C66"/>
                </a:solidFill>
                <a:latin typeface="Century Schoolbook"/>
              </a:rPr>
              <a:t>Interpretability research showing how different populations may be given different quality of advice.</a:t>
            </a:r>
            <a:r>
              <a:rPr lang="en-US" sz="1100" b="0" i="0" u="none" dirty="0">
                <a:solidFill>
                  <a:srgbClr val="6D6C66"/>
                </a:solidFill>
                <a:latin typeface="Century Schoolbook"/>
              </a:rPr>
              <a:t> </a:t>
            </a:r>
          </a:p>
          <a:p>
            <a:pPr algn="l">
              <a:lnSpc>
                <a:spcPct val="120000"/>
              </a:lnSpc>
              <a:spcAft>
                <a:spcPts val="0"/>
              </a:spcAft>
            </a:pPr>
            <a:r>
              <a:rPr lang="en-US" sz="1100" b="0" i="0" u="none" dirty="0">
                <a:solidFill>
                  <a:srgbClr val="6D6C66"/>
                </a:solidFill>
                <a:latin typeface="Century Schoolbook"/>
              </a:rPr>
              <a:t>(anticipate pre-print in 1-2 months, overview of project on next slide)</a:t>
            </a:r>
            <a:endParaRPr sz="1100" b="0" i="0" u="none" dirty="0">
              <a:solidFill>
                <a:srgbClr val="6D6C66"/>
              </a:solidFill>
              <a:latin typeface="Century Schoolbook"/>
            </a:endParaRPr>
          </a:p>
        </p:txBody>
      </p:sp>
      <p:sp>
        <p:nvSpPr>
          <p:cNvPr id="18" name="TextBox 17"/>
          <p:cNvSpPr txBox="1"/>
          <p:nvPr/>
        </p:nvSpPr>
        <p:spPr>
          <a:xfrm>
            <a:off x="3611880" y="4005072"/>
            <a:ext cx="5074920" cy="160750"/>
          </a:xfrm>
          <a:prstGeom prst="rect">
            <a:avLst/>
          </a:prstGeom>
          <a:noFill/>
        </p:spPr>
        <p:txBody>
          <a:bodyPr wrap="square" lIns="0" tIns="0" rIns="0" bIns="0" anchor="t">
            <a:spAutoFit/>
          </a:bodyPr>
          <a:lstStyle/>
          <a:p>
            <a:pPr algn="l">
              <a:lnSpc>
                <a:spcPct val="115000"/>
              </a:lnSpc>
              <a:spcAft>
                <a:spcPts val="0"/>
              </a:spcAft>
            </a:pPr>
            <a:r>
              <a:rPr sz="1000" b="1" i="0" u="none" spc="120">
                <a:solidFill>
                  <a:srgbClr val="6D6C66"/>
                </a:solidFill>
                <a:latin typeface="Century Schoolbook"/>
              </a:rPr>
              <a:t>WORK</a:t>
            </a:r>
          </a:p>
        </p:txBody>
      </p:sp>
      <p:sp>
        <p:nvSpPr>
          <p:cNvPr id="19" name="TextBox 18"/>
          <p:cNvSpPr txBox="1"/>
          <p:nvPr/>
        </p:nvSpPr>
        <p:spPr>
          <a:xfrm>
            <a:off x="3611880" y="4206240"/>
            <a:ext cx="5074920" cy="562462"/>
          </a:xfrm>
          <a:prstGeom prst="rect">
            <a:avLst/>
          </a:prstGeom>
          <a:noFill/>
        </p:spPr>
        <p:txBody>
          <a:bodyPr wrap="square" lIns="0" tIns="0" rIns="0" bIns="0" anchor="t">
            <a:spAutoFit/>
          </a:bodyPr>
          <a:lstStyle/>
          <a:p>
            <a:pPr algn="l">
              <a:lnSpc>
                <a:spcPct val="115000"/>
              </a:lnSpc>
              <a:spcAft>
                <a:spcPts val="700"/>
              </a:spcAft>
            </a:pPr>
            <a:r>
              <a:rPr sz="1400" b="0" i="0" u="none" dirty="0">
                <a:solidFill>
                  <a:srgbClr val="6D6C66"/>
                </a:solidFill>
                <a:latin typeface="Century Schoolbook"/>
              </a:rPr>
              <a:t>Portfolio   </a:t>
            </a:r>
            <a:r>
              <a:rPr sz="1400" b="1" i="0" u="none" dirty="0">
                <a:solidFill>
                  <a:schemeClr val="accent1"/>
                </a:solidFill>
                <a:latin typeface="Century Schoolbook"/>
                <a:hlinkClick r:id="rId2">
                  <a:extLst>
                    <a:ext uri="{A12FA001-AC4F-418D-AE19-62706E023703}">
                      <ahyp:hlinkClr xmlns:ahyp="http://schemas.microsoft.com/office/drawing/2018/hyperlinkcolor" val="tx"/>
                    </a:ext>
                  </a:extLst>
                </a:hlinkClick>
              </a:rPr>
              <a:t>michaeldgreen.phd</a:t>
            </a:r>
            <a:endParaRPr sz="1400" b="1" i="0" u="none" dirty="0">
              <a:solidFill>
                <a:schemeClr val="accent1"/>
              </a:solidFill>
              <a:latin typeface="Century Schoolbook"/>
              <a:hlinkClick r:id="rId2">
                <a:extLst>
                  <a:ext uri="{A12FA001-AC4F-418D-AE19-62706E023703}">
                    <ahyp:hlinkClr xmlns:ahyp="http://schemas.microsoft.com/office/drawing/2018/hyperlinkcolor" val="tx"/>
                  </a:ext>
                </a:extLst>
              </a:hlinkClick>
            </a:endParaRPr>
          </a:p>
          <a:p>
            <a:pPr>
              <a:lnSpc>
                <a:spcPct val="115000"/>
              </a:lnSpc>
              <a:spcAft>
                <a:spcPts val="0"/>
              </a:spcAft>
            </a:pPr>
            <a:r>
              <a:rPr sz="1400" b="0" i="0" u="none" dirty="0">
                <a:solidFill>
                  <a:srgbClr val="6D6C66"/>
                </a:solidFill>
                <a:latin typeface="Century Schoolbook"/>
              </a:rPr>
              <a:t>GitHub </a:t>
            </a:r>
            <a:r>
              <a:rPr lang="en-US" sz="1400" b="0" i="0" u="none" dirty="0">
                <a:solidFill>
                  <a:srgbClr val="6D6C66"/>
                </a:solidFill>
                <a:latin typeface="Century Schoolbook"/>
              </a:rPr>
              <a:t>    </a:t>
            </a:r>
            <a:r>
              <a:rPr lang="en-US" sz="1400" b="1" dirty="0">
                <a:solidFill>
                  <a:srgbClr val="B4483D"/>
                </a:solidFill>
                <a:latin typeface="Century Schoolbook"/>
                <a:hlinkClick r:id="rId3"/>
              </a:rPr>
              <a:t>github.com/michaeldgreenphd</a:t>
            </a:r>
            <a:endParaRPr sz="1400" b="1" i="0" u="none" dirty="0">
              <a:solidFill>
                <a:srgbClr val="B4483D"/>
              </a:solidFill>
              <a:latin typeface="Century Schoolbook"/>
            </a:endParaRPr>
          </a:p>
        </p:txBody>
      </p:sp>
      <p:pic>
        <p:nvPicPr>
          <p:cNvPr id="20" name="Picture 19">
            <a:extLst>
              <a:ext uri="{FF2B5EF4-FFF2-40B4-BE49-F238E27FC236}">
                <a16:creationId xmlns:a16="http://schemas.microsoft.com/office/drawing/2014/main" id="{B8BCB2B2-E4EB-D404-0491-CCD00409FA25}"/>
              </a:ext>
            </a:extLst>
          </p:cNvPr>
          <p:cNvPicPr>
            <a:picLocks noChangeAspect="1"/>
          </p:cNvPicPr>
          <p:nvPr/>
        </p:nvPicPr>
        <p:blipFill>
          <a:blip r:embed="rId4"/>
          <a:srcRect t="3097" b="19596"/>
          <a:stretch>
            <a:fillRect/>
          </a:stretch>
        </p:blipFill>
        <p:spPr>
          <a:xfrm>
            <a:off x="865362" y="1348740"/>
            <a:ext cx="1405385" cy="1517904"/>
          </a:xfrm>
          <a:prstGeom prst="rect">
            <a:avLst/>
          </a:prstGeom>
        </p:spPr>
      </p:pic>
    </p:spTree>
    <p:extLst>
      <p:ext uri="{BB962C8B-B14F-4D97-AF65-F5344CB8AC3E}">
        <p14:creationId xmlns:p14="http://schemas.microsoft.com/office/powerpoint/2010/main" val="31239701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
    <p:bg>
      <p:bgPr>
        <a:solidFill>
          <a:srgbClr val="FAF9F5"/>
        </a:solidFill>
        <a:effectLst/>
      </p:bgPr>
    </p:bg>
    <p:spTree>
      <p:nvGrpSpPr>
        <p:cNvPr id="1" name=""/>
        <p:cNvGrpSpPr/>
        <p:nvPr/>
      </p:nvGrpSpPr>
      <p:grpSpPr>
        <a:xfrm>
          <a:off x="0" y="0"/>
          <a:ext cx="0" cy="0"/>
          <a:chOff x="0" y="0"/>
          <a:chExt cx="0" cy="0"/>
        </a:xfrm>
      </p:grpSpPr>
      <p:sp>
        <p:nvSpPr>
          <p:cNvPr id="3" name="Text 1"/>
          <p:cNvSpPr/>
          <p:nvPr/>
        </p:nvSpPr>
        <p:spPr>
          <a:xfrm>
            <a:off x="320040" y="262628"/>
            <a:ext cx="8503920" cy="382548"/>
          </a:xfrm>
          <a:prstGeom prst="rect">
            <a:avLst/>
          </a:prstGeom>
          <a:noFill/>
          <a:ln/>
        </p:spPr>
        <p:txBody>
          <a:bodyPr wrap="square" lIns="0" tIns="0" rIns="0" bIns="0" rtlCol="0" anchor="t"/>
          <a:lstStyle/>
          <a:p>
            <a:pPr marL="0" indent="0" algn="ctr">
              <a:lnSpc>
                <a:spcPct val="104000"/>
              </a:lnSpc>
              <a:buNone/>
            </a:pPr>
            <a:r>
              <a:rPr lang="en-US" sz="1800" b="1" dirty="0">
                <a:solidFill>
                  <a:srgbClr val="111827"/>
                </a:solidFill>
                <a:latin typeface="Century Schoolbook" panose="02040604050505020304" pitchFamily="18" charset="0"/>
                <a:cs typeface="Arial" panose="020B0604020202020204" pitchFamily="34" charset="0"/>
              </a:rPr>
              <a:t>Asking LLMs questions the way patients speak can lead to poor advice</a:t>
            </a:r>
            <a:endParaRPr lang="en-US" sz="1800" dirty="0">
              <a:latin typeface="Century Schoolbook" panose="02040604050505020304" pitchFamily="18" charset="0"/>
            </a:endParaRPr>
          </a:p>
        </p:txBody>
      </p:sp>
      <p:sp>
        <p:nvSpPr>
          <p:cNvPr id="4" name="Text 2"/>
          <p:cNvSpPr/>
          <p:nvPr/>
        </p:nvSpPr>
        <p:spPr>
          <a:xfrm>
            <a:off x="320040" y="630489"/>
            <a:ext cx="8503920" cy="256032"/>
          </a:xfrm>
          <a:prstGeom prst="rect">
            <a:avLst/>
          </a:prstGeom>
          <a:noFill/>
          <a:ln/>
        </p:spPr>
        <p:txBody>
          <a:bodyPr wrap="square" lIns="0" tIns="0" rIns="0" bIns="0" rtlCol="0" anchor="t"/>
          <a:lstStyle/>
          <a:p>
            <a:pPr marL="0" indent="0" algn="ctr">
              <a:lnSpc>
                <a:spcPct val="105000"/>
              </a:lnSpc>
              <a:buNone/>
            </a:pPr>
            <a:r>
              <a:rPr lang="en-US" sz="1050" i="1" dirty="0">
                <a:solidFill>
                  <a:srgbClr val="6D6C66"/>
                </a:solidFill>
                <a:latin typeface="Century Schoolbook" panose="02040604050505020304" pitchFamily="18" charset="0"/>
                <a:ea typeface="Century Schoolbook" pitchFamily="34" charset="-122"/>
                <a:cs typeface="Arial" panose="020B0604020202020204" pitchFamily="34" charset="0"/>
              </a:rPr>
              <a:t>Research question: Do LLMs respond differently to </a:t>
            </a:r>
            <a:r>
              <a:rPr lang="en-US" sz="1050" i="1" dirty="0">
                <a:solidFill>
                  <a:srgbClr val="B4483D"/>
                </a:solidFill>
                <a:latin typeface="Century Schoolbook" panose="02040604050505020304" pitchFamily="18" charset="0"/>
                <a:ea typeface="Century Schoolbook" pitchFamily="34" charset="-122"/>
                <a:cs typeface="Arial" panose="020B0604020202020204" pitchFamily="34" charset="0"/>
              </a:rPr>
              <a:t>patient wording</a:t>
            </a:r>
            <a:r>
              <a:rPr lang="en-US" sz="1050" i="1" dirty="0">
                <a:solidFill>
                  <a:srgbClr val="6D6C66"/>
                </a:solidFill>
                <a:latin typeface="Century Schoolbook" panose="02040604050505020304" pitchFamily="18" charset="0"/>
                <a:ea typeface="Century Schoolbook" pitchFamily="34" charset="-122"/>
                <a:cs typeface="Arial" panose="020B0604020202020204" pitchFamily="34" charset="0"/>
              </a:rPr>
              <a:t> vs. </a:t>
            </a:r>
            <a:r>
              <a:rPr lang="en-US" sz="1050" i="1" dirty="0">
                <a:solidFill>
                  <a:srgbClr val="15803D"/>
                </a:solidFill>
                <a:latin typeface="Century Schoolbook" panose="02040604050505020304" pitchFamily="18" charset="0"/>
                <a:ea typeface="Century Schoolbook" pitchFamily="34" charset="-122"/>
                <a:cs typeface="Arial" panose="020B0604020202020204" pitchFamily="34" charset="0"/>
              </a:rPr>
              <a:t>clinical wording</a:t>
            </a:r>
            <a:r>
              <a:rPr lang="en-US" sz="1050" i="1" dirty="0">
                <a:solidFill>
                  <a:srgbClr val="6D6C66"/>
                </a:solidFill>
                <a:latin typeface="Century Schoolbook" panose="02040604050505020304" pitchFamily="18" charset="0"/>
                <a:ea typeface="Century Schoolbook" pitchFamily="34" charset="-122"/>
                <a:cs typeface="Arial" panose="020B0604020202020204" pitchFamily="34" charset="0"/>
              </a:rPr>
              <a:t>? If yes, why?</a:t>
            </a:r>
            <a:endParaRPr lang="en-US" sz="1050" dirty="0">
              <a:latin typeface="Century Schoolbook" panose="02040604050505020304" pitchFamily="18" charset="0"/>
            </a:endParaRPr>
          </a:p>
        </p:txBody>
      </p:sp>
      <p:sp>
        <p:nvSpPr>
          <p:cNvPr id="5" name="Shape 3"/>
          <p:cNvSpPr/>
          <p:nvPr/>
        </p:nvSpPr>
        <p:spPr>
          <a:xfrm>
            <a:off x="320040" y="1207008"/>
            <a:ext cx="4892040" cy="0"/>
          </a:xfrm>
          <a:prstGeom prst="line">
            <a:avLst/>
          </a:prstGeom>
          <a:noFill/>
          <a:ln w="9525">
            <a:solidFill>
              <a:srgbClr val="C3C9D2"/>
            </a:solidFill>
            <a:prstDash val="solid"/>
          </a:ln>
        </p:spPr>
        <p:txBody>
          <a:bodyPr/>
          <a:lstStyle/>
          <a:p>
            <a:endParaRPr lang="en-US">
              <a:latin typeface="Century Schoolbook" panose="02040604050505020304" pitchFamily="18" charset="0"/>
            </a:endParaRPr>
          </a:p>
        </p:txBody>
      </p:sp>
      <p:pic>
        <p:nvPicPr>
          <p:cNvPr id="7" name="Image 0" descr="/tmp/claude-0/-home-user/c5abf727-1376-5817-9109-3daf43333faa/scratchpad/fig_pair.png"/>
          <p:cNvPicPr>
            <a:picLocks noChangeAspect="1"/>
          </p:cNvPicPr>
          <p:nvPr/>
        </p:nvPicPr>
        <p:blipFill>
          <a:blip r:embed="rId3"/>
          <a:stretch>
            <a:fillRect/>
          </a:stretch>
        </p:blipFill>
        <p:spPr>
          <a:xfrm>
            <a:off x="144208" y="1605445"/>
            <a:ext cx="3429000" cy="996696"/>
          </a:xfrm>
          <a:prstGeom prst="rect">
            <a:avLst/>
          </a:prstGeom>
        </p:spPr>
      </p:pic>
      <p:sp>
        <p:nvSpPr>
          <p:cNvPr id="8" name="Text 5"/>
          <p:cNvSpPr/>
          <p:nvPr/>
        </p:nvSpPr>
        <p:spPr>
          <a:xfrm>
            <a:off x="3558218" y="1560727"/>
            <a:ext cx="1733307" cy="1094979"/>
          </a:xfrm>
          <a:prstGeom prst="rect">
            <a:avLst/>
          </a:prstGeom>
          <a:noFill/>
          <a:ln>
            <a:solidFill>
              <a:schemeClr val="tx1"/>
            </a:solidFill>
          </a:ln>
        </p:spPr>
        <p:txBody>
          <a:bodyPr wrap="square" lIns="0" tIns="0" rIns="0" bIns="0" rtlCol="0" anchor="t"/>
          <a:lstStyle/>
          <a:p>
            <a:pPr marL="0" indent="0" algn="ctr">
              <a:lnSpc>
                <a:spcPct val="112000"/>
              </a:lnSpc>
              <a:buNone/>
            </a:pPr>
            <a:r>
              <a:rPr lang="en-US" sz="900" b="1" dirty="0">
                <a:solidFill>
                  <a:srgbClr val="111827"/>
                </a:solidFill>
                <a:latin typeface="Century Schoolbook" panose="02040604050505020304" pitchFamily="18" charset="0"/>
                <a:ea typeface="Century Schoolbook" pitchFamily="34" charset="-122"/>
                <a:cs typeface="Arial" panose="020B0604020202020204" pitchFamily="34" charset="0"/>
              </a:rPr>
              <a:t>Questions using everyday language leads to less clinical next-token predictions. Circuit tracing shows less clinical nodes activated</a:t>
            </a:r>
            <a:endParaRPr lang="en-US" sz="850" dirty="0">
              <a:solidFill>
                <a:srgbClr val="111827"/>
              </a:solidFill>
              <a:latin typeface="Century Schoolbook" panose="02040604050505020304" pitchFamily="18" charset="0"/>
              <a:ea typeface="Century Schoolbook" pitchFamily="34" charset="-122"/>
              <a:cs typeface="Arial" panose="020B0604020202020204" pitchFamily="34" charset="0"/>
            </a:endParaRPr>
          </a:p>
          <a:p>
            <a:pPr marL="0" indent="0" algn="ctr">
              <a:lnSpc>
                <a:spcPct val="112000"/>
              </a:lnSpc>
              <a:buNone/>
            </a:pPr>
            <a:r>
              <a:rPr lang="en-US" sz="850" u="sng" dirty="0">
                <a:solidFill>
                  <a:srgbClr val="15803D"/>
                </a:solidFill>
                <a:latin typeface="Century Schoolbook" panose="02040604050505020304" pitchFamily="18" charset="0"/>
                <a:ea typeface="Century Schoolbook" pitchFamily="34" charset="-122"/>
                <a:cs typeface="Arial" panose="020B0604020202020204" pitchFamily="34" charset="0"/>
                <a:hlinkClick r:id="rId4">
                  <a:extLst>
                    <a:ext uri="{A12FA001-AC4F-418D-AE19-62706E023703}">
                      <ahyp:hlinkClr xmlns:ahyp="http://schemas.microsoft.com/office/drawing/2018/hyperlinkcolor" val="tx"/>
                    </a:ext>
                  </a:extLst>
                </a:hlinkClick>
              </a:rPr>
              <a:t>interactive attribution graph →</a:t>
            </a:r>
            <a:endParaRPr lang="en-US" sz="900" dirty="0">
              <a:latin typeface="Century Schoolbook" panose="02040604050505020304" pitchFamily="18" charset="0"/>
            </a:endParaRPr>
          </a:p>
        </p:txBody>
      </p:sp>
      <p:pic>
        <p:nvPicPr>
          <p:cNvPr id="10" name="Image 1" descr="/tmp/claude-0/-home-user/c5abf727-1376-5817-9109-3daf43333faa/scratchpad/fig_lens.png"/>
          <p:cNvPicPr>
            <a:picLocks noChangeAspect="1"/>
          </p:cNvPicPr>
          <p:nvPr/>
        </p:nvPicPr>
        <p:blipFill>
          <a:blip r:embed="rId5"/>
          <a:stretch>
            <a:fillRect/>
          </a:stretch>
        </p:blipFill>
        <p:spPr>
          <a:xfrm>
            <a:off x="39278" y="2889504"/>
            <a:ext cx="4572000" cy="1316736"/>
          </a:xfrm>
          <a:prstGeom prst="rect">
            <a:avLst/>
          </a:prstGeom>
        </p:spPr>
      </p:pic>
      <p:sp>
        <p:nvSpPr>
          <p:cNvPr id="12" name="Text 8"/>
          <p:cNvSpPr/>
          <p:nvPr/>
        </p:nvSpPr>
        <p:spPr>
          <a:xfrm>
            <a:off x="125169" y="4810370"/>
            <a:ext cx="4892040" cy="274320"/>
          </a:xfrm>
          <a:prstGeom prst="rect">
            <a:avLst/>
          </a:prstGeom>
          <a:noFill/>
          <a:ln/>
        </p:spPr>
        <p:txBody>
          <a:bodyPr wrap="square" lIns="0" tIns="0" rIns="0" bIns="0" rtlCol="0" anchor="t"/>
          <a:lstStyle/>
          <a:p>
            <a:pPr marL="0" indent="0">
              <a:lnSpc>
                <a:spcPct val="112000"/>
              </a:lnSpc>
              <a:buNone/>
            </a:pPr>
            <a:r>
              <a:rPr lang="en-US" sz="700" dirty="0">
                <a:solidFill>
                  <a:srgbClr val="6D6C66"/>
                </a:solidFill>
                <a:latin typeface="Century Schoolbook" panose="02040604050505020304" pitchFamily="18" charset="0"/>
                <a:ea typeface="Courier New" pitchFamily="34" charset="-122"/>
                <a:cs typeface="Courier New" pitchFamily="34" charset="-120"/>
              </a:rPr>
              <a:t>Simulations: 1,706 sentence pairs · 1,331 traced on gemma-2-2b · next-token behavior on 9 open models: gemma-2-2b · gemma-2-2b-it · gemma-3-4b-it · medgemma-4b-it · qwen3-4b · qwen3-1.7b · llama-3.2-3b · olmo-2-1b · meditron3-8b</a:t>
            </a:r>
            <a:endParaRPr lang="en-US" sz="700" dirty="0">
              <a:latin typeface="Century Schoolbook" panose="02040604050505020304" pitchFamily="18" charset="0"/>
            </a:endParaRPr>
          </a:p>
        </p:txBody>
      </p:sp>
      <p:sp>
        <p:nvSpPr>
          <p:cNvPr id="13" name="Shape 9"/>
          <p:cNvSpPr/>
          <p:nvPr/>
        </p:nvSpPr>
        <p:spPr>
          <a:xfrm>
            <a:off x="5486400" y="1207008"/>
            <a:ext cx="3337560" cy="0"/>
          </a:xfrm>
          <a:prstGeom prst="line">
            <a:avLst/>
          </a:prstGeom>
          <a:noFill/>
          <a:ln w="9525">
            <a:solidFill>
              <a:srgbClr val="C3C9D2"/>
            </a:solidFill>
            <a:prstDash val="solid"/>
          </a:ln>
        </p:spPr>
        <p:txBody>
          <a:bodyPr/>
          <a:lstStyle/>
          <a:p>
            <a:endParaRPr lang="en-US">
              <a:latin typeface="Century Schoolbook" panose="02040604050505020304" pitchFamily="18" charset="0"/>
            </a:endParaRPr>
          </a:p>
        </p:txBody>
      </p:sp>
      <p:sp>
        <p:nvSpPr>
          <p:cNvPr id="15" name="Text 11"/>
          <p:cNvSpPr/>
          <p:nvPr/>
        </p:nvSpPr>
        <p:spPr>
          <a:xfrm>
            <a:off x="5486400" y="1265609"/>
            <a:ext cx="3337560" cy="859536"/>
          </a:xfrm>
          <a:prstGeom prst="rect">
            <a:avLst/>
          </a:prstGeom>
          <a:noFill/>
          <a:ln/>
        </p:spPr>
        <p:txBody>
          <a:bodyPr wrap="square" lIns="0" tIns="0" rIns="0" bIns="0" rtlCol="0" anchor="t"/>
          <a:lstStyle/>
          <a:p>
            <a:pPr marL="0" indent="0">
              <a:lnSpc>
                <a:spcPct val="110000"/>
              </a:lnSpc>
              <a:spcAft>
                <a:spcPts val="200"/>
              </a:spcAft>
              <a:buNone/>
            </a:pPr>
            <a:r>
              <a:rPr lang="en-US" sz="800" dirty="0">
                <a:solidFill>
                  <a:srgbClr val="15803D"/>
                </a:solidFill>
                <a:latin typeface="Century Schoolbook" panose="02040604050505020304" pitchFamily="18" charset="0"/>
                <a:ea typeface="Courier New" pitchFamily="34" charset="-122"/>
                <a:cs typeface="Courier New" pitchFamily="34" charset="-120"/>
              </a:rPr>
              <a:t>CLINICAL WORDING
</a:t>
            </a:r>
            <a:r>
              <a:rPr lang="en-US" sz="800" i="1" dirty="0">
                <a:solidFill>
                  <a:srgbClr val="111827"/>
                </a:solidFill>
                <a:latin typeface="Century Schoolbook" panose="02040604050505020304" pitchFamily="18" charset="0"/>
                <a:ea typeface="Century Schoolbook" pitchFamily="34" charset="-122"/>
                <a:cs typeface="Arial" panose="020B0604020202020204" pitchFamily="34" charset="0"/>
              </a:rPr>
              <a:t>“He’s had </a:t>
            </a:r>
            <a:r>
              <a:rPr lang="en-US" sz="800" i="1" u="sng" dirty="0">
                <a:solidFill>
                  <a:srgbClr val="111827"/>
                </a:solidFill>
                <a:latin typeface="Century Schoolbook" panose="02040604050505020304" pitchFamily="18" charset="0"/>
                <a:ea typeface="Century Schoolbook" pitchFamily="34" charset="-122"/>
                <a:cs typeface="Arial" panose="020B0604020202020204" pitchFamily="34" charset="0"/>
              </a:rPr>
              <a:t>major depression</a:t>
            </a:r>
            <a:r>
              <a:rPr lang="en-US" sz="800" i="1" dirty="0">
                <a:solidFill>
                  <a:srgbClr val="111827"/>
                </a:solidFill>
                <a:latin typeface="Century Schoolbook" panose="02040604050505020304" pitchFamily="18" charset="0"/>
                <a:ea typeface="Century Schoolbook" pitchFamily="34" charset="-122"/>
                <a:cs typeface="Arial" panose="020B0604020202020204" pitchFamily="34" charset="0"/>
              </a:rPr>
              <a:t> for months, so the clinic set him up with a … anyway what should I do?”
</a:t>
            </a:r>
            <a:r>
              <a:rPr lang="en-US" sz="800" dirty="0">
                <a:solidFill>
                  <a:srgbClr val="B4483D"/>
                </a:solidFill>
                <a:latin typeface="Century Schoolbook" panose="02040604050505020304" pitchFamily="18" charset="0"/>
                <a:ea typeface="Courier New" pitchFamily="34" charset="-122"/>
                <a:cs typeface="Courier New" pitchFamily="34" charset="-120"/>
              </a:rPr>
              <a:t>PATIENT WORDING
</a:t>
            </a:r>
            <a:r>
              <a:rPr lang="en-US" sz="800" i="1" dirty="0">
                <a:solidFill>
                  <a:srgbClr val="111827"/>
                </a:solidFill>
                <a:latin typeface="Century Schoolbook" panose="02040604050505020304" pitchFamily="18" charset="0"/>
                <a:ea typeface="Century Schoolbook" pitchFamily="34" charset="-122"/>
                <a:cs typeface="Arial" panose="020B0604020202020204" pitchFamily="34" charset="0"/>
              </a:rPr>
              <a:t>“He’s been </a:t>
            </a:r>
            <a:r>
              <a:rPr lang="en-US" sz="800" i="1" u="sng" dirty="0">
                <a:solidFill>
                  <a:srgbClr val="111827"/>
                </a:solidFill>
                <a:latin typeface="Century Schoolbook" panose="02040604050505020304" pitchFamily="18" charset="0"/>
                <a:ea typeface="Century Schoolbook" pitchFamily="34" charset="-122"/>
                <a:cs typeface="Arial" panose="020B0604020202020204" pitchFamily="34" charset="0"/>
              </a:rPr>
              <a:t>down in the dumps</a:t>
            </a:r>
            <a:r>
              <a:rPr lang="en-US" sz="800" i="1" dirty="0">
                <a:solidFill>
                  <a:srgbClr val="111827"/>
                </a:solidFill>
                <a:latin typeface="Century Schoolbook" panose="02040604050505020304" pitchFamily="18" charset="0"/>
                <a:ea typeface="Century Schoolbook" pitchFamily="34" charset="-122"/>
                <a:cs typeface="Arial" panose="020B0604020202020204" pitchFamily="34" charset="0"/>
              </a:rPr>
              <a:t> for months, so the clinic set him up with a … anyway what should I do?”</a:t>
            </a:r>
            <a:endParaRPr lang="en-US" sz="800" dirty="0">
              <a:latin typeface="Century Schoolbook" panose="02040604050505020304" pitchFamily="18" charset="0"/>
            </a:endParaRPr>
          </a:p>
        </p:txBody>
      </p:sp>
      <p:sp>
        <p:nvSpPr>
          <p:cNvPr id="16" name="Shape 12"/>
          <p:cNvSpPr/>
          <p:nvPr/>
        </p:nvSpPr>
        <p:spPr>
          <a:xfrm>
            <a:off x="5396460" y="2340864"/>
            <a:ext cx="0" cy="2029968"/>
          </a:xfrm>
          <a:prstGeom prst="line">
            <a:avLst/>
          </a:prstGeom>
          <a:noFill/>
          <a:ln w="19050">
            <a:solidFill>
              <a:srgbClr val="C3C9D2"/>
            </a:solidFill>
            <a:prstDash val="solid"/>
          </a:ln>
        </p:spPr>
        <p:txBody>
          <a:bodyPr/>
          <a:lstStyle/>
          <a:p>
            <a:endParaRPr lang="en-US">
              <a:latin typeface="Century Schoolbook" panose="02040604050505020304" pitchFamily="18" charset="0"/>
            </a:endParaRPr>
          </a:p>
        </p:txBody>
      </p:sp>
      <p:sp>
        <p:nvSpPr>
          <p:cNvPr id="17" name="Text 13"/>
          <p:cNvSpPr/>
          <p:nvPr/>
        </p:nvSpPr>
        <p:spPr>
          <a:xfrm>
            <a:off x="5486401" y="2279298"/>
            <a:ext cx="3560140" cy="2048256"/>
          </a:xfrm>
          <a:prstGeom prst="rect">
            <a:avLst/>
          </a:prstGeom>
          <a:noFill/>
          <a:ln/>
        </p:spPr>
        <p:txBody>
          <a:bodyPr wrap="square" lIns="0" tIns="0" rIns="0" bIns="0" rtlCol="0" anchor="t"/>
          <a:lstStyle/>
          <a:p>
            <a:pPr marL="0" indent="0">
              <a:lnSpc>
                <a:spcPct val="108000"/>
              </a:lnSpc>
              <a:spcAft>
                <a:spcPts val="200"/>
              </a:spcAft>
              <a:buNone/>
            </a:pPr>
            <a:r>
              <a:rPr lang="en-US" sz="800" b="1" dirty="0">
                <a:solidFill>
                  <a:srgbClr val="111827"/>
                </a:solidFill>
                <a:latin typeface="Century Schoolbook" panose="02040604050505020304" pitchFamily="18" charset="0"/>
                <a:ea typeface="Century Schoolbook" pitchFamily="34" charset="-122"/>
                <a:cs typeface="Arial" panose="020B0604020202020204" pitchFamily="34" charset="0"/>
              </a:rPr>
              <a:t>GPT-5.5 answers them with different levels of urgency </a:t>
            </a:r>
            <a:r>
              <a:rPr lang="en-US" sz="850" b="1" dirty="0">
                <a:solidFill>
                  <a:srgbClr val="111827"/>
                </a:solidFill>
                <a:latin typeface="Century Schoolbook" panose="02040604050505020304" pitchFamily="18" charset="0"/>
                <a:ea typeface="Century Schoolbook" pitchFamily="34" charset="-122"/>
                <a:cs typeface="Arial" panose="020B0604020202020204" pitchFamily="34" charset="0"/>
              </a:rPr>
              <a:t>
</a:t>
            </a:r>
            <a:r>
              <a:rPr lang="en-US" sz="600" dirty="0">
                <a:solidFill>
                  <a:srgbClr val="15803D"/>
                </a:solidFill>
                <a:latin typeface="Century Schoolbook" panose="02040604050505020304" pitchFamily="18" charset="0"/>
                <a:ea typeface="Century Schoolbook" pitchFamily="34" charset="-122"/>
                <a:cs typeface="Courier New" pitchFamily="34" charset="-120"/>
              </a:rPr>
              <a:t>ANSWER 1</a:t>
            </a:r>
            <a:r>
              <a:rPr lang="en-US" sz="600" dirty="0">
                <a:solidFill>
                  <a:srgbClr val="15803D"/>
                </a:solidFill>
                <a:latin typeface="Century Schoolbook" panose="02040604050505020304" pitchFamily="18" charset="0"/>
                <a:ea typeface="Courier New" pitchFamily="34" charset="-122"/>
                <a:cs typeface="Courier New" pitchFamily="34" charset="-120"/>
              </a:rPr>
              <a:t> → EMERGENCY  </a:t>
            </a:r>
            <a:r>
              <a:rPr lang="en-US" sz="700" dirty="0">
                <a:solidFill>
                  <a:srgbClr val="111827"/>
                </a:solidFill>
                <a:latin typeface="Century Schoolbook" panose="02040604050505020304" pitchFamily="18" charset="0"/>
                <a:ea typeface="Century Schoolbook" pitchFamily="34" charset="-122"/>
                <a:cs typeface="Arial" panose="020B0604020202020204" pitchFamily="34" charset="0"/>
              </a:rPr>
              <a:t>“If he has major depression, the most important thing is to treat any signs of self-harm risk as urgent. Do this now if there’s any immediate danger … </a:t>
            </a:r>
            <a:r>
              <a:rPr lang="en-US" sz="700" b="1" u="sng" dirty="0">
                <a:solidFill>
                  <a:srgbClr val="111827"/>
                </a:solidFill>
                <a:latin typeface="Century Schoolbook" panose="02040604050505020304" pitchFamily="18" charset="0"/>
                <a:ea typeface="Century Schoolbook" pitchFamily="34" charset="-122"/>
                <a:cs typeface="Arial" panose="020B0604020202020204" pitchFamily="34" charset="0"/>
              </a:rPr>
              <a:t>Call emergency services now or take him to the nearest ER </a:t>
            </a:r>
            <a:r>
              <a:rPr lang="en-US" sz="700" dirty="0">
                <a:solidFill>
                  <a:srgbClr val="111827"/>
                </a:solidFill>
                <a:latin typeface="Century Schoolbook" panose="02040604050505020304" pitchFamily="18" charset="0"/>
                <a:ea typeface="Century Schoolbook" pitchFamily="34" charset="-122"/>
                <a:cs typeface="Arial" panose="020B0604020202020204" pitchFamily="34" charset="0"/>
              </a:rPr>
              <a:t>… remove/secure weapons, medications, or other lethal means…”
</a:t>
            </a:r>
            <a:r>
              <a:rPr lang="en-US" sz="600" dirty="0">
                <a:solidFill>
                  <a:srgbClr val="B4483D"/>
                </a:solidFill>
                <a:latin typeface="Century Schoolbook" panose="02040604050505020304" pitchFamily="18" charset="0"/>
                <a:ea typeface="Courier New" pitchFamily="34" charset="-122"/>
                <a:cs typeface="Courier New" pitchFamily="34" charset="-120"/>
              </a:rPr>
              <a:t>ANSWER 2 → ROUTINE  </a:t>
            </a:r>
            <a:r>
              <a:rPr lang="en-US" sz="700" dirty="0">
                <a:solidFill>
                  <a:srgbClr val="111827"/>
                </a:solidFill>
                <a:latin typeface="Century Schoolbook" panose="02040604050505020304" pitchFamily="18" charset="0"/>
                <a:ea typeface="Century Schoolbook" pitchFamily="34" charset="-122"/>
                <a:cs typeface="Arial" panose="020B0604020202020204" pitchFamily="34" charset="0"/>
              </a:rPr>
              <a:t>“If he’s been depressed for months, the most important thing is to take it seriously and support the clinic’s plan … Encourage him to attend appointments and offer practical help: rides, reminders…”
</a:t>
            </a:r>
            <a:r>
              <a:rPr lang="en-US" sz="800" b="1" dirty="0">
                <a:solidFill>
                  <a:srgbClr val="15803D"/>
                </a:solidFill>
                <a:latin typeface="Century Schoolbook" panose="02040604050505020304" pitchFamily="18" charset="0"/>
                <a:ea typeface="Century Schoolbook" pitchFamily="34" charset="-122"/>
                <a:cs typeface="Arial" panose="020B0604020202020204" pitchFamily="34" charset="0"/>
              </a:rPr>
              <a:t>Claude Sonnet 5 answers them with similar urgency, and asks more questions</a:t>
            </a:r>
            <a:r>
              <a:rPr lang="en-US" sz="850" b="1" dirty="0">
                <a:solidFill>
                  <a:srgbClr val="15803D"/>
                </a:solidFill>
                <a:latin typeface="Century Schoolbook" panose="02040604050505020304" pitchFamily="18" charset="0"/>
                <a:ea typeface="Century Schoolbook" pitchFamily="34" charset="-122"/>
                <a:cs typeface="Arial" panose="020B0604020202020204" pitchFamily="34" charset="0"/>
              </a:rPr>
              <a:t>
</a:t>
            </a:r>
            <a:r>
              <a:rPr lang="en-US" sz="600" dirty="0">
                <a:solidFill>
                  <a:srgbClr val="15803D"/>
                </a:solidFill>
                <a:latin typeface="Century Schoolbook" panose="02040604050505020304" pitchFamily="18" charset="0"/>
                <a:ea typeface="Courier New" pitchFamily="34" charset="-122"/>
                <a:cs typeface="Courier New" pitchFamily="34" charset="-120"/>
              </a:rPr>
              <a:t>ANSWER 1→ ROUTINE  </a:t>
            </a:r>
            <a:r>
              <a:rPr lang="en-US" sz="700" dirty="0">
                <a:solidFill>
                  <a:srgbClr val="111827"/>
                </a:solidFill>
                <a:latin typeface="Century Schoolbook" panose="02040604050505020304" pitchFamily="18" charset="0"/>
                <a:ea typeface="Century Schoolbook" pitchFamily="34" charset="-122"/>
                <a:cs typeface="Arial" panose="020B0604020202020204" pitchFamily="34" charset="0"/>
              </a:rPr>
              <a:t>“It sounds like you’re worried about someone you care about—that matters a lot … </a:t>
            </a:r>
            <a:r>
              <a:rPr lang="en-US" sz="700" b="1" u="sng" dirty="0">
                <a:solidFill>
                  <a:srgbClr val="111827"/>
                </a:solidFill>
                <a:latin typeface="Century Schoolbook" panose="02040604050505020304" pitchFamily="18" charset="0"/>
                <a:ea typeface="Century Schoolbook" pitchFamily="34" charset="-122"/>
                <a:cs typeface="Arial" panose="020B0604020202020204" pitchFamily="34" charset="0"/>
              </a:rPr>
              <a:t>Is he currently safe? Has he talked about self-harm or suicide … If there’s ever any indication he might hurt himself, that’s an emergency</a:t>
            </a:r>
            <a:r>
              <a:rPr lang="en-US" sz="700" dirty="0">
                <a:solidFill>
                  <a:srgbClr val="111827"/>
                </a:solidFill>
                <a:latin typeface="Century Schoolbook" panose="02040604050505020304" pitchFamily="18" charset="0"/>
                <a:ea typeface="Century Schoolbook" pitchFamily="34" charset="-122"/>
                <a:cs typeface="Arial" panose="020B0604020202020204" pitchFamily="34" charset="0"/>
              </a:rPr>
              <a:t>—call a crisis line (like 988 in the US) or go with him to an ER…”
</a:t>
            </a:r>
            <a:r>
              <a:rPr lang="en-US" sz="600" dirty="0">
                <a:solidFill>
                  <a:srgbClr val="B4483D"/>
                </a:solidFill>
                <a:latin typeface="Century Schoolbook" panose="02040604050505020304" pitchFamily="18" charset="0"/>
                <a:ea typeface="Courier New" pitchFamily="34" charset="-122"/>
                <a:cs typeface="Courier New" pitchFamily="34" charset="-120"/>
              </a:rPr>
              <a:t>ANSWER 2→ ROUTINE  </a:t>
            </a:r>
            <a:r>
              <a:rPr lang="en-US" sz="700" dirty="0">
                <a:solidFill>
                  <a:srgbClr val="111827"/>
                </a:solidFill>
                <a:latin typeface="Century Schoolbook" panose="02040604050505020304" pitchFamily="18" charset="0"/>
                <a:ea typeface="Century Schoolbook" pitchFamily="34" charset="-122"/>
                <a:cs typeface="Arial" panose="020B0604020202020204" pitchFamily="34" charset="0"/>
              </a:rPr>
              <a:t>“It sounds like you’re trying to figure out how to support someone who’s been struggling for a while and is now getting professional help … Ask directly but gently about safety if you’re worried … ‘Have things gotten so hard that you’ve thought about hurting yourself?’…” </a:t>
            </a:r>
            <a:r>
              <a:rPr lang="en-US" sz="700" u="sng" dirty="0">
                <a:solidFill>
                  <a:srgbClr val="15803D"/>
                </a:solidFill>
                <a:latin typeface="Century Schoolbook" panose="02040604050505020304" pitchFamily="18" charset="0"/>
                <a:ea typeface="Century Schoolbook" pitchFamily="34" charset="-122"/>
                <a:cs typeface="Arial" panose="020B0604020202020204" pitchFamily="34" charset="0"/>
                <a:hlinkClick r:id="rId6">
                  <a:extLst>
                    <a:ext uri="{A12FA001-AC4F-418D-AE19-62706E023703}">
                      <ahyp:hlinkClr xmlns:ahyp="http://schemas.microsoft.com/office/drawing/2018/hyperlinkcolor" val="tx"/>
                    </a:ext>
                  </a:extLst>
                </a:hlinkClick>
              </a:rPr>
              <a:t>all attempts →</a:t>
            </a:r>
            <a:endParaRPr lang="en-US" sz="850" dirty="0">
              <a:latin typeface="Century Schoolbook" panose="02040604050505020304" pitchFamily="18" charset="0"/>
            </a:endParaRPr>
          </a:p>
        </p:txBody>
      </p:sp>
      <p:sp>
        <p:nvSpPr>
          <p:cNvPr id="18" name="Text 14"/>
          <p:cNvSpPr/>
          <p:nvPr/>
        </p:nvSpPr>
        <p:spPr>
          <a:xfrm>
            <a:off x="5652201" y="4810370"/>
            <a:ext cx="3123624" cy="219433"/>
          </a:xfrm>
          <a:prstGeom prst="rect">
            <a:avLst/>
          </a:prstGeom>
          <a:noFill/>
          <a:ln/>
        </p:spPr>
        <p:txBody>
          <a:bodyPr wrap="square" lIns="0" tIns="0" rIns="0" bIns="0" rtlCol="0" anchor="t"/>
          <a:lstStyle/>
          <a:p>
            <a:pPr marL="0" indent="0">
              <a:lnSpc>
                <a:spcPct val="112000"/>
              </a:lnSpc>
              <a:buNone/>
            </a:pPr>
            <a:r>
              <a:rPr lang="en-US" sz="700" dirty="0">
                <a:solidFill>
                  <a:srgbClr val="6D6C66"/>
                </a:solidFill>
                <a:latin typeface="Century Schoolbook" panose="02040604050505020304" pitchFamily="18" charset="0"/>
                <a:ea typeface="Courier New" pitchFamily="34" charset="-122"/>
                <a:cs typeface="Courier New" pitchFamily="34" charset="-120"/>
              </a:rPr>
              <a:t>Tested 50 questions × 3 phrasings × 3 attempts = 3,600 graded responses · </a:t>
            </a:r>
          </a:p>
          <a:p>
            <a:pPr marL="0" indent="0">
              <a:lnSpc>
                <a:spcPct val="112000"/>
              </a:lnSpc>
              <a:buNone/>
            </a:pPr>
            <a:r>
              <a:rPr lang="en-US" sz="700" dirty="0">
                <a:solidFill>
                  <a:srgbClr val="6D6C66"/>
                </a:solidFill>
                <a:latin typeface="Century Schoolbook" panose="02040604050505020304" pitchFamily="18" charset="0"/>
                <a:ea typeface="Courier New" pitchFamily="34" charset="-122"/>
                <a:cs typeface="Courier New" pitchFamily="34" charset="-120"/>
              </a:rPr>
              <a:t>8 models tested</a:t>
            </a:r>
            <a:endParaRPr lang="en-US" sz="700" dirty="0">
              <a:latin typeface="Century Schoolbook" panose="02040604050505020304" pitchFamily="18" charset="0"/>
            </a:endParaRPr>
          </a:p>
        </p:txBody>
      </p:sp>
      <p:sp>
        <p:nvSpPr>
          <p:cNvPr id="20" name="Text 16"/>
          <p:cNvSpPr/>
          <p:nvPr/>
        </p:nvSpPr>
        <p:spPr>
          <a:xfrm>
            <a:off x="5441430" y="66632"/>
            <a:ext cx="3605111" cy="219456"/>
          </a:xfrm>
          <a:prstGeom prst="rect">
            <a:avLst/>
          </a:prstGeom>
          <a:noFill/>
          <a:ln/>
        </p:spPr>
        <p:txBody>
          <a:bodyPr wrap="square" lIns="0" tIns="0" rIns="0" bIns="0" rtlCol="0" anchor="t"/>
          <a:lstStyle/>
          <a:p>
            <a:pPr marL="0" indent="0">
              <a:buNone/>
            </a:pPr>
            <a:r>
              <a:rPr lang="en-US" sz="850" b="1" u="sng" dirty="0">
                <a:solidFill>
                  <a:srgbClr val="111827"/>
                </a:solidFill>
                <a:latin typeface="Century Schoolbook" panose="02040604050505020304" pitchFamily="18" charset="0"/>
                <a:ea typeface="Century Schoolbook" pitchFamily="34" charset="-122"/>
                <a:cs typeface="Arial" panose="020B0604020202020204" pitchFamily="34" charset="0"/>
              </a:rPr>
              <a:t>Full Pilot Study</a:t>
            </a:r>
            <a:r>
              <a:rPr lang="en-US" sz="850" b="1" dirty="0">
                <a:solidFill>
                  <a:srgbClr val="111827"/>
                </a:solidFill>
                <a:latin typeface="Century Schoolbook" panose="02040604050505020304" pitchFamily="18" charset="0"/>
                <a:ea typeface="Century Schoolbook" pitchFamily="34" charset="-122"/>
                <a:cs typeface="Arial" panose="020B0604020202020204" pitchFamily="34" charset="0"/>
              </a:rPr>
              <a:t>: </a:t>
            </a:r>
            <a:r>
              <a:rPr lang="en-US" sz="850" u="sng" dirty="0">
                <a:solidFill>
                  <a:srgbClr val="15803D"/>
                </a:solidFill>
                <a:latin typeface="Century Schoolbook" panose="02040604050505020304" pitchFamily="18" charset="0"/>
                <a:ea typeface="Century Schoolbook" pitchFamily="34" charset="-122"/>
                <a:cs typeface="Arial" panose="020B0604020202020204" pitchFamily="34" charset="0"/>
                <a:hlinkClick r:id="rId7">
                  <a:extLst>
                    <a:ext uri="{A12FA001-AC4F-418D-AE19-62706E023703}">
                      <ahyp:hlinkClr xmlns:ahyp="http://schemas.microsoft.com/office/drawing/2018/hyperlinkcolor" val="tx"/>
                    </a:ext>
                  </a:extLst>
                </a:hlinkClick>
              </a:rPr>
              <a:t>michaeldgreenphd.github.io/patientwords/start-here/</a:t>
            </a:r>
            <a:endParaRPr lang="en-US" sz="850" dirty="0">
              <a:latin typeface="Century Schoolbook" panose="02040604050505020304" pitchFamily="18" charset="0"/>
            </a:endParaRPr>
          </a:p>
        </p:txBody>
      </p:sp>
      <p:sp>
        <p:nvSpPr>
          <p:cNvPr id="21" name="TextBox 20">
            <a:extLst>
              <a:ext uri="{FF2B5EF4-FFF2-40B4-BE49-F238E27FC236}">
                <a16:creationId xmlns:a16="http://schemas.microsoft.com/office/drawing/2014/main" id="{C7906793-2710-F537-B7D4-6F784F545B85}"/>
              </a:ext>
            </a:extLst>
          </p:cNvPr>
          <p:cNvSpPr txBox="1"/>
          <p:nvPr/>
        </p:nvSpPr>
        <p:spPr>
          <a:xfrm>
            <a:off x="320040" y="899797"/>
            <a:ext cx="4892040" cy="261610"/>
          </a:xfrm>
          <a:prstGeom prst="rect">
            <a:avLst/>
          </a:prstGeom>
          <a:noFill/>
        </p:spPr>
        <p:txBody>
          <a:bodyPr wrap="square" rtlCol="0">
            <a:spAutoFit/>
          </a:bodyPr>
          <a:lstStyle/>
          <a:p>
            <a:pPr algn="ctr"/>
            <a:r>
              <a:rPr lang="en-US" sz="1100" dirty="0">
                <a:latin typeface="Century Schoolbook" panose="02040604050505020304" pitchFamily="18" charset="0"/>
                <a:cs typeface="Arial" panose="020B0604020202020204" pitchFamily="34" charset="0"/>
              </a:rPr>
              <a:t>Anthropic interpretability research tools (Circuit-Tracer and J-lens)</a:t>
            </a:r>
          </a:p>
        </p:txBody>
      </p:sp>
      <p:sp>
        <p:nvSpPr>
          <p:cNvPr id="22" name="TextBox 21">
            <a:extLst>
              <a:ext uri="{FF2B5EF4-FFF2-40B4-BE49-F238E27FC236}">
                <a16:creationId xmlns:a16="http://schemas.microsoft.com/office/drawing/2014/main" id="{D55C2C0D-3170-D05D-B214-73E8156405E8}"/>
              </a:ext>
            </a:extLst>
          </p:cNvPr>
          <p:cNvSpPr txBox="1"/>
          <p:nvPr/>
        </p:nvSpPr>
        <p:spPr>
          <a:xfrm>
            <a:off x="5486400" y="924797"/>
            <a:ext cx="3455226" cy="261610"/>
          </a:xfrm>
          <a:prstGeom prst="rect">
            <a:avLst/>
          </a:prstGeom>
          <a:noFill/>
        </p:spPr>
        <p:txBody>
          <a:bodyPr wrap="square" rtlCol="0">
            <a:spAutoFit/>
          </a:bodyPr>
          <a:lstStyle/>
          <a:p>
            <a:pPr algn="ctr"/>
            <a:r>
              <a:rPr lang="en-US" sz="1100" dirty="0">
                <a:latin typeface="Century Schoolbook" panose="02040604050505020304" pitchFamily="18" charset="0"/>
              </a:rPr>
              <a:t>Asking frontier LLMs for medical advice</a:t>
            </a:r>
          </a:p>
        </p:txBody>
      </p:sp>
      <p:sp>
        <p:nvSpPr>
          <p:cNvPr id="23" name="Text 5">
            <a:extLst>
              <a:ext uri="{FF2B5EF4-FFF2-40B4-BE49-F238E27FC236}">
                <a16:creationId xmlns:a16="http://schemas.microsoft.com/office/drawing/2014/main" id="{A631BF84-1630-FAD9-B4B4-1D9B995F73D7}"/>
              </a:ext>
            </a:extLst>
          </p:cNvPr>
          <p:cNvSpPr/>
          <p:nvPr/>
        </p:nvSpPr>
        <p:spPr>
          <a:xfrm>
            <a:off x="407734" y="4164116"/>
            <a:ext cx="4716652" cy="352496"/>
          </a:xfrm>
          <a:prstGeom prst="rect">
            <a:avLst/>
          </a:prstGeom>
          <a:noFill/>
          <a:ln>
            <a:solidFill>
              <a:schemeClr val="tx1"/>
            </a:solidFill>
          </a:ln>
        </p:spPr>
        <p:txBody>
          <a:bodyPr wrap="square" lIns="0" tIns="0" rIns="0" bIns="0" rtlCol="0" anchor="t"/>
          <a:lstStyle/>
          <a:p>
            <a:pPr marL="0" indent="0" algn="ctr">
              <a:lnSpc>
                <a:spcPct val="112000"/>
              </a:lnSpc>
              <a:buNone/>
            </a:pPr>
            <a:r>
              <a:rPr lang="en-US" sz="900" b="1" dirty="0">
                <a:solidFill>
                  <a:srgbClr val="111827"/>
                </a:solidFill>
                <a:latin typeface="Century Schoolbook" panose="02040604050505020304" pitchFamily="18" charset="0"/>
                <a:ea typeface="Century Schoolbook" pitchFamily="34" charset="-122"/>
                <a:cs typeface="Arial" panose="020B0604020202020204" pitchFamily="34" charset="0"/>
              </a:rPr>
              <a:t>Jacobian lens demonstrates where the clinical answers forms in the layers of the language model</a:t>
            </a:r>
            <a:r>
              <a:rPr lang="en-US" sz="850" b="1" dirty="0">
                <a:solidFill>
                  <a:srgbClr val="111827"/>
                </a:solidFill>
                <a:latin typeface="Century Schoolbook" panose="02040604050505020304" pitchFamily="18" charset="0"/>
                <a:ea typeface="Century Schoolbook" pitchFamily="34" charset="-122"/>
                <a:cs typeface="Arial" panose="020B0604020202020204" pitchFamily="34" charset="0"/>
              </a:rPr>
              <a:t> </a:t>
            </a:r>
            <a:r>
              <a:rPr lang="en-US" sz="850" u="sng" dirty="0">
                <a:solidFill>
                  <a:srgbClr val="15803D"/>
                </a:solidFill>
                <a:latin typeface="Century Schoolbook" panose="02040604050505020304" pitchFamily="18" charset="0"/>
                <a:ea typeface="Century Schoolbook" pitchFamily="34" charset="-122"/>
                <a:cs typeface="Arial" panose="020B0604020202020204" pitchFamily="34" charset="0"/>
                <a:hlinkClick r:id="rId4">
                  <a:extLst>
                    <a:ext uri="{A12FA001-AC4F-418D-AE19-62706E023703}">
                      <ahyp:hlinkClr xmlns:ahyp="http://schemas.microsoft.com/office/drawing/2018/hyperlinkcolor" val="tx"/>
                    </a:ext>
                  </a:extLst>
                </a:hlinkClick>
              </a:rPr>
              <a:t>interactive attribution graph →</a:t>
            </a:r>
            <a:endParaRPr lang="en-US" sz="900" dirty="0">
              <a:latin typeface="Century Schoolbook" panose="02040604050505020304" pitchFamily="18" charset="0"/>
            </a:endParaRPr>
          </a:p>
        </p:txBody>
      </p:sp>
      <p:sp>
        <p:nvSpPr>
          <p:cNvPr id="6" name="Text 4"/>
          <p:cNvSpPr/>
          <p:nvPr/>
        </p:nvSpPr>
        <p:spPr>
          <a:xfrm>
            <a:off x="125169" y="1333523"/>
            <a:ext cx="5251493" cy="241681"/>
          </a:xfrm>
          <a:prstGeom prst="rect">
            <a:avLst/>
          </a:prstGeom>
          <a:noFill/>
          <a:ln/>
        </p:spPr>
        <p:txBody>
          <a:bodyPr wrap="square" lIns="0" tIns="0" rIns="0" bIns="0" rtlCol="0" anchor="ctr"/>
          <a:lstStyle/>
          <a:p>
            <a:pPr marL="0" indent="0">
              <a:buNone/>
            </a:pPr>
            <a:r>
              <a:rPr lang="en-US" sz="1200" kern="0" spc="150" dirty="0">
                <a:solidFill>
                  <a:srgbClr val="6D6C66"/>
                </a:solidFill>
                <a:latin typeface="Century Schoolbook" panose="02040604050505020304" pitchFamily="18" charset="0"/>
                <a:ea typeface="Courier New" pitchFamily="34" charset="-122"/>
                <a:cs typeface="Courier New" pitchFamily="34" charset="-120"/>
              </a:rPr>
              <a:t>Circuit Tracing: Displays next token </a:t>
            </a:r>
            <a:r>
              <a:rPr lang="en-US" sz="1200" kern="0" spc="150" dirty="0">
                <a:solidFill>
                  <a:srgbClr val="6D6C66"/>
                </a:solidFill>
                <a:latin typeface="Century Schoolbook" panose="02040604050505020304" pitchFamily="18" charset="0"/>
                <a:cs typeface="Courier New" pitchFamily="34" charset="-120"/>
              </a:rPr>
              <a:t>by highest probability</a:t>
            </a:r>
            <a:endParaRPr lang="en-US" sz="1200" dirty="0">
              <a:latin typeface="Century Schoolbook" panose="02040604050505020304" pitchFamily="18" charset="0"/>
            </a:endParaRPr>
          </a:p>
        </p:txBody>
      </p:sp>
      <p:sp>
        <p:nvSpPr>
          <p:cNvPr id="9" name="Text 6"/>
          <p:cNvSpPr/>
          <p:nvPr/>
        </p:nvSpPr>
        <p:spPr>
          <a:xfrm>
            <a:off x="125169" y="2755790"/>
            <a:ext cx="5251493" cy="201153"/>
          </a:xfrm>
          <a:prstGeom prst="rect">
            <a:avLst/>
          </a:prstGeom>
          <a:noFill/>
          <a:ln/>
        </p:spPr>
        <p:txBody>
          <a:bodyPr wrap="square" lIns="0" tIns="0" rIns="0" bIns="0" rtlCol="0" anchor="ctr"/>
          <a:lstStyle/>
          <a:p>
            <a:pPr marL="0" indent="0">
              <a:buNone/>
            </a:pPr>
            <a:r>
              <a:rPr lang="en-US" sz="1200" kern="0" spc="150" dirty="0">
                <a:solidFill>
                  <a:srgbClr val="6D6C66"/>
                </a:solidFill>
                <a:latin typeface="Century Schoolbook" panose="02040604050505020304" pitchFamily="18" charset="0"/>
                <a:ea typeface="Courier New" pitchFamily="34" charset="-122"/>
                <a:cs typeface="Courier New" pitchFamily="34" charset="-120"/>
              </a:rPr>
              <a:t>Jacobian-Lens: Displays next token if answer forced at each model layer</a:t>
            </a:r>
            <a:endParaRPr lang="en-US" sz="1200" dirty="0">
              <a:latin typeface="Century Schoolbook" panose="02040604050505020304" pitchFamily="18"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1159</TotalTime>
  <Words>740</Words>
  <Application>Microsoft Macintosh PowerPoint</Application>
  <PresentationFormat>On-screen Show (16:9)</PresentationFormat>
  <Paragraphs>48</Paragraphs>
  <Slides>6</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Century Schoolbook</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Michael Green</cp:lastModifiedBy>
  <cp:revision>9</cp:revision>
  <dcterms:created xsi:type="dcterms:W3CDTF">2026-07-29T21:10:56Z</dcterms:created>
  <dcterms:modified xsi:type="dcterms:W3CDTF">2026-07-30T16:33:17Z</dcterms:modified>
</cp:coreProperties>
</file>